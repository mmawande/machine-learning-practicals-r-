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
  </p:notesMasterIdLst>
  <p:sldIdLst>
    <p:sldId id="256" r:id="rId2"/>
    <p:sldId id="263" r:id="rId3"/>
    <p:sldId id="257" r:id="rId4"/>
    <p:sldId id="258" r:id="rId5"/>
    <p:sldId id="260" r:id="rId6"/>
    <p:sldId id="264" r:id="rId7"/>
    <p:sldId id="268" r:id="rId8"/>
    <p:sldId id="261" r:id="rId9"/>
    <p:sldId id="267"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8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A6FD55E-2F2A-979E-5C74-50D4BFFD54F5}" v="2179" dt="2026-05-18T17:14:33.531"/>
    <p1510:client id="{CB66D8D8-D800-1656-B801-F5C0E8B6C6B5}" v="123" dt="2026-05-18T12:58:03.82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76610" autoAdjust="0"/>
  </p:normalViewPr>
  <p:slideViewPr>
    <p:cSldViewPr snapToGrid="0">
      <p:cViewPr varScale="1">
        <p:scale>
          <a:sx n="65" d="100"/>
          <a:sy n="65" d="100"/>
        </p:scale>
        <p:origin x="1358" y="2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17" Type="http://schemas.microsoft.com/office/2015/10/relationships/revisionInfo" Target="revisionInfo.xml"/><Relationship Id="rId2" Type="http://schemas.openxmlformats.org/officeDocument/2006/relationships/slide" Target="slides/slide1.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Yanga Ndamase (226029024)" userId="S::226029024@stu.ukzn.ac.za::cdba17a9-328b-4e90-9b07-8f65099f2f15" providerId="AD" clId="Web-{CB66D8D8-D800-1656-B801-F5C0E8B6C6B5}"/>
    <pc:docChg chg="modSld">
      <pc:chgData name="Yanga Ndamase (226029024)" userId="S::226029024@stu.ukzn.ac.za::cdba17a9-328b-4e90-9b07-8f65099f2f15" providerId="AD" clId="Web-{CB66D8D8-D800-1656-B801-F5C0E8B6C6B5}" dt="2026-05-18T12:58:03.823" v="122" actId="20577"/>
      <pc:docMkLst>
        <pc:docMk/>
      </pc:docMkLst>
      <pc:sldChg chg="modSp">
        <pc:chgData name="Yanga Ndamase (226029024)" userId="S::226029024@stu.ukzn.ac.za::cdba17a9-328b-4e90-9b07-8f65099f2f15" providerId="AD" clId="Web-{CB66D8D8-D800-1656-B801-F5C0E8B6C6B5}" dt="2026-05-18T12:58:03.823" v="122" actId="20577"/>
        <pc:sldMkLst>
          <pc:docMk/>
          <pc:sldMk cId="585638465" sldId="261"/>
        </pc:sldMkLst>
        <pc:spChg chg="mod">
          <ac:chgData name="Yanga Ndamase (226029024)" userId="S::226029024@stu.ukzn.ac.za::cdba17a9-328b-4e90-9b07-8f65099f2f15" providerId="AD" clId="Web-{CB66D8D8-D800-1656-B801-F5C0E8B6C6B5}" dt="2026-05-18T12:58:03.823" v="122" actId="20577"/>
          <ac:spMkLst>
            <pc:docMk/>
            <pc:sldMk cId="585638465" sldId="261"/>
            <ac:spMk id="4" creationId="{81F2DFB9-892B-ABE5-625D-8F1D5C367469}"/>
          </ac:spMkLst>
        </pc:spChg>
      </pc:sldChg>
    </pc:docChg>
  </pc:docChgLst>
  <pc:docChgLst>
    <pc:chgData name="Yanga Ndamase (226029024)" userId="S::226029024@stu.ukzn.ac.za::cdba17a9-328b-4e90-9b07-8f65099f2f15" providerId="AD" clId="Web-{AA6FD55E-2F2A-979E-5C74-50D4BFFD54F5}"/>
    <pc:docChg chg="addSld delSld modSld">
      <pc:chgData name="Yanga Ndamase (226029024)" userId="S::226029024@stu.ukzn.ac.za::cdba17a9-328b-4e90-9b07-8f65099f2f15" providerId="AD" clId="Web-{AA6FD55E-2F2A-979E-5C74-50D4BFFD54F5}" dt="2026-05-18T17:14:33.531" v="2180" actId="20577"/>
      <pc:docMkLst>
        <pc:docMk/>
      </pc:docMkLst>
      <pc:sldChg chg="modSp">
        <pc:chgData name="Yanga Ndamase (226029024)" userId="S::226029024@stu.ukzn.ac.za::cdba17a9-328b-4e90-9b07-8f65099f2f15" providerId="AD" clId="Web-{AA6FD55E-2F2A-979E-5C74-50D4BFFD54F5}" dt="2026-05-18T17:14:33.531" v="2180" actId="20577"/>
        <pc:sldMkLst>
          <pc:docMk/>
          <pc:sldMk cId="1298775108" sldId="260"/>
        </pc:sldMkLst>
        <pc:spChg chg="mod">
          <ac:chgData name="Yanga Ndamase (226029024)" userId="S::226029024@stu.ukzn.ac.za::cdba17a9-328b-4e90-9b07-8f65099f2f15" providerId="AD" clId="Web-{AA6FD55E-2F2A-979E-5C74-50D4BFFD54F5}" dt="2026-05-18T17:14:33.531" v="2180" actId="20577"/>
          <ac:spMkLst>
            <pc:docMk/>
            <pc:sldMk cId="1298775108" sldId="260"/>
            <ac:spMk id="3" creationId="{585007F7-0919-A9D0-BEC1-DE8E4A3DF211}"/>
          </ac:spMkLst>
        </pc:spChg>
      </pc:sldChg>
      <pc:sldChg chg="modSp">
        <pc:chgData name="Yanga Ndamase (226029024)" userId="S::226029024@stu.ukzn.ac.za::cdba17a9-328b-4e90-9b07-8f65099f2f15" providerId="AD" clId="Web-{AA6FD55E-2F2A-979E-5C74-50D4BFFD54F5}" dt="2026-05-18T13:55:40.082" v="346" actId="20577"/>
        <pc:sldMkLst>
          <pc:docMk/>
          <pc:sldMk cId="585638465" sldId="261"/>
        </pc:sldMkLst>
        <pc:spChg chg="mod">
          <ac:chgData name="Yanga Ndamase (226029024)" userId="S::226029024@stu.ukzn.ac.za::cdba17a9-328b-4e90-9b07-8f65099f2f15" providerId="AD" clId="Web-{AA6FD55E-2F2A-979E-5C74-50D4BFFD54F5}" dt="2026-05-18T13:55:25.394" v="342" actId="20577"/>
          <ac:spMkLst>
            <pc:docMk/>
            <pc:sldMk cId="585638465" sldId="261"/>
            <ac:spMk id="3" creationId="{A28AA4B4-1A31-DDD0-6A28-36192AE9C424}"/>
          </ac:spMkLst>
        </pc:spChg>
        <pc:spChg chg="mod">
          <ac:chgData name="Yanga Ndamase (226029024)" userId="S::226029024@stu.ukzn.ac.za::cdba17a9-328b-4e90-9b07-8f65099f2f15" providerId="AD" clId="Web-{AA6FD55E-2F2A-979E-5C74-50D4BFFD54F5}" dt="2026-05-18T13:55:40.082" v="346" actId="20577"/>
          <ac:spMkLst>
            <pc:docMk/>
            <pc:sldMk cId="585638465" sldId="261"/>
            <ac:spMk id="4" creationId="{81F2DFB9-892B-ABE5-625D-8F1D5C367469}"/>
          </ac:spMkLst>
        </pc:spChg>
      </pc:sldChg>
      <pc:sldChg chg="addSp delSp modSp">
        <pc:chgData name="Yanga Ndamase (226029024)" userId="S::226029024@stu.ukzn.ac.za::cdba17a9-328b-4e90-9b07-8f65099f2f15" providerId="AD" clId="Web-{AA6FD55E-2F2A-979E-5C74-50D4BFFD54F5}" dt="2026-05-18T13:45:25.704" v="297" actId="20577"/>
        <pc:sldMkLst>
          <pc:docMk/>
          <pc:sldMk cId="2148932548" sldId="264"/>
        </pc:sldMkLst>
        <pc:spChg chg="mod">
          <ac:chgData name="Yanga Ndamase (226029024)" userId="S::226029024@stu.ukzn.ac.za::cdba17a9-328b-4e90-9b07-8f65099f2f15" providerId="AD" clId="Web-{AA6FD55E-2F2A-979E-5C74-50D4BFFD54F5}" dt="2026-05-18T13:45:25.704" v="297" actId="20577"/>
          <ac:spMkLst>
            <pc:docMk/>
            <pc:sldMk cId="2148932548" sldId="264"/>
            <ac:spMk id="4" creationId="{30C8AF1B-F028-D79E-F42A-C21B7F70592E}"/>
          </ac:spMkLst>
        </pc:spChg>
        <pc:picChg chg="add del">
          <ac:chgData name="Yanga Ndamase (226029024)" userId="S::226029024@stu.ukzn.ac.za::cdba17a9-328b-4e90-9b07-8f65099f2f15" providerId="AD" clId="Web-{AA6FD55E-2F2A-979E-5C74-50D4BFFD54F5}" dt="2026-05-18T13:26:10.570" v="144"/>
          <ac:picMkLst>
            <pc:docMk/>
            <pc:sldMk cId="2148932548" sldId="264"/>
            <ac:picMk id="6" creationId="{7F0F72A1-8791-106A-A6E5-2DD14FACE0CC}"/>
          </ac:picMkLst>
        </pc:picChg>
        <pc:picChg chg="mod">
          <ac:chgData name="Yanga Ndamase (226029024)" userId="S::226029024@stu.ukzn.ac.za::cdba17a9-328b-4e90-9b07-8f65099f2f15" providerId="AD" clId="Web-{AA6FD55E-2F2A-979E-5C74-50D4BFFD54F5}" dt="2026-05-18T13:26:24.102" v="145" actId="1076"/>
          <ac:picMkLst>
            <pc:docMk/>
            <pc:sldMk cId="2148932548" sldId="264"/>
            <ac:picMk id="10" creationId="{19D6A491-A680-4F54-F0EA-8D210317DFEF}"/>
          </ac:picMkLst>
        </pc:picChg>
      </pc:sldChg>
      <pc:sldChg chg="del">
        <pc:chgData name="Yanga Ndamase (226029024)" userId="S::226029024@stu.ukzn.ac.za::cdba17a9-328b-4e90-9b07-8f65099f2f15" providerId="AD" clId="Web-{AA6FD55E-2F2A-979E-5C74-50D4BFFD54F5}" dt="2026-05-18T13:50:32.387" v="312"/>
        <pc:sldMkLst>
          <pc:docMk/>
          <pc:sldMk cId="1384979001" sldId="265"/>
        </pc:sldMkLst>
      </pc:sldChg>
      <pc:sldChg chg="delSp modSp add del replId">
        <pc:chgData name="Yanga Ndamase (226029024)" userId="S::226029024@stu.ukzn.ac.za::cdba17a9-328b-4e90-9b07-8f65099f2f15" providerId="AD" clId="Web-{AA6FD55E-2F2A-979E-5C74-50D4BFFD54F5}" dt="2026-05-18T13:50:39.293" v="313"/>
        <pc:sldMkLst>
          <pc:docMk/>
          <pc:sldMk cId="314994274" sldId="266"/>
        </pc:sldMkLst>
        <pc:spChg chg="mod">
          <ac:chgData name="Yanga Ndamase (226029024)" userId="S::226029024@stu.ukzn.ac.za::cdba17a9-328b-4e90-9b07-8f65099f2f15" providerId="AD" clId="Web-{AA6FD55E-2F2A-979E-5C74-50D4BFFD54F5}" dt="2026-05-18T13:49:29.604" v="300" actId="20577"/>
          <ac:spMkLst>
            <pc:docMk/>
            <pc:sldMk cId="314994274" sldId="266"/>
            <ac:spMk id="3" creationId="{15506553-9839-6A1C-3DB5-4D645E46C43A}"/>
          </ac:spMkLst>
        </pc:spChg>
        <pc:spChg chg="del mod">
          <ac:chgData name="Yanga Ndamase (226029024)" userId="S::226029024@stu.ukzn.ac.za::cdba17a9-328b-4e90-9b07-8f65099f2f15" providerId="AD" clId="Web-{AA6FD55E-2F2A-979E-5C74-50D4BFFD54F5}" dt="2026-05-18T13:49:39.074" v="305"/>
          <ac:spMkLst>
            <pc:docMk/>
            <pc:sldMk cId="314994274" sldId="266"/>
            <ac:spMk id="4" creationId="{4D34C20E-41A4-43BC-0CF5-B51BAD6339FA}"/>
          </ac:spMkLst>
        </pc:spChg>
      </pc:sldChg>
      <pc:sldChg chg="addSp delSp modSp add replId">
        <pc:chgData name="Yanga Ndamase (226029024)" userId="S::226029024@stu.ukzn.ac.za::cdba17a9-328b-4e90-9b07-8f65099f2f15" providerId="AD" clId="Web-{AA6FD55E-2F2A-979E-5C74-50D4BFFD54F5}" dt="2026-05-18T13:53:30.298" v="339" actId="20577"/>
        <pc:sldMkLst>
          <pc:docMk/>
          <pc:sldMk cId="3522998355" sldId="267"/>
        </pc:sldMkLst>
        <pc:spChg chg="mod">
          <ac:chgData name="Yanga Ndamase (226029024)" userId="S::226029024@stu.ukzn.ac.za::cdba17a9-328b-4e90-9b07-8f65099f2f15" providerId="AD" clId="Web-{AA6FD55E-2F2A-979E-5C74-50D4BFFD54F5}" dt="2026-05-18T13:50:50.981" v="324" actId="20577"/>
          <ac:spMkLst>
            <pc:docMk/>
            <pc:sldMk cId="3522998355" sldId="267"/>
            <ac:spMk id="3" creationId="{D0617528-36D4-E22F-BDCD-51D7990D7041}"/>
          </ac:spMkLst>
        </pc:spChg>
        <pc:spChg chg="add del mod">
          <ac:chgData name="Yanga Ndamase (226029024)" userId="S::226029024@stu.ukzn.ac.za::cdba17a9-328b-4e90-9b07-8f65099f2f15" providerId="AD" clId="Web-{AA6FD55E-2F2A-979E-5C74-50D4BFFD54F5}" dt="2026-05-18T13:53:30.298" v="339" actId="20577"/>
          <ac:spMkLst>
            <pc:docMk/>
            <pc:sldMk cId="3522998355" sldId="267"/>
            <ac:spMk id="4" creationId="{865297B1-CE0D-D2A0-5208-013890EB7672}"/>
          </ac:spMkLst>
        </pc:spChg>
      </pc:sldChg>
      <pc:sldChg chg="addSp delSp modSp add replId">
        <pc:chgData name="Yanga Ndamase (226029024)" userId="S::226029024@stu.ukzn.ac.za::cdba17a9-328b-4e90-9b07-8f65099f2f15" providerId="AD" clId="Web-{AA6FD55E-2F2A-979E-5C74-50D4BFFD54F5}" dt="2026-05-18T17:13:43.889" v="2179"/>
        <pc:sldMkLst>
          <pc:docMk/>
          <pc:sldMk cId="443965303" sldId="268"/>
        </pc:sldMkLst>
        <pc:spChg chg="mod">
          <ac:chgData name="Yanga Ndamase (226029024)" userId="S::226029024@stu.ukzn.ac.za::cdba17a9-328b-4e90-9b07-8f65099f2f15" providerId="AD" clId="Web-{AA6FD55E-2F2A-979E-5C74-50D4BFFD54F5}" dt="2026-05-18T17:00:49.137" v="376" actId="20577"/>
          <ac:spMkLst>
            <pc:docMk/>
            <pc:sldMk cId="443965303" sldId="268"/>
            <ac:spMk id="3" creationId="{646EC864-1F90-2868-B0BB-66FF40DEF0C7}"/>
          </ac:spMkLst>
        </pc:spChg>
        <pc:spChg chg="del mod">
          <ac:chgData name="Yanga Ndamase (226029024)" userId="S::226029024@stu.ukzn.ac.za::cdba17a9-328b-4e90-9b07-8f65099f2f15" providerId="AD" clId="Web-{AA6FD55E-2F2A-979E-5C74-50D4BFFD54F5}" dt="2026-05-18T17:01:41.139" v="393"/>
          <ac:spMkLst>
            <pc:docMk/>
            <pc:sldMk cId="443965303" sldId="268"/>
            <ac:spMk id="4" creationId="{68F09DDA-43AC-3A7C-0A25-683AF81CD56B}"/>
          </ac:spMkLst>
        </pc:spChg>
        <pc:graphicFrameChg chg="add mod modGraphic">
          <ac:chgData name="Yanga Ndamase (226029024)" userId="S::226029024@stu.ukzn.ac.za::cdba17a9-328b-4e90-9b07-8f65099f2f15" providerId="AD" clId="Web-{AA6FD55E-2F2A-979E-5C74-50D4BFFD54F5}" dt="2026-05-18T17:13:43.889" v="2179"/>
          <ac:graphicFrameMkLst>
            <pc:docMk/>
            <pc:sldMk cId="443965303" sldId="268"/>
            <ac:graphicFrameMk id="7" creationId="{99BB35F8-5408-0CA2-6816-4D07ADEFE601}"/>
          </ac:graphicFrameMkLst>
        </pc:graphicFrame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E0A869F-ED06-4157-9D5A-CE27B3D25265}" type="doc">
      <dgm:prSet loTypeId="urn:microsoft.com/office/officeart/2005/8/layout/chevron1" loCatId="process" qsTypeId="urn:microsoft.com/office/officeart/2005/8/quickstyle/simple1" qsCatId="simple" csTypeId="urn:microsoft.com/office/officeart/2005/8/colors/accent1_2" csCatId="accent1" phldr="1"/>
      <dgm:spPr/>
      <dgm:t>
        <a:bodyPr/>
        <a:lstStyle/>
        <a:p>
          <a:endParaRPr lang="en-US"/>
        </a:p>
      </dgm:t>
    </dgm:pt>
    <dgm:pt modelId="{353AF12B-A7F7-4E39-A2DC-02ADA9AD0F74}">
      <dgm:prSet phldrT="[Text]" phldr="0"/>
      <dgm:spPr/>
      <dgm:t>
        <a:bodyPr/>
        <a:lstStyle/>
        <a:p>
          <a:pPr rtl="0"/>
          <a:r>
            <a:rPr lang="en-US" dirty="0">
              <a:latin typeface="Aptos Display" panose="02110004020202020204"/>
            </a:rPr>
            <a:t>Raw Downtime Data </a:t>
          </a:r>
          <a:endParaRPr lang="en-US" dirty="0"/>
        </a:p>
      </dgm:t>
    </dgm:pt>
    <dgm:pt modelId="{00754AA1-9AD2-4939-802B-9D0AD30C41AF}" type="sibTrans" cxnId="{606F23C0-857B-401A-A16F-D232649EEEE1}">
      <dgm:prSet/>
      <dgm:spPr/>
      <dgm:t>
        <a:bodyPr/>
        <a:lstStyle/>
        <a:p>
          <a:endParaRPr lang="en-US"/>
        </a:p>
      </dgm:t>
    </dgm:pt>
    <dgm:pt modelId="{3DAE4CD0-2558-46D2-8C03-F47ED9458B87}" type="parTrans" cxnId="{606F23C0-857B-401A-A16F-D232649EEEE1}">
      <dgm:prSet/>
      <dgm:spPr/>
      <dgm:t>
        <a:bodyPr/>
        <a:lstStyle/>
        <a:p>
          <a:endParaRPr lang="en-US"/>
        </a:p>
      </dgm:t>
    </dgm:pt>
    <dgm:pt modelId="{D0FB205F-35C2-4455-8B96-03AEE56DED70}">
      <dgm:prSet phldrT="[Text]" phldr="0"/>
      <dgm:spPr/>
      <dgm:t>
        <a:bodyPr/>
        <a:lstStyle/>
        <a:p>
          <a:pPr rtl="0"/>
          <a:r>
            <a:rPr lang="en-US" dirty="0">
              <a:latin typeface="Aptos Display" panose="02110004020202020204"/>
            </a:rPr>
            <a:t>Data Cleaning,</a:t>
          </a:r>
        </a:p>
        <a:p>
          <a:pPr rtl="0"/>
          <a:r>
            <a:rPr lang="en-US" dirty="0">
              <a:latin typeface="Aptos Display" panose="02110004020202020204"/>
            </a:rPr>
            <a:t>Target Definition &amp; Preprocessing </a:t>
          </a:r>
          <a:endParaRPr lang="en-US" dirty="0"/>
        </a:p>
      </dgm:t>
    </dgm:pt>
    <dgm:pt modelId="{8619E79A-0CBD-488F-8FBB-AEBE47E277CA}" type="sibTrans" cxnId="{B31299CB-D422-4B27-A295-48E6EB79980C}">
      <dgm:prSet/>
      <dgm:spPr/>
      <dgm:t>
        <a:bodyPr/>
        <a:lstStyle/>
        <a:p>
          <a:endParaRPr lang="en-US"/>
        </a:p>
      </dgm:t>
    </dgm:pt>
    <dgm:pt modelId="{0FA6DDDB-D40C-4B0C-A316-FF3CE708656B}" type="parTrans" cxnId="{B31299CB-D422-4B27-A295-48E6EB79980C}">
      <dgm:prSet/>
      <dgm:spPr/>
      <dgm:t>
        <a:bodyPr/>
        <a:lstStyle/>
        <a:p>
          <a:endParaRPr lang="en-US"/>
        </a:p>
      </dgm:t>
    </dgm:pt>
    <dgm:pt modelId="{9898BBA7-BF07-480A-A631-741A79B9743E}">
      <dgm:prSet phldrT="[Text]" phldr="0"/>
      <dgm:spPr/>
      <dgm:t>
        <a:bodyPr/>
        <a:lstStyle/>
        <a:p>
          <a:pPr rtl="0"/>
          <a:r>
            <a:rPr lang="en-US" dirty="0">
              <a:latin typeface="Aptos Display" panose="02110004020202020204"/>
            </a:rPr>
            <a:t>Feature Engineering</a:t>
          </a:r>
        </a:p>
      </dgm:t>
    </dgm:pt>
    <dgm:pt modelId="{587757F1-02DA-45D2-8604-9F7BE1AA1F3E}" type="sibTrans" cxnId="{04DA40F3-33A6-4CF3-9C80-C28BE9104CEB}">
      <dgm:prSet/>
      <dgm:spPr/>
      <dgm:t>
        <a:bodyPr/>
        <a:lstStyle/>
        <a:p>
          <a:endParaRPr lang="en-US"/>
        </a:p>
      </dgm:t>
    </dgm:pt>
    <dgm:pt modelId="{60B36E4C-E8ED-4F10-ACA7-32C38ABEE3DD}" type="parTrans" cxnId="{04DA40F3-33A6-4CF3-9C80-C28BE9104CEB}">
      <dgm:prSet/>
      <dgm:spPr/>
      <dgm:t>
        <a:bodyPr/>
        <a:lstStyle/>
        <a:p>
          <a:endParaRPr lang="en-US"/>
        </a:p>
      </dgm:t>
    </dgm:pt>
    <dgm:pt modelId="{DDE7BD93-A8B0-4B70-ABC3-5A8CC4BE8DD8}">
      <dgm:prSet phldrT="[Text]" phldr="0"/>
      <dgm:spPr/>
      <dgm:t>
        <a:bodyPr/>
        <a:lstStyle/>
        <a:p>
          <a:pPr rtl="0"/>
          <a:r>
            <a:rPr lang="en-US" dirty="0">
              <a:latin typeface="Aptos Display" panose="02110004020202020204"/>
            </a:rPr>
            <a:t>Machine learning Techniques</a:t>
          </a:r>
        </a:p>
      </dgm:t>
    </dgm:pt>
    <dgm:pt modelId="{67367A5B-4B87-4BD4-A47D-FDD24D73CE23}" type="sibTrans" cxnId="{0FB0205B-1D66-4C13-A779-7BCB71EB4EB0}">
      <dgm:prSet/>
      <dgm:spPr/>
      <dgm:t>
        <a:bodyPr/>
        <a:lstStyle/>
        <a:p>
          <a:endParaRPr lang="en-US"/>
        </a:p>
      </dgm:t>
    </dgm:pt>
    <dgm:pt modelId="{93B0075A-C583-4C39-B93D-674D3CD7485F}" type="parTrans" cxnId="{0FB0205B-1D66-4C13-A779-7BCB71EB4EB0}">
      <dgm:prSet/>
      <dgm:spPr/>
      <dgm:t>
        <a:bodyPr/>
        <a:lstStyle/>
        <a:p>
          <a:endParaRPr lang="en-US"/>
        </a:p>
      </dgm:t>
    </dgm:pt>
    <dgm:pt modelId="{01AB8569-DF4F-491A-9D56-DA8F5783DA02}">
      <dgm:prSet phldrT="[Text]" phldr="0"/>
      <dgm:spPr/>
      <dgm:t>
        <a:bodyPr/>
        <a:lstStyle/>
        <a:p>
          <a:pPr rtl="0"/>
          <a:r>
            <a:rPr lang="en-US" dirty="0">
              <a:latin typeface="Aptos Display" panose="02110004020202020204"/>
            </a:rPr>
            <a:t>Models evaluation &amp; Best Model Selection </a:t>
          </a:r>
        </a:p>
      </dgm:t>
    </dgm:pt>
    <dgm:pt modelId="{3E15D390-93C2-4FCC-A6D5-8347DB60907D}" type="sibTrans" cxnId="{BC330C89-567C-4DFC-90AF-E95628D156EC}">
      <dgm:prSet/>
      <dgm:spPr/>
      <dgm:t>
        <a:bodyPr/>
        <a:lstStyle/>
        <a:p>
          <a:endParaRPr lang="en-US"/>
        </a:p>
      </dgm:t>
    </dgm:pt>
    <dgm:pt modelId="{0CB57B9C-64EF-4212-840C-70AEBD48A0C4}" type="parTrans" cxnId="{BC330C89-567C-4DFC-90AF-E95628D156EC}">
      <dgm:prSet/>
      <dgm:spPr/>
      <dgm:t>
        <a:bodyPr/>
        <a:lstStyle/>
        <a:p>
          <a:endParaRPr lang="en-US"/>
        </a:p>
      </dgm:t>
    </dgm:pt>
    <dgm:pt modelId="{E29E87E4-16CC-4D68-9029-52341207C1EA}">
      <dgm:prSet phldrT="[Text]" phldr="0"/>
      <dgm:spPr/>
      <dgm:t>
        <a:bodyPr/>
        <a:lstStyle/>
        <a:p>
          <a:pPr rtl="0"/>
          <a:r>
            <a:rPr lang="en-US" dirty="0">
              <a:latin typeface="Aptos Display" panose="02110004020202020204"/>
            </a:rPr>
            <a:t>Feature Importance</a:t>
          </a:r>
        </a:p>
      </dgm:t>
    </dgm:pt>
    <dgm:pt modelId="{B1CFDD8C-842A-4433-A126-4581A5F6EC16}" type="sibTrans" cxnId="{8CD4705E-542C-486D-8F07-5FA5841BF4C5}">
      <dgm:prSet/>
      <dgm:spPr/>
      <dgm:t>
        <a:bodyPr/>
        <a:lstStyle/>
        <a:p>
          <a:endParaRPr lang="en-US"/>
        </a:p>
      </dgm:t>
    </dgm:pt>
    <dgm:pt modelId="{4FC51010-6D6B-478A-A6B3-9FB0DAE7153A}" type="parTrans" cxnId="{8CD4705E-542C-486D-8F07-5FA5841BF4C5}">
      <dgm:prSet/>
      <dgm:spPr/>
      <dgm:t>
        <a:bodyPr/>
        <a:lstStyle/>
        <a:p>
          <a:endParaRPr lang="en-US"/>
        </a:p>
      </dgm:t>
    </dgm:pt>
    <dgm:pt modelId="{5EAA2E3E-2DB2-4E7B-9105-D125404716D8}">
      <dgm:prSet phldrT="[Text]" phldr="0"/>
      <dgm:spPr/>
      <dgm:t>
        <a:bodyPr/>
        <a:lstStyle/>
        <a:p>
          <a:pPr rtl="0"/>
          <a:r>
            <a:rPr lang="en-US" dirty="0">
              <a:latin typeface="Aptos Display" panose="02110004020202020204"/>
            </a:rPr>
            <a:t>Conclusion</a:t>
          </a:r>
        </a:p>
      </dgm:t>
    </dgm:pt>
    <dgm:pt modelId="{CC2EF943-268A-4964-B150-E22A41ACC6AC}" type="parTrans" cxnId="{43852073-3FDC-4039-915A-68ED4F4273B8}">
      <dgm:prSet/>
      <dgm:spPr/>
      <dgm:t>
        <a:bodyPr/>
        <a:lstStyle/>
        <a:p>
          <a:endParaRPr lang="en-US"/>
        </a:p>
      </dgm:t>
    </dgm:pt>
    <dgm:pt modelId="{CBACB218-F354-4DA6-A104-8AED6533E965}" type="sibTrans" cxnId="{43852073-3FDC-4039-915A-68ED4F4273B8}">
      <dgm:prSet/>
      <dgm:spPr/>
      <dgm:t>
        <a:bodyPr/>
        <a:lstStyle/>
        <a:p>
          <a:endParaRPr lang="en-US"/>
        </a:p>
      </dgm:t>
    </dgm:pt>
    <dgm:pt modelId="{1B18F128-2D30-4800-A5EB-493C90B92F49}" type="pres">
      <dgm:prSet presAssocID="{DE0A869F-ED06-4157-9D5A-CE27B3D25265}" presName="Name0" presStyleCnt="0">
        <dgm:presLayoutVars>
          <dgm:dir/>
          <dgm:animLvl val="lvl"/>
          <dgm:resizeHandles val="exact"/>
        </dgm:presLayoutVars>
      </dgm:prSet>
      <dgm:spPr/>
    </dgm:pt>
    <dgm:pt modelId="{4A135A56-41DF-467E-8B62-C991E27AC0C6}" type="pres">
      <dgm:prSet presAssocID="{353AF12B-A7F7-4E39-A2DC-02ADA9AD0F74}" presName="parTxOnly" presStyleLbl="node1" presStyleIdx="0" presStyleCnt="7">
        <dgm:presLayoutVars>
          <dgm:chMax val="0"/>
          <dgm:chPref val="0"/>
          <dgm:bulletEnabled val="1"/>
        </dgm:presLayoutVars>
      </dgm:prSet>
      <dgm:spPr/>
    </dgm:pt>
    <dgm:pt modelId="{68F9CB85-DE27-4B86-8D4B-B4D9C00DE0ED}" type="pres">
      <dgm:prSet presAssocID="{00754AA1-9AD2-4939-802B-9D0AD30C41AF}" presName="parTxOnlySpace" presStyleCnt="0"/>
      <dgm:spPr/>
    </dgm:pt>
    <dgm:pt modelId="{551FEA79-D1BA-464D-93C3-7EC4164F0280}" type="pres">
      <dgm:prSet presAssocID="{D0FB205F-35C2-4455-8B96-03AEE56DED70}" presName="parTxOnly" presStyleLbl="node1" presStyleIdx="1" presStyleCnt="7">
        <dgm:presLayoutVars>
          <dgm:chMax val="0"/>
          <dgm:chPref val="0"/>
          <dgm:bulletEnabled val="1"/>
        </dgm:presLayoutVars>
      </dgm:prSet>
      <dgm:spPr/>
    </dgm:pt>
    <dgm:pt modelId="{CF1F4F98-66E6-4C95-B3D7-552EA40922D0}" type="pres">
      <dgm:prSet presAssocID="{8619E79A-0CBD-488F-8FBB-AEBE47E277CA}" presName="parTxOnlySpace" presStyleCnt="0"/>
      <dgm:spPr/>
    </dgm:pt>
    <dgm:pt modelId="{2E044520-31CD-40B8-BEEF-80204F48109F}" type="pres">
      <dgm:prSet presAssocID="{9898BBA7-BF07-480A-A631-741A79B9743E}" presName="parTxOnly" presStyleLbl="node1" presStyleIdx="2" presStyleCnt="7">
        <dgm:presLayoutVars>
          <dgm:chMax val="0"/>
          <dgm:chPref val="0"/>
          <dgm:bulletEnabled val="1"/>
        </dgm:presLayoutVars>
      </dgm:prSet>
      <dgm:spPr/>
    </dgm:pt>
    <dgm:pt modelId="{7FC959A1-1303-4874-901A-37D4EB57D769}" type="pres">
      <dgm:prSet presAssocID="{587757F1-02DA-45D2-8604-9F7BE1AA1F3E}" presName="parTxOnlySpace" presStyleCnt="0"/>
      <dgm:spPr/>
    </dgm:pt>
    <dgm:pt modelId="{5A209939-02B4-488C-9D36-3BFBD73420E8}" type="pres">
      <dgm:prSet presAssocID="{DDE7BD93-A8B0-4B70-ABC3-5A8CC4BE8DD8}" presName="parTxOnly" presStyleLbl="node1" presStyleIdx="3" presStyleCnt="7">
        <dgm:presLayoutVars>
          <dgm:chMax val="0"/>
          <dgm:chPref val="0"/>
          <dgm:bulletEnabled val="1"/>
        </dgm:presLayoutVars>
      </dgm:prSet>
      <dgm:spPr/>
    </dgm:pt>
    <dgm:pt modelId="{586B3805-B959-4B2E-8FD2-A0CAF5BC7900}" type="pres">
      <dgm:prSet presAssocID="{67367A5B-4B87-4BD4-A47D-FDD24D73CE23}" presName="parTxOnlySpace" presStyleCnt="0"/>
      <dgm:spPr/>
    </dgm:pt>
    <dgm:pt modelId="{6BE9B11A-0411-49D1-93DA-C44A84189A24}" type="pres">
      <dgm:prSet presAssocID="{01AB8569-DF4F-491A-9D56-DA8F5783DA02}" presName="parTxOnly" presStyleLbl="node1" presStyleIdx="4" presStyleCnt="7">
        <dgm:presLayoutVars>
          <dgm:chMax val="0"/>
          <dgm:chPref val="0"/>
          <dgm:bulletEnabled val="1"/>
        </dgm:presLayoutVars>
      </dgm:prSet>
      <dgm:spPr/>
    </dgm:pt>
    <dgm:pt modelId="{4A0185B2-0C80-4CF2-A7FE-1142DFB8869A}" type="pres">
      <dgm:prSet presAssocID="{3E15D390-93C2-4FCC-A6D5-8347DB60907D}" presName="parTxOnlySpace" presStyleCnt="0"/>
      <dgm:spPr/>
    </dgm:pt>
    <dgm:pt modelId="{FF9E73D5-5E63-4F01-A973-3DEBCCAD5B71}" type="pres">
      <dgm:prSet presAssocID="{E29E87E4-16CC-4D68-9029-52341207C1EA}" presName="parTxOnly" presStyleLbl="node1" presStyleIdx="5" presStyleCnt="7">
        <dgm:presLayoutVars>
          <dgm:chMax val="0"/>
          <dgm:chPref val="0"/>
          <dgm:bulletEnabled val="1"/>
        </dgm:presLayoutVars>
      </dgm:prSet>
      <dgm:spPr/>
    </dgm:pt>
    <dgm:pt modelId="{9DCABAE4-3A7E-4739-83FC-67BBEC6F7AF5}" type="pres">
      <dgm:prSet presAssocID="{B1CFDD8C-842A-4433-A126-4581A5F6EC16}" presName="parTxOnlySpace" presStyleCnt="0"/>
      <dgm:spPr/>
    </dgm:pt>
    <dgm:pt modelId="{C12AB7CD-16DC-4DC2-8E11-0B825C83D317}" type="pres">
      <dgm:prSet presAssocID="{5EAA2E3E-2DB2-4E7B-9105-D125404716D8}" presName="parTxOnly" presStyleLbl="node1" presStyleIdx="6" presStyleCnt="7">
        <dgm:presLayoutVars>
          <dgm:chMax val="0"/>
          <dgm:chPref val="0"/>
          <dgm:bulletEnabled val="1"/>
        </dgm:presLayoutVars>
      </dgm:prSet>
      <dgm:spPr/>
    </dgm:pt>
  </dgm:ptLst>
  <dgm:cxnLst>
    <dgm:cxn modelId="{0FB0205B-1D66-4C13-A779-7BCB71EB4EB0}" srcId="{DE0A869F-ED06-4157-9D5A-CE27B3D25265}" destId="{DDE7BD93-A8B0-4B70-ABC3-5A8CC4BE8DD8}" srcOrd="3" destOrd="0" parTransId="{93B0075A-C583-4C39-B93D-674D3CD7485F}" sibTransId="{67367A5B-4B87-4BD4-A47D-FDD24D73CE23}"/>
    <dgm:cxn modelId="{8CD4705E-542C-486D-8F07-5FA5841BF4C5}" srcId="{DE0A869F-ED06-4157-9D5A-CE27B3D25265}" destId="{E29E87E4-16CC-4D68-9029-52341207C1EA}" srcOrd="5" destOrd="0" parTransId="{4FC51010-6D6B-478A-A6B3-9FB0DAE7153A}" sibTransId="{B1CFDD8C-842A-4433-A126-4581A5F6EC16}"/>
    <dgm:cxn modelId="{851AC560-F077-4A4F-8A8F-C97C5DE164A8}" type="presOf" srcId="{DDE7BD93-A8B0-4B70-ABC3-5A8CC4BE8DD8}" destId="{5A209939-02B4-488C-9D36-3BFBD73420E8}" srcOrd="0" destOrd="0" presId="urn:microsoft.com/office/officeart/2005/8/layout/chevron1"/>
    <dgm:cxn modelId="{8FFA3C61-E446-4F32-8D25-D3E5656455AC}" type="presOf" srcId="{353AF12B-A7F7-4E39-A2DC-02ADA9AD0F74}" destId="{4A135A56-41DF-467E-8B62-C991E27AC0C6}" srcOrd="0" destOrd="0" presId="urn:microsoft.com/office/officeart/2005/8/layout/chevron1"/>
    <dgm:cxn modelId="{F7220C4A-6AF0-432F-B757-1B799DF99E04}" type="presOf" srcId="{D0FB205F-35C2-4455-8B96-03AEE56DED70}" destId="{551FEA79-D1BA-464D-93C3-7EC4164F0280}" srcOrd="0" destOrd="0" presId="urn:microsoft.com/office/officeart/2005/8/layout/chevron1"/>
    <dgm:cxn modelId="{43852073-3FDC-4039-915A-68ED4F4273B8}" srcId="{DE0A869F-ED06-4157-9D5A-CE27B3D25265}" destId="{5EAA2E3E-2DB2-4E7B-9105-D125404716D8}" srcOrd="6" destOrd="0" parTransId="{CC2EF943-268A-4964-B150-E22A41ACC6AC}" sibTransId="{CBACB218-F354-4DA6-A104-8AED6533E965}"/>
    <dgm:cxn modelId="{00D1AE76-3ECE-4BDB-9339-BD932FF7B81D}" type="presOf" srcId="{9898BBA7-BF07-480A-A631-741A79B9743E}" destId="{2E044520-31CD-40B8-BEEF-80204F48109F}" srcOrd="0" destOrd="0" presId="urn:microsoft.com/office/officeart/2005/8/layout/chevron1"/>
    <dgm:cxn modelId="{69C4A586-3F73-4D9F-8AA5-A9E8DEAF73F8}" type="presOf" srcId="{E29E87E4-16CC-4D68-9029-52341207C1EA}" destId="{FF9E73D5-5E63-4F01-A973-3DEBCCAD5B71}" srcOrd="0" destOrd="0" presId="urn:microsoft.com/office/officeart/2005/8/layout/chevron1"/>
    <dgm:cxn modelId="{BC330C89-567C-4DFC-90AF-E95628D156EC}" srcId="{DE0A869F-ED06-4157-9D5A-CE27B3D25265}" destId="{01AB8569-DF4F-491A-9D56-DA8F5783DA02}" srcOrd="4" destOrd="0" parTransId="{0CB57B9C-64EF-4212-840C-70AEBD48A0C4}" sibTransId="{3E15D390-93C2-4FCC-A6D5-8347DB60907D}"/>
    <dgm:cxn modelId="{C167C0A8-26AA-4305-8EBD-2A63E7E1BC0A}" type="presOf" srcId="{01AB8569-DF4F-491A-9D56-DA8F5783DA02}" destId="{6BE9B11A-0411-49D1-93DA-C44A84189A24}" srcOrd="0" destOrd="0" presId="urn:microsoft.com/office/officeart/2005/8/layout/chevron1"/>
    <dgm:cxn modelId="{606F23C0-857B-401A-A16F-D232649EEEE1}" srcId="{DE0A869F-ED06-4157-9D5A-CE27B3D25265}" destId="{353AF12B-A7F7-4E39-A2DC-02ADA9AD0F74}" srcOrd="0" destOrd="0" parTransId="{3DAE4CD0-2558-46D2-8C03-F47ED9458B87}" sibTransId="{00754AA1-9AD2-4939-802B-9D0AD30C41AF}"/>
    <dgm:cxn modelId="{2973B5C5-A18B-4512-B87D-93B228AD016E}" type="presOf" srcId="{5EAA2E3E-2DB2-4E7B-9105-D125404716D8}" destId="{C12AB7CD-16DC-4DC2-8E11-0B825C83D317}" srcOrd="0" destOrd="0" presId="urn:microsoft.com/office/officeart/2005/8/layout/chevron1"/>
    <dgm:cxn modelId="{B31299CB-D422-4B27-A295-48E6EB79980C}" srcId="{DE0A869F-ED06-4157-9D5A-CE27B3D25265}" destId="{D0FB205F-35C2-4455-8B96-03AEE56DED70}" srcOrd="1" destOrd="0" parTransId="{0FA6DDDB-D40C-4B0C-A316-FF3CE708656B}" sibTransId="{8619E79A-0CBD-488F-8FBB-AEBE47E277CA}"/>
    <dgm:cxn modelId="{04DA40F3-33A6-4CF3-9C80-C28BE9104CEB}" srcId="{DE0A869F-ED06-4157-9D5A-CE27B3D25265}" destId="{9898BBA7-BF07-480A-A631-741A79B9743E}" srcOrd="2" destOrd="0" parTransId="{60B36E4C-E8ED-4F10-ACA7-32C38ABEE3DD}" sibTransId="{587757F1-02DA-45D2-8604-9F7BE1AA1F3E}"/>
    <dgm:cxn modelId="{C63DF4F4-C44B-4AEA-A0A7-1305725A8969}" type="presOf" srcId="{DE0A869F-ED06-4157-9D5A-CE27B3D25265}" destId="{1B18F128-2D30-4800-A5EB-493C90B92F49}" srcOrd="0" destOrd="0" presId="urn:microsoft.com/office/officeart/2005/8/layout/chevron1"/>
    <dgm:cxn modelId="{9C2C6CA6-015F-4F2C-B316-1A66DB79447F}" type="presParOf" srcId="{1B18F128-2D30-4800-A5EB-493C90B92F49}" destId="{4A135A56-41DF-467E-8B62-C991E27AC0C6}" srcOrd="0" destOrd="0" presId="urn:microsoft.com/office/officeart/2005/8/layout/chevron1"/>
    <dgm:cxn modelId="{5206332A-199E-4C49-B4FD-D9E6652A0CBD}" type="presParOf" srcId="{1B18F128-2D30-4800-A5EB-493C90B92F49}" destId="{68F9CB85-DE27-4B86-8D4B-B4D9C00DE0ED}" srcOrd="1" destOrd="0" presId="urn:microsoft.com/office/officeart/2005/8/layout/chevron1"/>
    <dgm:cxn modelId="{1F3E3F80-C126-49CF-9945-67A8B2959D84}" type="presParOf" srcId="{1B18F128-2D30-4800-A5EB-493C90B92F49}" destId="{551FEA79-D1BA-464D-93C3-7EC4164F0280}" srcOrd="2" destOrd="0" presId="urn:microsoft.com/office/officeart/2005/8/layout/chevron1"/>
    <dgm:cxn modelId="{D994A3F4-C875-4F59-BCED-E140E013F6DB}" type="presParOf" srcId="{1B18F128-2D30-4800-A5EB-493C90B92F49}" destId="{CF1F4F98-66E6-4C95-B3D7-552EA40922D0}" srcOrd="3" destOrd="0" presId="urn:microsoft.com/office/officeart/2005/8/layout/chevron1"/>
    <dgm:cxn modelId="{F82079AD-6BED-4636-80A9-61D3D9BADEC5}" type="presParOf" srcId="{1B18F128-2D30-4800-A5EB-493C90B92F49}" destId="{2E044520-31CD-40B8-BEEF-80204F48109F}" srcOrd="4" destOrd="0" presId="urn:microsoft.com/office/officeart/2005/8/layout/chevron1"/>
    <dgm:cxn modelId="{767CD205-AAFA-4494-8F6C-3FE72F2CD32F}" type="presParOf" srcId="{1B18F128-2D30-4800-A5EB-493C90B92F49}" destId="{7FC959A1-1303-4874-901A-37D4EB57D769}" srcOrd="5" destOrd="0" presId="urn:microsoft.com/office/officeart/2005/8/layout/chevron1"/>
    <dgm:cxn modelId="{B8566685-9E67-4B3D-9758-4767D059DC4C}" type="presParOf" srcId="{1B18F128-2D30-4800-A5EB-493C90B92F49}" destId="{5A209939-02B4-488C-9D36-3BFBD73420E8}" srcOrd="6" destOrd="0" presId="urn:microsoft.com/office/officeart/2005/8/layout/chevron1"/>
    <dgm:cxn modelId="{FA51CCAF-2292-4ECC-A838-20139DECFD45}" type="presParOf" srcId="{1B18F128-2D30-4800-A5EB-493C90B92F49}" destId="{586B3805-B959-4B2E-8FD2-A0CAF5BC7900}" srcOrd="7" destOrd="0" presId="urn:microsoft.com/office/officeart/2005/8/layout/chevron1"/>
    <dgm:cxn modelId="{87C476D3-DEE5-4105-864E-E173AAF74956}" type="presParOf" srcId="{1B18F128-2D30-4800-A5EB-493C90B92F49}" destId="{6BE9B11A-0411-49D1-93DA-C44A84189A24}" srcOrd="8" destOrd="0" presId="urn:microsoft.com/office/officeart/2005/8/layout/chevron1"/>
    <dgm:cxn modelId="{CF3B9D89-222C-4B73-8B70-B689F5D7D935}" type="presParOf" srcId="{1B18F128-2D30-4800-A5EB-493C90B92F49}" destId="{4A0185B2-0C80-4CF2-A7FE-1142DFB8869A}" srcOrd="9" destOrd="0" presId="urn:microsoft.com/office/officeart/2005/8/layout/chevron1"/>
    <dgm:cxn modelId="{9B3DC4C9-0512-4067-8946-8006718DDB94}" type="presParOf" srcId="{1B18F128-2D30-4800-A5EB-493C90B92F49}" destId="{FF9E73D5-5E63-4F01-A973-3DEBCCAD5B71}" srcOrd="10" destOrd="0" presId="urn:microsoft.com/office/officeart/2005/8/layout/chevron1"/>
    <dgm:cxn modelId="{3F4B4994-8F3D-41D2-B8B4-3F249FF97C6C}" type="presParOf" srcId="{1B18F128-2D30-4800-A5EB-493C90B92F49}" destId="{9DCABAE4-3A7E-4739-83FC-67BBEC6F7AF5}" srcOrd="11" destOrd="0" presId="urn:microsoft.com/office/officeart/2005/8/layout/chevron1"/>
    <dgm:cxn modelId="{C58DD280-D304-45D2-8C9F-5D8A3563736A}" type="presParOf" srcId="{1B18F128-2D30-4800-A5EB-493C90B92F49}" destId="{C12AB7CD-16DC-4DC2-8E11-0B825C83D317}" srcOrd="12" destOrd="0" presId="urn:microsoft.com/office/officeart/2005/8/layout/chevron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A135A56-41DF-467E-8B62-C991E27AC0C6}">
      <dsp:nvSpPr>
        <dsp:cNvPr id="0" name=""/>
        <dsp:cNvSpPr/>
      </dsp:nvSpPr>
      <dsp:spPr>
        <a:xfrm>
          <a:off x="0" y="18374389"/>
          <a:ext cx="1810900" cy="724360"/>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8006" tIns="16002" rIns="16002" bIns="16002" numCol="1" spcCol="1270" anchor="ctr" anchorCtr="0">
          <a:noAutofit/>
        </a:bodyPr>
        <a:lstStyle/>
        <a:p>
          <a:pPr marL="0" lvl="0" indent="0" algn="ctr" defTabSz="533400" rtl="0">
            <a:lnSpc>
              <a:spcPct val="90000"/>
            </a:lnSpc>
            <a:spcBef>
              <a:spcPct val="0"/>
            </a:spcBef>
            <a:spcAft>
              <a:spcPct val="35000"/>
            </a:spcAft>
            <a:buNone/>
          </a:pPr>
          <a:r>
            <a:rPr lang="en-US" sz="1200" kern="1200" dirty="0">
              <a:latin typeface="Aptos Display" panose="02110004020202020204"/>
            </a:rPr>
            <a:t>Raw Downtime Data </a:t>
          </a:r>
          <a:endParaRPr lang="en-US" sz="1200" kern="1200" dirty="0"/>
        </a:p>
      </dsp:txBody>
      <dsp:txXfrm>
        <a:off x="362180" y="18374389"/>
        <a:ext cx="1086540" cy="724360"/>
      </dsp:txXfrm>
    </dsp:sp>
    <dsp:sp modelId="{551FEA79-D1BA-464D-93C3-7EC4164F0280}">
      <dsp:nvSpPr>
        <dsp:cNvPr id="0" name=""/>
        <dsp:cNvSpPr/>
      </dsp:nvSpPr>
      <dsp:spPr>
        <a:xfrm>
          <a:off x="1629810" y="18374389"/>
          <a:ext cx="1810900" cy="724360"/>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8006" tIns="16002" rIns="16002" bIns="16002" numCol="1" spcCol="1270" anchor="ctr" anchorCtr="0">
          <a:noAutofit/>
        </a:bodyPr>
        <a:lstStyle/>
        <a:p>
          <a:pPr marL="0" lvl="0" indent="0" algn="ctr" defTabSz="533400" rtl="0">
            <a:lnSpc>
              <a:spcPct val="90000"/>
            </a:lnSpc>
            <a:spcBef>
              <a:spcPct val="0"/>
            </a:spcBef>
            <a:spcAft>
              <a:spcPct val="35000"/>
            </a:spcAft>
            <a:buNone/>
          </a:pPr>
          <a:r>
            <a:rPr lang="en-US" sz="1200" kern="1200" dirty="0">
              <a:latin typeface="Aptos Display" panose="02110004020202020204"/>
            </a:rPr>
            <a:t>Data Cleaning,</a:t>
          </a:r>
        </a:p>
        <a:p>
          <a:pPr marL="0" lvl="0" indent="0" algn="ctr" defTabSz="533400" rtl="0">
            <a:lnSpc>
              <a:spcPct val="90000"/>
            </a:lnSpc>
            <a:spcBef>
              <a:spcPct val="0"/>
            </a:spcBef>
            <a:spcAft>
              <a:spcPct val="35000"/>
            </a:spcAft>
            <a:buNone/>
          </a:pPr>
          <a:r>
            <a:rPr lang="en-US" sz="1200" kern="1200" dirty="0">
              <a:latin typeface="Aptos Display" panose="02110004020202020204"/>
            </a:rPr>
            <a:t>Target Definition &amp; Preprocessing </a:t>
          </a:r>
          <a:endParaRPr lang="en-US" sz="1200" kern="1200" dirty="0"/>
        </a:p>
      </dsp:txBody>
      <dsp:txXfrm>
        <a:off x="1991990" y="18374389"/>
        <a:ext cx="1086540" cy="724360"/>
      </dsp:txXfrm>
    </dsp:sp>
    <dsp:sp modelId="{2E044520-31CD-40B8-BEEF-80204F48109F}">
      <dsp:nvSpPr>
        <dsp:cNvPr id="0" name=""/>
        <dsp:cNvSpPr/>
      </dsp:nvSpPr>
      <dsp:spPr>
        <a:xfrm>
          <a:off x="3259621" y="18374389"/>
          <a:ext cx="1810900" cy="724360"/>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8006" tIns="16002" rIns="16002" bIns="16002" numCol="1" spcCol="1270" anchor="ctr" anchorCtr="0">
          <a:noAutofit/>
        </a:bodyPr>
        <a:lstStyle/>
        <a:p>
          <a:pPr marL="0" lvl="0" indent="0" algn="ctr" defTabSz="533400" rtl="0">
            <a:lnSpc>
              <a:spcPct val="90000"/>
            </a:lnSpc>
            <a:spcBef>
              <a:spcPct val="0"/>
            </a:spcBef>
            <a:spcAft>
              <a:spcPct val="35000"/>
            </a:spcAft>
            <a:buNone/>
          </a:pPr>
          <a:r>
            <a:rPr lang="en-US" sz="1200" kern="1200" dirty="0">
              <a:latin typeface="Aptos Display" panose="02110004020202020204"/>
            </a:rPr>
            <a:t>Feature Engineering</a:t>
          </a:r>
        </a:p>
      </dsp:txBody>
      <dsp:txXfrm>
        <a:off x="3621801" y="18374389"/>
        <a:ext cx="1086540" cy="724360"/>
      </dsp:txXfrm>
    </dsp:sp>
    <dsp:sp modelId="{5A209939-02B4-488C-9D36-3BFBD73420E8}">
      <dsp:nvSpPr>
        <dsp:cNvPr id="0" name=""/>
        <dsp:cNvSpPr/>
      </dsp:nvSpPr>
      <dsp:spPr>
        <a:xfrm>
          <a:off x="4889432" y="18374389"/>
          <a:ext cx="1810900" cy="724360"/>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8006" tIns="16002" rIns="16002" bIns="16002" numCol="1" spcCol="1270" anchor="ctr" anchorCtr="0">
          <a:noAutofit/>
        </a:bodyPr>
        <a:lstStyle/>
        <a:p>
          <a:pPr marL="0" lvl="0" indent="0" algn="ctr" defTabSz="533400" rtl="0">
            <a:lnSpc>
              <a:spcPct val="90000"/>
            </a:lnSpc>
            <a:spcBef>
              <a:spcPct val="0"/>
            </a:spcBef>
            <a:spcAft>
              <a:spcPct val="35000"/>
            </a:spcAft>
            <a:buNone/>
          </a:pPr>
          <a:r>
            <a:rPr lang="en-US" sz="1200" kern="1200" dirty="0">
              <a:latin typeface="Aptos Display" panose="02110004020202020204"/>
            </a:rPr>
            <a:t>Machine learning Techniques</a:t>
          </a:r>
        </a:p>
      </dsp:txBody>
      <dsp:txXfrm>
        <a:off x="5251612" y="18374389"/>
        <a:ext cx="1086540" cy="724360"/>
      </dsp:txXfrm>
    </dsp:sp>
    <dsp:sp modelId="{6BE9B11A-0411-49D1-93DA-C44A84189A24}">
      <dsp:nvSpPr>
        <dsp:cNvPr id="0" name=""/>
        <dsp:cNvSpPr/>
      </dsp:nvSpPr>
      <dsp:spPr>
        <a:xfrm>
          <a:off x="6519242" y="18374389"/>
          <a:ext cx="1810900" cy="724360"/>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8006" tIns="16002" rIns="16002" bIns="16002" numCol="1" spcCol="1270" anchor="ctr" anchorCtr="0">
          <a:noAutofit/>
        </a:bodyPr>
        <a:lstStyle/>
        <a:p>
          <a:pPr marL="0" lvl="0" indent="0" algn="ctr" defTabSz="533400" rtl="0">
            <a:lnSpc>
              <a:spcPct val="90000"/>
            </a:lnSpc>
            <a:spcBef>
              <a:spcPct val="0"/>
            </a:spcBef>
            <a:spcAft>
              <a:spcPct val="35000"/>
            </a:spcAft>
            <a:buNone/>
          </a:pPr>
          <a:r>
            <a:rPr lang="en-US" sz="1200" kern="1200" dirty="0">
              <a:latin typeface="Aptos Display" panose="02110004020202020204"/>
            </a:rPr>
            <a:t>Models evaluation &amp; Best Model Selection </a:t>
          </a:r>
        </a:p>
      </dsp:txBody>
      <dsp:txXfrm>
        <a:off x="6881422" y="18374389"/>
        <a:ext cx="1086540" cy="724360"/>
      </dsp:txXfrm>
    </dsp:sp>
    <dsp:sp modelId="{FF9E73D5-5E63-4F01-A973-3DEBCCAD5B71}">
      <dsp:nvSpPr>
        <dsp:cNvPr id="0" name=""/>
        <dsp:cNvSpPr/>
      </dsp:nvSpPr>
      <dsp:spPr>
        <a:xfrm>
          <a:off x="8149053" y="18374389"/>
          <a:ext cx="1810900" cy="724360"/>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8006" tIns="16002" rIns="16002" bIns="16002" numCol="1" spcCol="1270" anchor="ctr" anchorCtr="0">
          <a:noAutofit/>
        </a:bodyPr>
        <a:lstStyle/>
        <a:p>
          <a:pPr marL="0" lvl="0" indent="0" algn="ctr" defTabSz="533400" rtl="0">
            <a:lnSpc>
              <a:spcPct val="90000"/>
            </a:lnSpc>
            <a:spcBef>
              <a:spcPct val="0"/>
            </a:spcBef>
            <a:spcAft>
              <a:spcPct val="35000"/>
            </a:spcAft>
            <a:buNone/>
          </a:pPr>
          <a:r>
            <a:rPr lang="en-US" sz="1200" kern="1200" dirty="0">
              <a:latin typeface="Aptos Display" panose="02110004020202020204"/>
            </a:rPr>
            <a:t>Feature Importance</a:t>
          </a:r>
        </a:p>
      </dsp:txBody>
      <dsp:txXfrm>
        <a:off x="8511233" y="18374389"/>
        <a:ext cx="1086540" cy="724360"/>
      </dsp:txXfrm>
    </dsp:sp>
    <dsp:sp modelId="{C12AB7CD-16DC-4DC2-8E11-0B825C83D317}">
      <dsp:nvSpPr>
        <dsp:cNvPr id="0" name=""/>
        <dsp:cNvSpPr/>
      </dsp:nvSpPr>
      <dsp:spPr>
        <a:xfrm>
          <a:off x="9778864" y="18374389"/>
          <a:ext cx="1810900" cy="724360"/>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8006" tIns="16002" rIns="16002" bIns="16002" numCol="1" spcCol="1270" anchor="ctr" anchorCtr="0">
          <a:noAutofit/>
        </a:bodyPr>
        <a:lstStyle/>
        <a:p>
          <a:pPr marL="0" lvl="0" indent="0" algn="ctr" defTabSz="533400" rtl="0">
            <a:lnSpc>
              <a:spcPct val="90000"/>
            </a:lnSpc>
            <a:spcBef>
              <a:spcPct val="0"/>
            </a:spcBef>
            <a:spcAft>
              <a:spcPct val="35000"/>
            </a:spcAft>
            <a:buNone/>
          </a:pPr>
          <a:r>
            <a:rPr lang="en-US" sz="1200" kern="1200" dirty="0">
              <a:latin typeface="Aptos Display" panose="02110004020202020204"/>
            </a:rPr>
            <a:t>Conclusion</a:t>
          </a:r>
        </a:p>
      </dsp:txBody>
      <dsp:txXfrm>
        <a:off x="10141044" y="18374389"/>
        <a:ext cx="1086540" cy="724360"/>
      </dsp:txXfrm>
    </dsp:sp>
  </dsp:spTree>
</dsp:drawing>
</file>

<file path=ppt/diagrams/layout1.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Z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94E02D4-7CEE-4426-B842-C52CC7EAF1AF}" type="datetimeFigureOut">
              <a:rPr lang="en-ZA" smtClean="0"/>
              <a:t>2026/05/18</a:t>
            </a:fld>
            <a:endParaRPr lang="en-Z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Z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Z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6A4A676-2660-4BB4-BF48-DD096EA23FE3}" type="slidenum">
              <a:rPr lang="en-ZA" smtClean="0"/>
              <a:t>‹#›</a:t>
            </a:fld>
            <a:endParaRPr lang="en-ZA"/>
          </a:p>
        </p:txBody>
      </p:sp>
    </p:spTree>
    <p:extLst>
      <p:ext uri="{BB962C8B-B14F-4D97-AF65-F5344CB8AC3E}">
        <p14:creationId xmlns:p14="http://schemas.microsoft.com/office/powerpoint/2010/main" val="29618558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t"/>
            <a:r>
              <a:rPr lang="en-US" sz="1200" b="0" i="0" kern="1200" dirty="0">
                <a:solidFill>
                  <a:schemeClr val="tx1"/>
                </a:solidFill>
                <a:effectLst/>
                <a:latin typeface="+mn-lt"/>
                <a:ea typeface="+mn-ea"/>
                <a:cs typeface="+mn-cs"/>
              </a:rPr>
              <a:t>Based on AUC evaluated on a held‑out test set, the </a:t>
            </a:r>
          </a:p>
          <a:p>
            <a:pPr marL="171450" marR="0" lvl="0" indent="-171450" algn="l" defTabSz="914400" rtl="0" eaLnBrk="1" fontAlgn="t" latinLnBrk="0" hangingPunct="1">
              <a:lnSpc>
                <a:spcPct val="100000"/>
              </a:lnSpc>
              <a:spcBef>
                <a:spcPts val="0"/>
              </a:spcBef>
              <a:spcAft>
                <a:spcPts val="0"/>
              </a:spcAft>
              <a:buClrTx/>
              <a:buSzTx/>
              <a:buFont typeface="Wingdings" panose="05000000000000000000" pitchFamily="2" charset="2"/>
              <a:buChar char="ü"/>
              <a:tabLst/>
              <a:defRPr/>
            </a:pPr>
            <a:r>
              <a:rPr lang="en-US" sz="1200" b="1" i="0" kern="1200" dirty="0">
                <a:solidFill>
                  <a:schemeClr val="tx1"/>
                </a:solidFill>
                <a:effectLst/>
                <a:latin typeface="+mn-lt"/>
                <a:ea typeface="+mn-ea"/>
                <a:cs typeface="+mn-cs"/>
              </a:rPr>
              <a:t>Decision Tree</a:t>
            </a:r>
            <a:r>
              <a:rPr lang="en-US" sz="1200" b="0" i="0" kern="1200" dirty="0">
                <a:solidFill>
                  <a:schemeClr val="tx1"/>
                </a:solidFill>
                <a:effectLst/>
                <a:latin typeface="+mn-lt"/>
                <a:ea typeface="+mn-ea"/>
                <a:cs typeface="+mn-cs"/>
              </a:rPr>
              <a:t> achieved the best predictive performance (AUC ≈ 0.7495) &amp; </a:t>
            </a:r>
            <a:r>
              <a:rPr lang="en-US" sz="1200" dirty="0"/>
              <a:t>shows the strongest ROC performance,</a:t>
            </a:r>
            <a:r>
              <a:rPr lang="en-US" sz="1200" b="0" i="0" kern="1200" dirty="0">
                <a:solidFill>
                  <a:schemeClr val="tx1"/>
                </a:solidFill>
                <a:effectLst/>
                <a:latin typeface="+mn-lt"/>
                <a:ea typeface="+mn-ea"/>
                <a:cs typeface="+mn-cs"/>
              </a:rPr>
              <a:t> indicating the strongest overall discriminative ability. </a:t>
            </a:r>
          </a:p>
          <a:p>
            <a:pPr marL="171450" indent="-171450" fontAlgn="t">
              <a:buFont typeface="Wingdings" panose="05000000000000000000" pitchFamily="2" charset="2"/>
              <a:buChar char="ü"/>
            </a:pPr>
            <a:r>
              <a:rPr lang="en-US" sz="1200" b="1" i="0" kern="1200" dirty="0">
                <a:solidFill>
                  <a:schemeClr val="tx1"/>
                </a:solidFill>
                <a:effectLst/>
                <a:latin typeface="+mn-lt"/>
                <a:ea typeface="+mn-ea"/>
                <a:cs typeface="+mn-cs"/>
              </a:rPr>
              <a:t>Logistic Regression</a:t>
            </a:r>
            <a:r>
              <a:rPr lang="en-US" sz="1200" b="0" i="0" kern="1200" dirty="0">
                <a:solidFill>
                  <a:schemeClr val="tx1"/>
                </a:solidFill>
                <a:effectLst/>
                <a:latin typeface="+mn-lt"/>
                <a:ea typeface="+mn-ea"/>
                <a:cs typeface="+mn-cs"/>
              </a:rPr>
              <a:t> showed moderate performance, constrained by its linear modelling assumptions. In contrast, </a:t>
            </a:r>
          </a:p>
          <a:p>
            <a:pPr marL="171450" indent="-171450" fontAlgn="t">
              <a:buFont typeface="Wingdings" panose="05000000000000000000" pitchFamily="2" charset="2"/>
              <a:buChar char="ü"/>
            </a:pPr>
            <a:r>
              <a:rPr lang="en-US" sz="1200" b="1" i="0" kern="1200" dirty="0">
                <a:solidFill>
                  <a:schemeClr val="tx1"/>
                </a:solidFill>
                <a:effectLst/>
                <a:latin typeface="+mn-lt"/>
                <a:ea typeface="+mn-ea"/>
                <a:cs typeface="+mn-cs"/>
              </a:rPr>
              <a:t>Naïve Bayes </a:t>
            </a:r>
            <a:r>
              <a:rPr lang="en-US" sz="1200" b="0" i="0" kern="1200" dirty="0">
                <a:solidFill>
                  <a:schemeClr val="tx1"/>
                </a:solidFill>
                <a:effectLst/>
                <a:latin typeface="+mn-lt"/>
                <a:ea typeface="+mn-ea"/>
                <a:cs typeface="+mn-cs"/>
              </a:rPr>
              <a:t>exhibited weak generalization after data cleaning and leakage removal, suggesting that its conditional independence assumption was not well suited to the final feature set.</a:t>
            </a:r>
          </a:p>
          <a:p>
            <a:pPr marL="0" indent="0" fontAlgn="t">
              <a:buFont typeface="Wingdings" panose="05000000000000000000" pitchFamily="2" charset="2"/>
              <a:buNone/>
            </a:pPr>
            <a:r>
              <a:rPr lang="en-US" sz="1200" dirty="0"/>
              <a:t>High sensitivity achieved with better separation of classes.</a:t>
            </a:r>
            <a:endParaRPr lang="en-US" sz="1200" b="0" i="0" kern="1200" dirty="0">
              <a:solidFill>
                <a:schemeClr val="tx1"/>
              </a:solidFill>
              <a:effectLst/>
              <a:latin typeface="+mn-lt"/>
              <a:ea typeface="+mn-ea"/>
              <a:cs typeface="+mn-cs"/>
            </a:endParaRPr>
          </a:p>
          <a:p>
            <a:pPr marL="0" indent="0" fontAlgn="t">
              <a:buFont typeface="Wingdings" panose="05000000000000000000" pitchFamily="2" charset="2"/>
              <a:buNone/>
            </a:pPr>
            <a:endParaRPr lang="en-US"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 Consequently, feature importance and key drivers of maintenance were interpreted primarily using the Decision Tree and supported by Logistic Regression. The results further demonstrate that feature engineering substantially improved predictive power, with downtime severity, time‑based patterns, and operational context emerging as the primary drivers of maintenance requirements.</a:t>
            </a:r>
          </a:p>
          <a:p>
            <a:endParaRPr lang="en-US" dirty="0"/>
          </a:p>
          <a:p>
            <a:pPr marL="171450" indent="-171450" fontAlgn="t">
              <a:buFont typeface="Wingdings" panose="05000000000000000000" pitchFamily="2" charset="2"/>
              <a:buChar char="ü"/>
            </a:pPr>
            <a:endParaRPr lang="en-US" sz="1200" b="0" i="0" kern="1200" dirty="0">
              <a:solidFill>
                <a:schemeClr val="tx1"/>
              </a:solidFill>
              <a:effectLst/>
              <a:latin typeface="+mn-lt"/>
              <a:ea typeface="+mn-ea"/>
              <a:cs typeface="+mn-cs"/>
            </a:endParaRPr>
          </a:p>
          <a:p>
            <a:pPr marL="0" indent="0" fontAlgn="t">
              <a:buFont typeface="Wingdings" panose="05000000000000000000" pitchFamily="2" charset="2"/>
              <a:buNone/>
            </a:pPr>
            <a:endParaRPr lang="en-US" sz="1200" b="0" i="0" kern="1200" dirty="0">
              <a:solidFill>
                <a:schemeClr val="tx1"/>
              </a:solidFill>
              <a:effectLst/>
              <a:latin typeface="+mn-lt"/>
              <a:ea typeface="+mn-ea"/>
              <a:cs typeface="+mn-cs"/>
            </a:endParaRPr>
          </a:p>
          <a:p>
            <a:pPr marL="171450" indent="-171450" fontAlgn="t">
              <a:buFont typeface="Wingdings" panose="05000000000000000000" pitchFamily="2" charset="2"/>
              <a:buChar char="ü"/>
            </a:pPr>
            <a:endParaRPr lang="en-US" sz="1200" b="0" i="0" kern="1200" dirty="0">
              <a:solidFill>
                <a:schemeClr val="tx1"/>
              </a:solidFill>
              <a:effectLst/>
              <a:latin typeface="+mn-lt"/>
              <a:ea typeface="+mn-ea"/>
              <a:cs typeface="+mn-cs"/>
            </a:endParaRPr>
          </a:p>
          <a:p>
            <a:pPr fontAlgn="t"/>
            <a:endParaRPr lang="en-US"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400" b="0" i="0" kern="1200" dirty="0">
              <a:solidFill>
                <a:schemeClr val="tx1"/>
              </a:solidFill>
              <a:effectLst/>
              <a:latin typeface="+mn-lt"/>
              <a:ea typeface="+mn-ea"/>
              <a:cs typeface="+mn-cs"/>
            </a:endParaRPr>
          </a:p>
          <a:p>
            <a:endParaRPr lang="en-US" dirty="0"/>
          </a:p>
          <a:p>
            <a:endParaRPr lang="en-US" dirty="0"/>
          </a:p>
        </p:txBody>
      </p:sp>
      <p:sp>
        <p:nvSpPr>
          <p:cNvPr id="4" name="Slide Number Placeholder 3"/>
          <p:cNvSpPr>
            <a:spLocks noGrp="1"/>
          </p:cNvSpPr>
          <p:nvPr>
            <p:ph type="sldNum" sz="quarter" idx="5"/>
          </p:nvPr>
        </p:nvSpPr>
        <p:spPr/>
        <p:txBody>
          <a:bodyPr/>
          <a:lstStyle/>
          <a:p>
            <a:fld id="{C6A4A676-2660-4BB4-BF48-DD096EA23FE3}" type="slidenum">
              <a:rPr lang="en-ZA" smtClean="0"/>
              <a:t>6</a:t>
            </a:fld>
            <a:endParaRPr lang="en-ZA"/>
          </a:p>
        </p:txBody>
      </p:sp>
    </p:spTree>
    <p:extLst>
      <p:ext uri="{BB962C8B-B14F-4D97-AF65-F5344CB8AC3E}">
        <p14:creationId xmlns:p14="http://schemas.microsoft.com/office/powerpoint/2010/main" val="73291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6A4A676-2660-4BB4-BF48-DD096EA23FE3}" type="slidenum">
              <a:rPr lang="en-ZA" smtClean="0"/>
              <a:t>7</a:t>
            </a:fld>
            <a:endParaRPr lang="en-ZA"/>
          </a:p>
        </p:txBody>
      </p:sp>
    </p:spTree>
    <p:extLst>
      <p:ext uri="{BB962C8B-B14F-4D97-AF65-F5344CB8AC3E}">
        <p14:creationId xmlns:p14="http://schemas.microsoft.com/office/powerpoint/2010/main" val="56829406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021992-6384-877F-0EB1-70D566A6D4D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59812AC-1672-4558-EC31-DC7B4E9D12B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C823E34-7FED-29CF-86FE-BE9FC34E2D0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93C38ED-2E4F-0D15-23EB-27CC3DB9A466}"/>
              </a:ext>
            </a:extLst>
          </p:cNvPr>
          <p:cNvSpPr>
            <a:spLocks noGrp="1"/>
          </p:cNvSpPr>
          <p:nvPr>
            <p:ph type="sldNum" sz="quarter" idx="5"/>
          </p:nvPr>
        </p:nvSpPr>
        <p:spPr/>
        <p:txBody>
          <a:bodyPr/>
          <a:lstStyle/>
          <a:p>
            <a:fld id="{C6A4A676-2660-4BB4-BF48-DD096EA23FE3}" type="slidenum">
              <a:rPr lang="en-ZA" smtClean="0"/>
              <a:t>8</a:t>
            </a:fld>
            <a:endParaRPr lang="en-ZA"/>
          </a:p>
        </p:txBody>
      </p:sp>
    </p:spTree>
    <p:extLst>
      <p:ext uri="{BB962C8B-B14F-4D97-AF65-F5344CB8AC3E}">
        <p14:creationId xmlns:p14="http://schemas.microsoft.com/office/powerpoint/2010/main" val="428098438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1A525B-7C89-0818-AFF1-E184F85A3DB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ZA"/>
          </a:p>
        </p:txBody>
      </p:sp>
      <p:sp>
        <p:nvSpPr>
          <p:cNvPr id="3" name="Subtitle 2">
            <a:extLst>
              <a:ext uri="{FF2B5EF4-FFF2-40B4-BE49-F238E27FC236}">
                <a16:creationId xmlns:a16="http://schemas.microsoft.com/office/drawing/2014/main" id="{92FAFA97-542C-5540-583F-A357E455882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ZA"/>
          </a:p>
        </p:txBody>
      </p:sp>
      <p:sp>
        <p:nvSpPr>
          <p:cNvPr id="4" name="Date Placeholder 3">
            <a:extLst>
              <a:ext uri="{FF2B5EF4-FFF2-40B4-BE49-F238E27FC236}">
                <a16:creationId xmlns:a16="http://schemas.microsoft.com/office/drawing/2014/main" id="{FDD93099-2FDC-8337-46B2-9798EB39BB96}"/>
              </a:ext>
            </a:extLst>
          </p:cNvPr>
          <p:cNvSpPr>
            <a:spLocks noGrp="1"/>
          </p:cNvSpPr>
          <p:nvPr>
            <p:ph type="dt" sz="half" idx="10"/>
          </p:nvPr>
        </p:nvSpPr>
        <p:spPr/>
        <p:txBody>
          <a:bodyPr/>
          <a:lstStyle/>
          <a:p>
            <a:fld id="{D3997BC2-908B-4AE2-B66B-0BE82B2F56FB}" type="datetimeFigureOut">
              <a:rPr lang="en-ZA" smtClean="0"/>
              <a:t>2026/05/18</a:t>
            </a:fld>
            <a:endParaRPr lang="en-ZA"/>
          </a:p>
        </p:txBody>
      </p:sp>
      <p:sp>
        <p:nvSpPr>
          <p:cNvPr id="5" name="Footer Placeholder 4">
            <a:extLst>
              <a:ext uri="{FF2B5EF4-FFF2-40B4-BE49-F238E27FC236}">
                <a16:creationId xmlns:a16="http://schemas.microsoft.com/office/drawing/2014/main" id="{37344EEB-A394-AC7A-4C4F-9D81D689B5C6}"/>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222DA6D1-146F-7C62-0C27-01A5A8CE763B}"/>
              </a:ext>
            </a:extLst>
          </p:cNvPr>
          <p:cNvSpPr>
            <a:spLocks noGrp="1"/>
          </p:cNvSpPr>
          <p:nvPr>
            <p:ph type="sldNum" sz="quarter" idx="12"/>
          </p:nvPr>
        </p:nvSpPr>
        <p:spPr/>
        <p:txBody>
          <a:bodyPr/>
          <a:lstStyle/>
          <a:p>
            <a:fld id="{44CC2D65-3171-4FC7-802C-6FA9CF2E3E22}" type="slidenum">
              <a:rPr lang="en-ZA" smtClean="0"/>
              <a:t>‹#›</a:t>
            </a:fld>
            <a:endParaRPr lang="en-ZA"/>
          </a:p>
        </p:txBody>
      </p:sp>
    </p:spTree>
    <p:extLst>
      <p:ext uri="{BB962C8B-B14F-4D97-AF65-F5344CB8AC3E}">
        <p14:creationId xmlns:p14="http://schemas.microsoft.com/office/powerpoint/2010/main" val="36851917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E51C24-FE9A-AF0D-D00E-AF05DD8832D5}"/>
              </a:ext>
            </a:extLst>
          </p:cNvPr>
          <p:cNvSpPr>
            <a:spLocks noGrp="1"/>
          </p:cNvSpPr>
          <p:nvPr>
            <p:ph type="title"/>
          </p:nvPr>
        </p:nvSpPr>
        <p:spPr/>
        <p:txBody>
          <a:bodyPr/>
          <a:lstStyle/>
          <a:p>
            <a:r>
              <a:rPr lang="en-US"/>
              <a:t>Click to edit Master title style</a:t>
            </a:r>
            <a:endParaRPr lang="en-ZA"/>
          </a:p>
        </p:txBody>
      </p:sp>
      <p:sp>
        <p:nvSpPr>
          <p:cNvPr id="3" name="Content Placeholder 2">
            <a:extLst>
              <a:ext uri="{FF2B5EF4-FFF2-40B4-BE49-F238E27FC236}">
                <a16:creationId xmlns:a16="http://schemas.microsoft.com/office/drawing/2014/main" id="{FF338984-ADDD-77D9-4862-6D2093C30F0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F75B571C-5208-9F89-2400-C2B0029D2AFC}"/>
              </a:ext>
            </a:extLst>
          </p:cNvPr>
          <p:cNvSpPr>
            <a:spLocks noGrp="1"/>
          </p:cNvSpPr>
          <p:nvPr>
            <p:ph type="dt" sz="half" idx="10"/>
          </p:nvPr>
        </p:nvSpPr>
        <p:spPr/>
        <p:txBody>
          <a:bodyPr/>
          <a:lstStyle/>
          <a:p>
            <a:fld id="{D3997BC2-908B-4AE2-B66B-0BE82B2F56FB}" type="datetimeFigureOut">
              <a:rPr lang="en-ZA" smtClean="0"/>
              <a:t>2026/05/18</a:t>
            </a:fld>
            <a:endParaRPr lang="en-ZA"/>
          </a:p>
        </p:txBody>
      </p:sp>
      <p:sp>
        <p:nvSpPr>
          <p:cNvPr id="5" name="Footer Placeholder 4">
            <a:extLst>
              <a:ext uri="{FF2B5EF4-FFF2-40B4-BE49-F238E27FC236}">
                <a16:creationId xmlns:a16="http://schemas.microsoft.com/office/drawing/2014/main" id="{7B06B03C-18AF-BCF7-E104-878387850E14}"/>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397892C7-A7C8-C835-3495-65D9A721C817}"/>
              </a:ext>
            </a:extLst>
          </p:cNvPr>
          <p:cNvSpPr>
            <a:spLocks noGrp="1"/>
          </p:cNvSpPr>
          <p:nvPr>
            <p:ph type="sldNum" sz="quarter" idx="12"/>
          </p:nvPr>
        </p:nvSpPr>
        <p:spPr/>
        <p:txBody>
          <a:bodyPr/>
          <a:lstStyle/>
          <a:p>
            <a:fld id="{44CC2D65-3171-4FC7-802C-6FA9CF2E3E22}" type="slidenum">
              <a:rPr lang="en-ZA" smtClean="0"/>
              <a:t>‹#›</a:t>
            </a:fld>
            <a:endParaRPr lang="en-ZA"/>
          </a:p>
        </p:txBody>
      </p:sp>
    </p:spTree>
    <p:extLst>
      <p:ext uri="{BB962C8B-B14F-4D97-AF65-F5344CB8AC3E}">
        <p14:creationId xmlns:p14="http://schemas.microsoft.com/office/powerpoint/2010/main" val="522942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2977A2-EEDC-9396-EDF5-8C9C6F9BB2A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ZA"/>
          </a:p>
        </p:txBody>
      </p:sp>
      <p:sp>
        <p:nvSpPr>
          <p:cNvPr id="3" name="Text Placeholder 2">
            <a:extLst>
              <a:ext uri="{FF2B5EF4-FFF2-40B4-BE49-F238E27FC236}">
                <a16:creationId xmlns:a16="http://schemas.microsoft.com/office/drawing/2014/main" id="{8EB4CABE-C170-BFE5-06D9-8ACAE81D624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C128E9F-94AB-405C-59E7-24D2E11EC7AC}"/>
              </a:ext>
            </a:extLst>
          </p:cNvPr>
          <p:cNvSpPr>
            <a:spLocks noGrp="1"/>
          </p:cNvSpPr>
          <p:nvPr>
            <p:ph type="dt" sz="half" idx="10"/>
          </p:nvPr>
        </p:nvSpPr>
        <p:spPr/>
        <p:txBody>
          <a:bodyPr/>
          <a:lstStyle/>
          <a:p>
            <a:fld id="{D3997BC2-908B-4AE2-B66B-0BE82B2F56FB}" type="datetimeFigureOut">
              <a:rPr lang="en-ZA" smtClean="0"/>
              <a:t>2026/05/18</a:t>
            </a:fld>
            <a:endParaRPr lang="en-ZA"/>
          </a:p>
        </p:txBody>
      </p:sp>
      <p:sp>
        <p:nvSpPr>
          <p:cNvPr id="5" name="Footer Placeholder 4">
            <a:extLst>
              <a:ext uri="{FF2B5EF4-FFF2-40B4-BE49-F238E27FC236}">
                <a16:creationId xmlns:a16="http://schemas.microsoft.com/office/drawing/2014/main" id="{E50D097F-79C5-1909-B2E2-777ABCC24D88}"/>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C58A3CB1-0DE5-BC1C-5766-A9AE5D2B0880}"/>
              </a:ext>
            </a:extLst>
          </p:cNvPr>
          <p:cNvSpPr>
            <a:spLocks noGrp="1"/>
          </p:cNvSpPr>
          <p:nvPr>
            <p:ph type="sldNum" sz="quarter" idx="12"/>
          </p:nvPr>
        </p:nvSpPr>
        <p:spPr/>
        <p:txBody>
          <a:bodyPr/>
          <a:lstStyle/>
          <a:p>
            <a:fld id="{44CC2D65-3171-4FC7-802C-6FA9CF2E3E22}" type="slidenum">
              <a:rPr lang="en-ZA" smtClean="0"/>
              <a:t>‹#›</a:t>
            </a:fld>
            <a:endParaRPr lang="en-ZA"/>
          </a:p>
        </p:txBody>
      </p:sp>
    </p:spTree>
    <p:extLst>
      <p:ext uri="{BB962C8B-B14F-4D97-AF65-F5344CB8AC3E}">
        <p14:creationId xmlns:p14="http://schemas.microsoft.com/office/powerpoint/2010/main" val="24824885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24886D-4DCA-9E15-0FBB-E98DD9EE547B}"/>
              </a:ext>
            </a:extLst>
          </p:cNvPr>
          <p:cNvSpPr>
            <a:spLocks noGrp="1"/>
          </p:cNvSpPr>
          <p:nvPr>
            <p:ph type="title"/>
          </p:nvPr>
        </p:nvSpPr>
        <p:spPr/>
        <p:txBody>
          <a:bodyPr/>
          <a:lstStyle/>
          <a:p>
            <a:r>
              <a:rPr lang="en-US"/>
              <a:t>Click to edit Master title style</a:t>
            </a:r>
            <a:endParaRPr lang="en-ZA"/>
          </a:p>
        </p:txBody>
      </p:sp>
      <p:sp>
        <p:nvSpPr>
          <p:cNvPr id="3" name="Content Placeholder 2">
            <a:extLst>
              <a:ext uri="{FF2B5EF4-FFF2-40B4-BE49-F238E27FC236}">
                <a16:creationId xmlns:a16="http://schemas.microsoft.com/office/drawing/2014/main" id="{62E277A2-6257-646C-4C99-5AFFEF6B4D4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Content Placeholder 3">
            <a:extLst>
              <a:ext uri="{FF2B5EF4-FFF2-40B4-BE49-F238E27FC236}">
                <a16:creationId xmlns:a16="http://schemas.microsoft.com/office/drawing/2014/main" id="{606FDC54-5F33-1D28-E44B-748DED4EB63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5" name="Date Placeholder 4">
            <a:extLst>
              <a:ext uri="{FF2B5EF4-FFF2-40B4-BE49-F238E27FC236}">
                <a16:creationId xmlns:a16="http://schemas.microsoft.com/office/drawing/2014/main" id="{381293C8-C19E-2A47-6E08-F3DA087ADBDF}"/>
              </a:ext>
            </a:extLst>
          </p:cNvPr>
          <p:cNvSpPr>
            <a:spLocks noGrp="1"/>
          </p:cNvSpPr>
          <p:nvPr>
            <p:ph type="dt" sz="half" idx="10"/>
          </p:nvPr>
        </p:nvSpPr>
        <p:spPr/>
        <p:txBody>
          <a:bodyPr/>
          <a:lstStyle/>
          <a:p>
            <a:fld id="{D3997BC2-908B-4AE2-B66B-0BE82B2F56FB}" type="datetimeFigureOut">
              <a:rPr lang="en-ZA" smtClean="0"/>
              <a:t>2026/05/18</a:t>
            </a:fld>
            <a:endParaRPr lang="en-ZA"/>
          </a:p>
        </p:txBody>
      </p:sp>
      <p:sp>
        <p:nvSpPr>
          <p:cNvPr id="6" name="Footer Placeholder 5">
            <a:extLst>
              <a:ext uri="{FF2B5EF4-FFF2-40B4-BE49-F238E27FC236}">
                <a16:creationId xmlns:a16="http://schemas.microsoft.com/office/drawing/2014/main" id="{B3144E10-9319-881B-8316-B2158B39933E}"/>
              </a:ext>
            </a:extLst>
          </p:cNvPr>
          <p:cNvSpPr>
            <a:spLocks noGrp="1"/>
          </p:cNvSpPr>
          <p:nvPr>
            <p:ph type="ftr" sz="quarter" idx="11"/>
          </p:nvPr>
        </p:nvSpPr>
        <p:spPr/>
        <p:txBody>
          <a:bodyPr/>
          <a:lstStyle/>
          <a:p>
            <a:endParaRPr lang="en-ZA"/>
          </a:p>
        </p:txBody>
      </p:sp>
      <p:sp>
        <p:nvSpPr>
          <p:cNvPr id="7" name="Slide Number Placeholder 6">
            <a:extLst>
              <a:ext uri="{FF2B5EF4-FFF2-40B4-BE49-F238E27FC236}">
                <a16:creationId xmlns:a16="http://schemas.microsoft.com/office/drawing/2014/main" id="{9A070C26-1625-BD6B-A05C-22848314568A}"/>
              </a:ext>
            </a:extLst>
          </p:cNvPr>
          <p:cNvSpPr>
            <a:spLocks noGrp="1"/>
          </p:cNvSpPr>
          <p:nvPr>
            <p:ph type="sldNum" sz="quarter" idx="12"/>
          </p:nvPr>
        </p:nvSpPr>
        <p:spPr/>
        <p:txBody>
          <a:bodyPr/>
          <a:lstStyle/>
          <a:p>
            <a:fld id="{44CC2D65-3171-4FC7-802C-6FA9CF2E3E22}" type="slidenum">
              <a:rPr lang="en-ZA" smtClean="0"/>
              <a:t>‹#›</a:t>
            </a:fld>
            <a:endParaRPr lang="en-ZA"/>
          </a:p>
        </p:txBody>
      </p:sp>
    </p:spTree>
    <p:extLst>
      <p:ext uri="{BB962C8B-B14F-4D97-AF65-F5344CB8AC3E}">
        <p14:creationId xmlns:p14="http://schemas.microsoft.com/office/powerpoint/2010/main" val="218122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0D8D1A-FAEB-E581-1AEC-5DFADEFFBEC4}"/>
              </a:ext>
            </a:extLst>
          </p:cNvPr>
          <p:cNvSpPr>
            <a:spLocks noGrp="1"/>
          </p:cNvSpPr>
          <p:nvPr>
            <p:ph type="title"/>
          </p:nvPr>
        </p:nvSpPr>
        <p:spPr>
          <a:xfrm>
            <a:off x="839788" y="365125"/>
            <a:ext cx="10515600" cy="1325563"/>
          </a:xfrm>
        </p:spPr>
        <p:txBody>
          <a:bodyPr/>
          <a:lstStyle/>
          <a:p>
            <a:r>
              <a:rPr lang="en-US"/>
              <a:t>Click to edit Master title style</a:t>
            </a:r>
            <a:endParaRPr lang="en-ZA"/>
          </a:p>
        </p:txBody>
      </p:sp>
      <p:sp>
        <p:nvSpPr>
          <p:cNvPr id="3" name="Text Placeholder 2">
            <a:extLst>
              <a:ext uri="{FF2B5EF4-FFF2-40B4-BE49-F238E27FC236}">
                <a16:creationId xmlns:a16="http://schemas.microsoft.com/office/drawing/2014/main" id="{D3EDF994-0AAA-9EC1-1D52-68FC99E56A5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638D17B-A38D-6336-8041-90516756547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5" name="Text Placeholder 4">
            <a:extLst>
              <a:ext uri="{FF2B5EF4-FFF2-40B4-BE49-F238E27FC236}">
                <a16:creationId xmlns:a16="http://schemas.microsoft.com/office/drawing/2014/main" id="{CAD75745-443A-6D4D-2FE4-61F5ED19284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8D16C13-DAEA-108A-D2B1-67307F2B636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7" name="Date Placeholder 6">
            <a:extLst>
              <a:ext uri="{FF2B5EF4-FFF2-40B4-BE49-F238E27FC236}">
                <a16:creationId xmlns:a16="http://schemas.microsoft.com/office/drawing/2014/main" id="{D3BC0D69-2666-4DDC-DF9C-E184EF8E5D21}"/>
              </a:ext>
            </a:extLst>
          </p:cNvPr>
          <p:cNvSpPr>
            <a:spLocks noGrp="1"/>
          </p:cNvSpPr>
          <p:nvPr>
            <p:ph type="dt" sz="half" idx="10"/>
          </p:nvPr>
        </p:nvSpPr>
        <p:spPr/>
        <p:txBody>
          <a:bodyPr/>
          <a:lstStyle/>
          <a:p>
            <a:fld id="{D3997BC2-908B-4AE2-B66B-0BE82B2F56FB}" type="datetimeFigureOut">
              <a:rPr lang="en-ZA" smtClean="0"/>
              <a:t>2026/05/18</a:t>
            </a:fld>
            <a:endParaRPr lang="en-ZA"/>
          </a:p>
        </p:txBody>
      </p:sp>
      <p:sp>
        <p:nvSpPr>
          <p:cNvPr id="8" name="Footer Placeholder 7">
            <a:extLst>
              <a:ext uri="{FF2B5EF4-FFF2-40B4-BE49-F238E27FC236}">
                <a16:creationId xmlns:a16="http://schemas.microsoft.com/office/drawing/2014/main" id="{A690385C-4CB8-D8E0-58F4-068D1BB859A2}"/>
              </a:ext>
            </a:extLst>
          </p:cNvPr>
          <p:cNvSpPr>
            <a:spLocks noGrp="1"/>
          </p:cNvSpPr>
          <p:nvPr>
            <p:ph type="ftr" sz="quarter" idx="11"/>
          </p:nvPr>
        </p:nvSpPr>
        <p:spPr/>
        <p:txBody>
          <a:bodyPr/>
          <a:lstStyle/>
          <a:p>
            <a:endParaRPr lang="en-ZA"/>
          </a:p>
        </p:txBody>
      </p:sp>
      <p:sp>
        <p:nvSpPr>
          <p:cNvPr id="9" name="Slide Number Placeholder 8">
            <a:extLst>
              <a:ext uri="{FF2B5EF4-FFF2-40B4-BE49-F238E27FC236}">
                <a16:creationId xmlns:a16="http://schemas.microsoft.com/office/drawing/2014/main" id="{C43D98B2-F141-7D75-19AD-4FD4394EBF2C}"/>
              </a:ext>
            </a:extLst>
          </p:cNvPr>
          <p:cNvSpPr>
            <a:spLocks noGrp="1"/>
          </p:cNvSpPr>
          <p:nvPr>
            <p:ph type="sldNum" sz="quarter" idx="12"/>
          </p:nvPr>
        </p:nvSpPr>
        <p:spPr/>
        <p:txBody>
          <a:bodyPr/>
          <a:lstStyle/>
          <a:p>
            <a:fld id="{44CC2D65-3171-4FC7-802C-6FA9CF2E3E22}" type="slidenum">
              <a:rPr lang="en-ZA" smtClean="0"/>
              <a:t>‹#›</a:t>
            </a:fld>
            <a:endParaRPr lang="en-ZA"/>
          </a:p>
        </p:txBody>
      </p:sp>
    </p:spTree>
    <p:extLst>
      <p:ext uri="{BB962C8B-B14F-4D97-AF65-F5344CB8AC3E}">
        <p14:creationId xmlns:p14="http://schemas.microsoft.com/office/powerpoint/2010/main" val="39383484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3AB291-12BF-9615-65A5-A94006FDCE42}"/>
              </a:ext>
            </a:extLst>
          </p:cNvPr>
          <p:cNvSpPr>
            <a:spLocks noGrp="1"/>
          </p:cNvSpPr>
          <p:nvPr>
            <p:ph type="title"/>
          </p:nvPr>
        </p:nvSpPr>
        <p:spPr/>
        <p:txBody>
          <a:bodyPr/>
          <a:lstStyle/>
          <a:p>
            <a:r>
              <a:rPr lang="en-US"/>
              <a:t>Click to edit Master title style</a:t>
            </a:r>
            <a:endParaRPr lang="en-ZA"/>
          </a:p>
        </p:txBody>
      </p:sp>
      <p:sp>
        <p:nvSpPr>
          <p:cNvPr id="3" name="Date Placeholder 2">
            <a:extLst>
              <a:ext uri="{FF2B5EF4-FFF2-40B4-BE49-F238E27FC236}">
                <a16:creationId xmlns:a16="http://schemas.microsoft.com/office/drawing/2014/main" id="{3C9B4F9B-FC29-593B-4818-1C55D924F2E8}"/>
              </a:ext>
            </a:extLst>
          </p:cNvPr>
          <p:cNvSpPr>
            <a:spLocks noGrp="1"/>
          </p:cNvSpPr>
          <p:nvPr>
            <p:ph type="dt" sz="half" idx="10"/>
          </p:nvPr>
        </p:nvSpPr>
        <p:spPr/>
        <p:txBody>
          <a:bodyPr/>
          <a:lstStyle/>
          <a:p>
            <a:fld id="{D3997BC2-908B-4AE2-B66B-0BE82B2F56FB}" type="datetimeFigureOut">
              <a:rPr lang="en-ZA" smtClean="0"/>
              <a:t>2026/05/18</a:t>
            </a:fld>
            <a:endParaRPr lang="en-ZA"/>
          </a:p>
        </p:txBody>
      </p:sp>
      <p:sp>
        <p:nvSpPr>
          <p:cNvPr id="4" name="Footer Placeholder 3">
            <a:extLst>
              <a:ext uri="{FF2B5EF4-FFF2-40B4-BE49-F238E27FC236}">
                <a16:creationId xmlns:a16="http://schemas.microsoft.com/office/drawing/2014/main" id="{84C4C946-4C9E-23D6-82E8-84D14A582EA0}"/>
              </a:ext>
            </a:extLst>
          </p:cNvPr>
          <p:cNvSpPr>
            <a:spLocks noGrp="1"/>
          </p:cNvSpPr>
          <p:nvPr>
            <p:ph type="ftr" sz="quarter" idx="11"/>
          </p:nvPr>
        </p:nvSpPr>
        <p:spPr/>
        <p:txBody>
          <a:bodyPr/>
          <a:lstStyle/>
          <a:p>
            <a:endParaRPr lang="en-ZA"/>
          </a:p>
        </p:txBody>
      </p:sp>
      <p:sp>
        <p:nvSpPr>
          <p:cNvPr id="5" name="Slide Number Placeholder 4">
            <a:extLst>
              <a:ext uri="{FF2B5EF4-FFF2-40B4-BE49-F238E27FC236}">
                <a16:creationId xmlns:a16="http://schemas.microsoft.com/office/drawing/2014/main" id="{B6F51066-0E09-E6A4-4DDB-4A8E8AB0D2EF}"/>
              </a:ext>
            </a:extLst>
          </p:cNvPr>
          <p:cNvSpPr>
            <a:spLocks noGrp="1"/>
          </p:cNvSpPr>
          <p:nvPr>
            <p:ph type="sldNum" sz="quarter" idx="12"/>
          </p:nvPr>
        </p:nvSpPr>
        <p:spPr/>
        <p:txBody>
          <a:bodyPr/>
          <a:lstStyle/>
          <a:p>
            <a:fld id="{44CC2D65-3171-4FC7-802C-6FA9CF2E3E22}" type="slidenum">
              <a:rPr lang="en-ZA" smtClean="0"/>
              <a:t>‹#›</a:t>
            </a:fld>
            <a:endParaRPr lang="en-ZA"/>
          </a:p>
        </p:txBody>
      </p:sp>
    </p:spTree>
    <p:extLst>
      <p:ext uri="{BB962C8B-B14F-4D97-AF65-F5344CB8AC3E}">
        <p14:creationId xmlns:p14="http://schemas.microsoft.com/office/powerpoint/2010/main" val="6099047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340004B-EB7D-474F-0123-D1B78E477905}"/>
              </a:ext>
            </a:extLst>
          </p:cNvPr>
          <p:cNvSpPr>
            <a:spLocks noGrp="1"/>
          </p:cNvSpPr>
          <p:nvPr>
            <p:ph type="dt" sz="half" idx="10"/>
          </p:nvPr>
        </p:nvSpPr>
        <p:spPr/>
        <p:txBody>
          <a:bodyPr/>
          <a:lstStyle/>
          <a:p>
            <a:fld id="{D3997BC2-908B-4AE2-B66B-0BE82B2F56FB}" type="datetimeFigureOut">
              <a:rPr lang="en-ZA" smtClean="0"/>
              <a:t>2026/05/18</a:t>
            </a:fld>
            <a:endParaRPr lang="en-ZA"/>
          </a:p>
        </p:txBody>
      </p:sp>
      <p:sp>
        <p:nvSpPr>
          <p:cNvPr id="3" name="Footer Placeholder 2">
            <a:extLst>
              <a:ext uri="{FF2B5EF4-FFF2-40B4-BE49-F238E27FC236}">
                <a16:creationId xmlns:a16="http://schemas.microsoft.com/office/drawing/2014/main" id="{A8B4FE66-6FA6-0125-9554-8CCCEB11A008}"/>
              </a:ext>
            </a:extLst>
          </p:cNvPr>
          <p:cNvSpPr>
            <a:spLocks noGrp="1"/>
          </p:cNvSpPr>
          <p:nvPr>
            <p:ph type="ftr" sz="quarter" idx="11"/>
          </p:nvPr>
        </p:nvSpPr>
        <p:spPr/>
        <p:txBody>
          <a:bodyPr/>
          <a:lstStyle/>
          <a:p>
            <a:endParaRPr lang="en-ZA"/>
          </a:p>
        </p:txBody>
      </p:sp>
      <p:sp>
        <p:nvSpPr>
          <p:cNvPr id="4" name="Slide Number Placeholder 3">
            <a:extLst>
              <a:ext uri="{FF2B5EF4-FFF2-40B4-BE49-F238E27FC236}">
                <a16:creationId xmlns:a16="http://schemas.microsoft.com/office/drawing/2014/main" id="{D8E25DFC-B48F-274D-62EF-C7C7E77A65FC}"/>
              </a:ext>
            </a:extLst>
          </p:cNvPr>
          <p:cNvSpPr>
            <a:spLocks noGrp="1"/>
          </p:cNvSpPr>
          <p:nvPr>
            <p:ph type="sldNum" sz="quarter" idx="12"/>
          </p:nvPr>
        </p:nvSpPr>
        <p:spPr/>
        <p:txBody>
          <a:bodyPr/>
          <a:lstStyle/>
          <a:p>
            <a:fld id="{44CC2D65-3171-4FC7-802C-6FA9CF2E3E22}" type="slidenum">
              <a:rPr lang="en-ZA" smtClean="0"/>
              <a:t>‹#›</a:t>
            </a:fld>
            <a:endParaRPr lang="en-ZA"/>
          </a:p>
        </p:txBody>
      </p:sp>
    </p:spTree>
    <p:extLst>
      <p:ext uri="{BB962C8B-B14F-4D97-AF65-F5344CB8AC3E}">
        <p14:creationId xmlns:p14="http://schemas.microsoft.com/office/powerpoint/2010/main" val="27507544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8918C2-C4F7-E472-07E2-1E089EE1DE4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ZA"/>
          </a:p>
        </p:txBody>
      </p:sp>
      <p:sp>
        <p:nvSpPr>
          <p:cNvPr id="3" name="Content Placeholder 2">
            <a:extLst>
              <a:ext uri="{FF2B5EF4-FFF2-40B4-BE49-F238E27FC236}">
                <a16:creationId xmlns:a16="http://schemas.microsoft.com/office/drawing/2014/main" id="{76A84C90-838C-DF94-A2E9-8D7878CAC25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Text Placeholder 3">
            <a:extLst>
              <a:ext uri="{FF2B5EF4-FFF2-40B4-BE49-F238E27FC236}">
                <a16:creationId xmlns:a16="http://schemas.microsoft.com/office/drawing/2014/main" id="{2E8FEBE6-185C-0728-3D72-7B2AF39B13A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9FA6908-7B4E-E75F-50B6-90B5FB9D1BA5}"/>
              </a:ext>
            </a:extLst>
          </p:cNvPr>
          <p:cNvSpPr>
            <a:spLocks noGrp="1"/>
          </p:cNvSpPr>
          <p:nvPr>
            <p:ph type="dt" sz="half" idx="10"/>
          </p:nvPr>
        </p:nvSpPr>
        <p:spPr/>
        <p:txBody>
          <a:bodyPr/>
          <a:lstStyle/>
          <a:p>
            <a:fld id="{D3997BC2-908B-4AE2-B66B-0BE82B2F56FB}" type="datetimeFigureOut">
              <a:rPr lang="en-ZA" smtClean="0"/>
              <a:t>2026/05/18</a:t>
            </a:fld>
            <a:endParaRPr lang="en-ZA"/>
          </a:p>
        </p:txBody>
      </p:sp>
      <p:sp>
        <p:nvSpPr>
          <p:cNvPr id="6" name="Footer Placeholder 5">
            <a:extLst>
              <a:ext uri="{FF2B5EF4-FFF2-40B4-BE49-F238E27FC236}">
                <a16:creationId xmlns:a16="http://schemas.microsoft.com/office/drawing/2014/main" id="{A5098077-6C99-3561-ED3C-1A23D8469EAF}"/>
              </a:ext>
            </a:extLst>
          </p:cNvPr>
          <p:cNvSpPr>
            <a:spLocks noGrp="1"/>
          </p:cNvSpPr>
          <p:nvPr>
            <p:ph type="ftr" sz="quarter" idx="11"/>
          </p:nvPr>
        </p:nvSpPr>
        <p:spPr/>
        <p:txBody>
          <a:bodyPr/>
          <a:lstStyle/>
          <a:p>
            <a:endParaRPr lang="en-ZA"/>
          </a:p>
        </p:txBody>
      </p:sp>
      <p:sp>
        <p:nvSpPr>
          <p:cNvPr id="7" name="Slide Number Placeholder 6">
            <a:extLst>
              <a:ext uri="{FF2B5EF4-FFF2-40B4-BE49-F238E27FC236}">
                <a16:creationId xmlns:a16="http://schemas.microsoft.com/office/drawing/2014/main" id="{FD92B655-BCAF-2B8A-CD4D-8727DC2B2818}"/>
              </a:ext>
            </a:extLst>
          </p:cNvPr>
          <p:cNvSpPr>
            <a:spLocks noGrp="1"/>
          </p:cNvSpPr>
          <p:nvPr>
            <p:ph type="sldNum" sz="quarter" idx="12"/>
          </p:nvPr>
        </p:nvSpPr>
        <p:spPr/>
        <p:txBody>
          <a:bodyPr/>
          <a:lstStyle/>
          <a:p>
            <a:fld id="{44CC2D65-3171-4FC7-802C-6FA9CF2E3E22}" type="slidenum">
              <a:rPr lang="en-ZA" smtClean="0"/>
              <a:t>‹#›</a:t>
            </a:fld>
            <a:endParaRPr lang="en-ZA"/>
          </a:p>
        </p:txBody>
      </p:sp>
    </p:spTree>
    <p:extLst>
      <p:ext uri="{BB962C8B-B14F-4D97-AF65-F5344CB8AC3E}">
        <p14:creationId xmlns:p14="http://schemas.microsoft.com/office/powerpoint/2010/main" val="3288226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32559A-1193-6725-7B6F-8AB4F185307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ZA"/>
          </a:p>
        </p:txBody>
      </p:sp>
      <p:sp>
        <p:nvSpPr>
          <p:cNvPr id="3" name="Picture Placeholder 2">
            <a:extLst>
              <a:ext uri="{FF2B5EF4-FFF2-40B4-BE49-F238E27FC236}">
                <a16:creationId xmlns:a16="http://schemas.microsoft.com/office/drawing/2014/main" id="{32DFF954-D366-4B9D-0AA0-0BA4BB47D39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ZA"/>
          </a:p>
        </p:txBody>
      </p:sp>
      <p:sp>
        <p:nvSpPr>
          <p:cNvPr id="4" name="Text Placeholder 3">
            <a:extLst>
              <a:ext uri="{FF2B5EF4-FFF2-40B4-BE49-F238E27FC236}">
                <a16:creationId xmlns:a16="http://schemas.microsoft.com/office/drawing/2014/main" id="{B187CD4F-89F5-7B47-FCD3-01C68184CEA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4754BE2-BA2C-E574-4CB9-051EFFE9F82D}"/>
              </a:ext>
            </a:extLst>
          </p:cNvPr>
          <p:cNvSpPr>
            <a:spLocks noGrp="1"/>
          </p:cNvSpPr>
          <p:nvPr>
            <p:ph type="dt" sz="half" idx="10"/>
          </p:nvPr>
        </p:nvSpPr>
        <p:spPr/>
        <p:txBody>
          <a:bodyPr/>
          <a:lstStyle/>
          <a:p>
            <a:fld id="{D3997BC2-908B-4AE2-B66B-0BE82B2F56FB}" type="datetimeFigureOut">
              <a:rPr lang="en-ZA" smtClean="0"/>
              <a:t>2026/05/18</a:t>
            </a:fld>
            <a:endParaRPr lang="en-ZA"/>
          </a:p>
        </p:txBody>
      </p:sp>
      <p:sp>
        <p:nvSpPr>
          <p:cNvPr id="6" name="Footer Placeholder 5">
            <a:extLst>
              <a:ext uri="{FF2B5EF4-FFF2-40B4-BE49-F238E27FC236}">
                <a16:creationId xmlns:a16="http://schemas.microsoft.com/office/drawing/2014/main" id="{CE82B7A3-F6F1-D21A-5365-2B1FD2AD479A}"/>
              </a:ext>
            </a:extLst>
          </p:cNvPr>
          <p:cNvSpPr>
            <a:spLocks noGrp="1"/>
          </p:cNvSpPr>
          <p:nvPr>
            <p:ph type="ftr" sz="quarter" idx="11"/>
          </p:nvPr>
        </p:nvSpPr>
        <p:spPr/>
        <p:txBody>
          <a:bodyPr/>
          <a:lstStyle/>
          <a:p>
            <a:endParaRPr lang="en-ZA"/>
          </a:p>
        </p:txBody>
      </p:sp>
      <p:sp>
        <p:nvSpPr>
          <p:cNvPr id="7" name="Slide Number Placeholder 6">
            <a:extLst>
              <a:ext uri="{FF2B5EF4-FFF2-40B4-BE49-F238E27FC236}">
                <a16:creationId xmlns:a16="http://schemas.microsoft.com/office/drawing/2014/main" id="{7DFBE9D5-562A-CB0A-5E17-984A58634378}"/>
              </a:ext>
            </a:extLst>
          </p:cNvPr>
          <p:cNvSpPr>
            <a:spLocks noGrp="1"/>
          </p:cNvSpPr>
          <p:nvPr>
            <p:ph type="sldNum" sz="quarter" idx="12"/>
          </p:nvPr>
        </p:nvSpPr>
        <p:spPr/>
        <p:txBody>
          <a:bodyPr/>
          <a:lstStyle/>
          <a:p>
            <a:fld id="{44CC2D65-3171-4FC7-802C-6FA9CF2E3E22}" type="slidenum">
              <a:rPr lang="en-ZA" smtClean="0"/>
              <a:t>‹#›</a:t>
            </a:fld>
            <a:endParaRPr lang="en-ZA"/>
          </a:p>
        </p:txBody>
      </p:sp>
    </p:spTree>
    <p:extLst>
      <p:ext uri="{BB962C8B-B14F-4D97-AF65-F5344CB8AC3E}">
        <p14:creationId xmlns:p14="http://schemas.microsoft.com/office/powerpoint/2010/main" val="11161090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AFEE06-3899-C086-35D6-7C7D832CAC99}"/>
              </a:ext>
            </a:extLst>
          </p:cNvPr>
          <p:cNvSpPr>
            <a:spLocks noGrp="1"/>
          </p:cNvSpPr>
          <p:nvPr>
            <p:ph type="title"/>
          </p:nvPr>
        </p:nvSpPr>
        <p:spPr/>
        <p:txBody>
          <a:bodyPr/>
          <a:lstStyle/>
          <a:p>
            <a:r>
              <a:rPr lang="en-US"/>
              <a:t>Click to edit Master title style</a:t>
            </a:r>
            <a:endParaRPr lang="en-ZA"/>
          </a:p>
        </p:txBody>
      </p:sp>
      <p:sp>
        <p:nvSpPr>
          <p:cNvPr id="3" name="Vertical Text Placeholder 2">
            <a:extLst>
              <a:ext uri="{FF2B5EF4-FFF2-40B4-BE49-F238E27FC236}">
                <a16:creationId xmlns:a16="http://schemas.microsoft.com/office/drawing/2014/main" id="{0DFBC438-4595-117D-45ED-51E59A81591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F923B438-8537-7529-0790-63B98C9A5C70}"/>
              </a:ext>
            </a:extLst>
          </p:cNvPr>
          <p:cNvSpPr>
            <a:spLocks noGrp="1"/>
          </p:cNvSpPr>
          <p:nvPr>
            <p:ph type="dt" sz="half" idx="10"/>
          </p:nvPr>
        </p:nvSpPr>
        <p:spPr/>
        <p:txBody>
          <a:bodyPr/>
          <a:lstStyle/>
          <a:p>
            <a:fld id="{D3997BC2-908B-4AE2-B66B-0BE82B2F56FB}" type="datetimeFigureOut">
              <a:rPr lang="en-ZA" smtClean="0"/>
              <a:t>2026/05/18</a:t>
            </a:fld>
            <a:endParaRPr lang="en-ZA"/>
          </a:p>
        </p:txBody>
      </p:sp>
      <p:sp>
        <p:nvSpPr>
          <p:cNvPr id="5" name="Footer Placeholder 4">
            <a:extLst>
              <a:ext uri="{FF2B5EF4-FFF2-40B4-BE49-F238E27FC236}">
                <a16:creationId xmlns:a16="http://schemas.microsoft.com/office/drawing/2014/main" id="{87CB9BC3-400E-7797-D7C2-F5A3551B8578}"/>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7EB53ECA-3C45-1959-9733-3D5A7E3D76DC}"/>
              </a:ext>
            </a:extLst>
          </p:cNvPr>
          <p:cNvSpPr>
            <a:spLocks noGrp="1"/>
          </p:cNvSpPr>
          <p:nvPr>
            <p:ph type="sldNum" sz="quarter" idx="12"/>
          </p:nvPr>
        </p:nvSpPr>
        <p:spPr/>
        <p:txBody>
          <a:bodyPr/>
          <a:lstStyle/>
          <a:p>
            <a:fld id="{44CC2D65-3171-4FC7-802C-6FA9CF2E3E22}" type="slidenum">
              <a:rPr lang="en-ZA" smtClean="0"/>
              <a:t>‹#›</a:t>
            </a:fld>
            <a:endParaRPr lang="en-ZA"/>
          </a:p>
        </p:txBody>
      </p:sp>
    </p:spTree>
    <p:extLst>
      <p:ext uri="{BB962C8B-B14F-4D97-AF65-F5344CB8AC3E}">
        <p14:creationId xmlns:p14="http://schemas.microsoft.com/office/powerpoint/2010/main" val="27018722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8C7167A-5843-4CDA-A095-6B6172A11E7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ZA"/>
          </a:p>
        </p:txBody>
      </p:sp>
      <p:sp>
        <p:nvSpPr>
          <p:cNvPr id="3" name="Vertical Text Placeholder 2">
            <a:extLst>
              <a:ext uri="{FF2B5EF4-FFF2-40B4-BE49-F238E27FC236}">
                <a16:creationId xmlns:a16="http://schemas.microsoft.com/office/drawing/2014/main" id="{6900FD8E-3662-A984-E61B-AFFF10A17FD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995A59E7-4E37-D3D4-CE9E-A854CDDCED65}"/>
              </a:ext>
            </a:extLst>
          </p:cNvPr>
          <p:cNvSpPr>
            <a:spLocks noGrp="1"/>
          </p:cNvSpPr>
          <p:nvPr>
            <p:ph type="dt" sz="half" idx="10"/>
          </p:nvPr>
        </p:nvSpPr>
        <p:spPr/>
        <p:txBody>
          <a:bodyPr/>
          <a:lstStyle/>
          <a:p>
            <a:fld id="{D3997BC2-908B-4AE2-B66B-0BE82B2F56FB}" type="datetimeFigureOut">
              <a:rPr lang="en-ZA" smtClean="0"/>
              <a:t>2026/05/18</a:t>
            </a:fld>
            <a:endParaRPr lang="en-ZA"/>
          </a:p>
        </p:txBody>
      </p:sp>
      <p:sp>
        <p:nvSpPr>
          <p:cNvPr id="5" name="Footer Placeholder 4">
            <a:extLst>
              <a:ext uri="{FF2B5EF4-FFF2-40B4-BE49-F238E27FC236}">
                <a16:creationId xmlns:a16="http://schemas.microsoft.com/office/drawing/2014/main" id="{7133A528-9CB2-2C4C-AEB0-612A80A730D7}"/>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4237EEB3-A479-90A1-2C3C-272C6E20E1EE}"/>
              </a:ext>
            </a:extLst>
          </p:cNvPr>
          <p:cNvSpPr>
            <a:spLocks noGrp="1"/>
          </p:cNvSpPr>
          <p:nvPr>
            <p:ph type="sldNum" sz="quarter" idx="12"/>
          </p:nvPr>
        </p:nvSpPr>
        <p:spPr/>
        <p:txBody>
          <a:bodyPr/>
          <a:lstStyle/>
          <a:p>
            <a:fld id="{44CC2D65-3171-4FC7-802C-6FA9CF2E3E22}" type="slidenum">
              <a:rPr lang="en-ZA" smtClean="0"/>
              <a:t>‹#›</a:t>
            </a:fld>
            <a:endParaRPr lang="en-ZA"/>
          </a:p>
        </p:txBody>
      </p:sp>
    </p:spTree>
    <p:extLst>
      <p:ext uri="{BB962C8B-B14F-4D97-AF65-F5344CB8AC3E}">
        <p14:creationId xmlns:p14="http://schemas.microsoft.com/office/powerpoint/2010/main" val="16582973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98D1900-CA9B-F026-E1AE-ED5A27C6414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ZA"/>
          </a:p>
        </p:txBody>
      </p:sp>
      <p:sp>
        <p:nvSpPr>
          <p:cNvPr id="3" name="Text Placeholder 2">
            <a:extLst>
              <a:ext uri="{FF2B5EF4-FFF2-40B4-BE49-F238E27FC236}">
                <a16:creationId xmlns:a16="http://schemas.microsoft.com/office/drawing/2014/main" id="{7DED024A-CD96-5611-2ABD-6674A497FA1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A3EC3FDE-5A9B-C91C-9380-AAA4BC3E46B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3997BC2-908B-4AE2-B66B-0BE82B2F56FB}" type="datetimeFigureOut">
              <a:rPr lang="en-ZA" smtClean="0"/>
              <a:t>2026/05/18</a:t>
            </a:fld>
            <a:endParaRPr lang="en-ZA"/>
          </a:p>
        </p:txBody>
      </p:sp>
      <p:sp>
        <p:nvSpPr>
          <p:cNvPr id="5" name="Footer Placeholder 4">
            <a:extLst>
              <a:ext uri="{FF2B5EF4-FFF2-40B4-BE49-F238E27FC236}">
                <a16:creationId xmlns:a16="http://schemas.microsoft.com/office/drawing/2014/main" id="{B13D5B6D-ED0F-11DF-950B-0EEC27C9248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ZA"/>
          </a:p>
        </p:txBody>
      </p:sp>
      <p:sp>
        <p:nvSpPr>
          <p:cNvPr id="6" name="Slide Number Placeholder 5">
            <a:extLst>
              <a:ext uri="{FF2B5EF4-FFF2-40B4-BE49-F238E27FC236}">
                <a16:creationId xmlns:a16="http://schemas.microsoft.com/office/drawing/2014/main" id="{B3F456FE-0192-C8FF-4E6D-0DEF39714F2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4CC2D65-3171-4FC7-802C-6FA9CF2E3E22}" type="slidenum">
              <a:rPr lang="en-ZA" smtClean="0"/>
              <a:t>‹#›</a:t>
            </a:fld>
            <a:endParaRPr lang="en-ZA"/>
          </a:p>
        </p:txBody>
      </p:sp>
    </p:spTree>
    <p:extLst>
      <p:ext uri="{BB962C8B-B14F-4D97-AF65-F5344CB8AC3E}">
        <p14:creationId xmlns:p14="http://schemas.microsoft.com/office/powerpoint/2010/main" val="329910702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4.jpeg"/></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8.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A70D246-911C-D7B3-6009-055DAF83A196}"/>
              </a:ext>
            </a:extLst>
          </p:cNvPr>
          <p:cNvPicPr>
            <a:picLocks noChangeAspect="1"/>
          </p:cNvPicPr>
          <p:nvPr/>
        </p:nvPicPr>
        <p:blipFill>
          <a:blip r:embed="rId2"/>
          <a:stretch>
            <a:fillRect/>
          </a:stretch>
        </p:blipFill>
        <p:spPr>
          <a:xfrm>
            <a:off x="0" y="4921911"/>
            <a:ext cx="12192000" cy="2013632"/>
          </a:xfrm>
          <a:prstGeom prst="rect">
            <a:avLst/>
          </a:prstGeom>
        </p:spPr>
      </p:pic>
      <p:pic>
        <p:nvPicPr>
          <p:cNvPr id="6" name="Picture 5">
            <a:extLst>
              <a:ext uri="{FF2B5EF4-FFF2-40B4-BE49-F238E27FC236}">
                <a16:creationId xmlns:a16="http://schemas.microsoft.com/office/drawing/2014/main" id="{492B0773-86CD-D19C-AD6C-48CDE5F56A4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902951" y="170579"/>
            <a:ext cx="2048257" cy="747614"/>
          </a:xfrm>
          <a:prstGeom prst="rect">
            <a:avLst/>
          </a:prstGeom>
        </p:spPr>
      </p:pic>
      <p:sp>
        <p:nvSpPr>
          <p:cNvPr id="8" name="Content Placeholder 2">
            <a:extLst>
              <a:ext uri="{FF2B5EF4-FFF2-40B4-BE49-F238E27FC236}">
                <a16:creationId xmlns:a16="http://schemas.microsoft.com/office/drawing/2014/main" id="{D5ECAFAF-4F91-67A8-9086-1AC0C30FB6F7}"/>
              </a:ext>
            </a:extLst>
          </p:cNvPr>
          <p:cNvSpPr txBox="1">
            <a:spLocks/>
          </p:cNvSpPr>
          <p:nvPr/>
        </p:nvSpPr>
        <p:spPr>
          <a:xfrm>
            <a:off x="3126659" y="3686334"/>
            <a:ext cx="5170253" cy="836801"/>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ts val="2900"/>
              </a:lnSpc>
              <a:spcBef>
                <a:spcPts val="0"/>
              </a:spcBef>
              <a:spcAft>
                <a:spcPts val="600"/>
              </a:spcAft>
              <a:buFont typeface="Arial" panose="020B0604020202020204" pitchFamily="34" charset="0"/>
              <a:buNone/>
            </a:pPr>
            <a:r>
              <a:rPr lang="en-ZA" sz="2000" dirty="0">
                <a:solidFill>
                  <a:schemeClr val="bg2">
                    <a:lumMod val="25000"/>
                  </a:schemeClr>
                </a:solidFill>
                <a:latin typeface="Calibri (Body)"/>
              </a:rPr>
              <a:t>By Y</a:t>
            </a:r>
            <a:r>
              <a:rPr lang="en-US" sz="2000" dirty="0" err="1">
                <a:solidFill>
                  <a:schemeClr val="bg2">
                    <a:lumMod val="25000"/>
                  </a:schemeClr>
                </a:solidFill>
                <a:latin typeface="Calibri (Body)"/>
              </a:rPr>
              <a:t>anga</a:t>
            </a:r>
            <a:r>
              <a:rPr lang="en-US" sz="2000" dirty="0">
                <a:solidFill>
                  <a:schemeClr val="bg2">
                    <a:lumMod val="25000"/>
                  </a:schemeClr>
                </a:solidFill>
                <a:latin typeface="Calibri (Body)"/>
              </a:rPr>
              <a:t> Ndamase (226029024) &amp; Mawanda Mbaza (226024595</a:t>
            </a:r>
          </a:p>
        </p:txBody>
      </p:sp>
      <p:sp>
        <p:nvSpPr>
          <p:cNvPr id="2" name="Title 1">
            <a:extLst>
              <a:ext uri="{FF2B5EF4-FFF2-40B4-BE49-F238E27FC236}">
                <a16:creationId xmlns:a16="http://schemas.microsoft.com/office/drawing/2014/main" id="{55E40223-E29F-E9DF-DB75-96BBABB8729D}"/>
              </a:ext>
            </a:extLst>
          </p:cNvPr>
          <p:cNvSpPr txBox="1">
            <a:spLocks/>
          </p:cNvSpPr>
          <p:nvPr/>
        </p:nvSpPr>
        <p:spPr>
          <a:xfrm>
            <a:off x="363794" y="183180"/>
            <a:ext cx="9293941" cy="147002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solidFill>
                  <a:srgbClr val="C80000"/>
                </a:solidFill>
                <a:latin typeface="Aptos (Body)"/>
              </a:rPr>
              <a:t>Machine Learning for Downtime                  			Prediction</a:t>
            </a:r>
          </a:p>
        </p:txBody>
      </p:sp>
      <p:sp>
        <p:nvSpPr>
          <p:cNvPr id="4" name="TextBox 3">
            <a:extLst>
              <a:ext uri="{FF2B5EF4-FFF2-40B4-BE49-F238E27FC236}">
                <a16:creationId xmlns:a16="http://schemas.microsoft.com/office/drawing/2014/main" id="{C0387C65-0A84-4594-D0D7-F1DE8BFCFA6D}"/>
              </a:ext>
            </a:extLst>
          </p:cNvPr>
          <p:cNvSpPr txBox="1"/>
          <p:nvPr/>
        </p:nvSpPr>
        <p:spPr>
          <a:xfrm>
            <a:off x="3224980" y="1717898"/>
            <a:ext cx="6096000" cy="1569660"/>
          </a:xfrm>
          <a:prstGeom prst="rect">
            <a:avLst/>
          </a:prstGeom>
          <a:noFill/>
        </p:spPr>
        <p:txBody>
          <a:bodyPr wrap="square">
            <a:spAutoFit/>
          </a:bodyPr>
          <a:lstStyle/>
          <a:p>
            <a:r>
              <a:rPr lang="en-US" sz="3200" dirty="0">
                <a:latin typeface="Calibri (Body)"/>
              </a:rPr>
              <a:t>STAT606 Practical Assignment</a:t>
            </a:r>
          </a:p>
          <a:p>
            <a:r>
              <a:rPr lang="en-US" sz="3200" dirty="0">
                <a:latin typeface="Calibri (Body)"/>
              </a:rPr>
              <a:t>Binary Classification: Maintenance Requirement Prediction</a:t>
            </a:r>
          </a:p>
        </p:txBody>
      </p:sp>
    </p:spTree>
    <p:extLst>
      <p:ext uri="{BB962C8B-B14F-4D97-AF65-F5344CB8AC3E}">
        <p14:creationId xmlns:p14="http://schemas.microsoft.com/office/powerpoint/2010/main" val="10942099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7535F3-F78C-38C6-0BB3-7EC1284637E4}"/>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92F3D9BE-8D1C-C791-ACCB-79AAFD232A9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902951" y="170579"/>
            <a:ext cx="2048257" cy="747614"/>
          </a:xfrm>
          <a:prstGeom prst="rect">
            <a:avLst/>
          </a:prstGeom>
        </p:spPr>
      </p:pic>
      <p:sp>
        <p:nvSpPr>
          <p:cNvPr id="3" name="Content Placeholder 2">
            <a:extLst>
              <a:ext uri="{FF2B5EF4-FFF2-40B4-BE49-F238E27FC236}">
                <a16:creationId xmlns:a16="http://schemas.microsoft.com/office/drawing/2014/main" id="{A04EA10A-4C7D-EE21-DBC1-51A9EB401678}"/>
              </a:ext>
            </a:extLst>
          </p:cNvPr>
          <p:cNvSpPr txBox="1">
            <a:spLocks/>
          </p:cNvSpPr>
          <p:nvPr/>
        </p:nvSpPr>
        <p:spPr>
          <a:xfrm>
            <a:off x="403504" y="415048"/>
            <a:ext cx="9271437" cy="420682"/>
          </a:xfrm>
          <a:prstGeom prst="rect">
            <a:avLst/>
          </a:prstGeom>
        </p:spPr>
        <p:txBody>
          <a:bodyPr lIns="91440" tIns="45720" rIns="91440" bIns="4572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ts val="2900"/>
              </a:lnSpc>
              <a:spcBef>
                <a:spcPts val="0"/>
              </a:spcBef>
              <a:spcAft>
                <a:spcPts val="600"/>
              </a:spcAft>
              <a:buNone/>
            </a:pPr>
            <a:r>
              <a:rPr lang="en-US" b="1" dirty="0">
                <a:solidFill>
                  <a:srgbClr val="C00000"/>
                </a:solidFill>
              </a:rPr>
              <a:t>                                                Contents flowchart</a:t>
            </a:r>
          </a:p>
        </p:txBody>
      </p:sp>
      <p:sp>
        <p:nvSpPr>
          <p:cNvPr id="4" name="Content Placeholder 2">
            <a:extLst>
              <a:ext uri="{FF2B5EF4-FFF2-40B4-BE49-F238E27FC236}">
                <a16:creationId xmlns:a16="http://schemas.microsoft.com/office/drawing/2014/main" id="{9ED12EBC-62CB-4D05-0845-2DDBB9B86E51}"/>
              </a:ext>
            </a:extLst>
          </p:cNvPr>
          <p:cNvSpPr txBox="1">
            <a:spLocks/>
          </p:cNvSpPr>
          <p:nvPr/>
        </p:nvSpPr>
        <p:spPr>
          <a:xfrm>
            <a:off x="228142" y="1142286"/>
            <a:ext cx="11707462" cy="5622029"/>
          </a:xfrm>
          <a:prstGeom prst="rect">
            <a:avLst/>
          </a:prstGeom>
        </p:spPr>
        <p:txBody>
          <a:bodyPr lIns="91440" tIns="45720" rIns="91440" bIns="4572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400" dirty="0"/>
              <a:t> From raw downtime </a:t>
            </a:r>
            <a:r>
              <a:rPr lang="en-US" sz="2400"/>
              <a:t>data to model evaluation </a:t>
            </a:r>
            <a:endParaRPr lang="en-US" sz="2400" dirty="0"/>
          </a:p>
          <a:p>
            <a:endParaRPr lang="en-US" sz="2400" dirty="0"/>
          </a:p>
        </p:txBody>
      </p:sp>
      <p:sp>
        <p:nvSpPr>
          <p:cNvPr id="5" name="Rectangle 4">
            <a:extLst>
              <a:ext uri="{FF2B5EF4-FFF2-40B4-BE49-F238E27FC236}">
                <a16:creationId xmlns:a16="http://schemas.microsoft.com/office/drawing/2014/main" id="{061D8E0F-AFEF-6E52-AB57-2B815409CE1B}"/>
              </a:ext>
            </a:extLst>
          </p:cNvPr>
          <p:cNvSpPr/>
          <p:nvPr/>
        </p:nvSpPr>
        <p:spPr>
          <a:xfrm>
            <a:off x="0" y="244549"/>
            <a:ext cx="212651" cy="785690"/>
          </a:xfrm>
          <a:prstGeom prst="rect">
            <a:avLst/>
          </a:prstGeom>
          <a:solidFill>
            <a:srgbClr val="C80000"/>
          </a:solidFill>
          <a:ln>
            <a:solidFill>
              <a:srgbClr val="C8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srgbClr val="C80000"/>
              </a:solidFill>
              <a:effectLst/>
              <a:uLnTx/>
              <a:uFillTx/>
              <a:latin typeface="Calibri" panose="020F0502020204030204"/>
              <a:ea typeface="+mn-ea"/>
              <a:cs typeface="+mn-cs"/>
            </a:endParaRPr>
          </a:p>
        </p:txBody>
      </p:sp>
      <p:cxnSp>
        <p:nvCxnSpPr>
          <p:cNvPr id="6" name="Straight Connector 5">
            <a:extLst>
              <a:ext uri="{FF2B5EF4-FFF2-40B4-BE49-F238E27FC236}">
                <a16:creationId xmlns:a16="http://schemas.microsoft.com/office/drawing/2014/main" id="{7EABB724-2DBF-71EB-045E-17C8A340EC8F}"/>
              </a:ext>
            </a:extLst>
          </p:cNvPr>
          <p:cNvCxnSpPr>
            <a:cxnSpLocks/>
          </p:cNvCxnSpPr>
          <p:nvPr/>
        </p:nvCxnSpPr>
        <p:spPr>
          <a:xfrm>
            <a:off x="345839" y="1030239"/>
            <a:ext cx="11589765" cy="0"/>
          </a:xfrm>
          <a:prstGeom prst="line">
            <a:avLst/>
          </a:prstGeom>
          <a:ln w="38100">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1FACFA54-E045-004D-F7FA-B17786AD3AAD}"/>
              </a:ext>
            </a:extLst>
          </p:cNvPr>
          <p:cNvSpPr txBox="1"/>
          <p:nvPr/>
        </p:nvSpPr>
        <p:spPr>
          <a:xfrm>
            <a:off x="5439697" y="1519903"/>
            <a:ext cx="6100916" cy="369332"/>
          </a:xfrm>
          <a:prstGeom prst="rect">
            <a:avLst/>
          </a:prstGeom>
          <a:noFill/>
        </p:spPr>
        <p:txBody>
          <a:bodyPr wrap="square">
            <a:spAutoFit/>
          </a:bodyPr>
          <a:lstStyle/>
          <a:p>
            <a:pPr>
              <a:buNone/>
            </a:pPr>
            <a:endParaRPr lang="en-US" b="1" dirty="0"/>
          </a:p>
        </p:txBody>
      </p:sp>
      <p:graphicFrame>
        <p:nvGraphicFramePr>
          <p:cNvPr id="12" name="Diagram 11">
            <a:extLst>
              <a:ext uri="{FF2B5EF4-FFF2-40B4-BE49-F238E27FC236}">
                <a16:creationId xmlns:a16="http://schemas.microsoft.com/office/drawing/2014/main" id="{6FEAFAA4-198B-6A23-0FCC-FDC566D5C112}"/>
              </a:ext>
            </a:extLst>
          </p:cNvPr>
          <p:cNvGraphicFramePr/>
          <p:nvPr>
            <p:extLst>
              <p:ext uri="{D42A27DB-BD31-4B8C-83A1-F6EECF244321}">
                <p14:modId xmlns:p14="http://schemas.microsoft.com/office/powerpoint/2010/main" val="4200766804"/>
              </p:ext>
            </p:extLst>
          </p:nvPr>
        </p:nvGraphicFramePr>
        <p:xfrm>
          <a:off x="109866" y="-15623872"/>
          <a:ext cx="11589765" cy="3747314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6714045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4FEB827-882A-2F2B-855D-D4A61117ABF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902951" y="170579"/>
            <a:ext cx="2048257" cy="747614"/>
          </a:xfrm>
          <a:prstGeom prst="rect">
            <a:avLst/>
          </a:prstGeom>
        </p:spPr>
      </p:pic>
      <p:sp>
        <p:nvSpPr>
          <p:cNvPr id="3" name="Content Placeholder 2">
            <a:extLst>
              <a:ext uri="{FF2B5EF4-FFF2-40B4-BE49-F238E27FC236}">
                <a16:creationId xmlns:a16="http://schemas.microsoft.com/office/drawing/2014/main" id="{7B8AE4EB-89E8-C0C6-CCBB-B4F0C01CE8F0}"/>
              </a:ext>
            </a:extLst>
          </p:cNvPr>
          <p:cNvSpPr txBox="1">
            <a:spLocks/>
          </p:cNvSpPr>
          <p:nvPr/>
        </p:nvSpPr>
        <p:spPr>
          <a:xfrm>
            <a:off x="403505" y="415048"/>
            <a:ext cx="7422972" cy="444692"/>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ts val="2900"/>
              </a:lnSpc>
              <a:spcBef>
                <a:spcPts val="0"/>
              </a:spcBef>
              <a:spcAft>
                <a:spcPts val="600"/>
              </a:spcAft>
              <a:buNone/>
            </a:pPr>
            <a:r>
              <a:rPr lang="en-US" b="1" dirty="0">
                <a:solidFill>
                  <a:srgbClr val="C00000"/>
                </a:solidFill>
              </a:rPr>
              <a:t>Brief introduction to the data and problem</a:t>
            </a:r>
          </a:p>
        </p:txBody>
      </p:sp>
      <p:sp>
        <p:nvSpPr>
          <p:cNvPr id="4" name="Content Placeholder 2">
            <a:extLst>
              <a:ext uri="{FF2B5EF4-FFF2-40B4-BE49-F238E27FC236}">
                <a16:creationId xmlns:a16="http://schemas.microsoft.com/office/drawing/2014/main" id="{F68E7FFD-0321-1697-E0F5-A739089E6EDB}"/>
              </a:ext>
            </a:extLst>
          </p:cNvPr>
          <p:cNvSpPr txBox="1">
            <a:spLocks/>
          </p:cNvSpPr>
          <p:nvPr/>
        </p:nvSpPr>
        <p:spPr>
          <a:xfrm>
            <a:off x="212651" y="1061439"/>
            <a:ext cx="5465106" cy="5622029"/>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None/>
            </a:pPr>
            <a:r>
              <a:rPr lang="en-US" sz="1400" b="1" dirty="0"/>
              <a:t>Dataset</a:t>
            </a:r>
          </a:p>
          <a:p>
            <a:pPr>
              <a:buNone/>
            </a:pPr>
            <a:r>
              <a:rPr lang="en-US" sz="1400" dirty="0"/>
              <a:t>We are using the </a:t>
            </a:r>
            <a:r>
              <a:rPr lang="en-US" sz="1400" dirty="0" err="1">
                <a:latin typeface="Courier New" panose="02070309020205020404" pitchFamily="49" charset="0"/>
              </a:rPr>
              <a:t>iportal_downtimes</a:t>
            </a:r>
            <a:r>
              <a:rPr lang="en-US" sz="1400" dirty="0"/>
              <a:t> dataset from manufacturing operations. </a:t>
            </a:r>
          </a:p>
          <a:p>
            <a:pPr>
              <a:buNone/>
            </a:pPr>
            <a:r>
              <a:rPr lang="en-US" sz="1400" dirty="0"/>
              <a:t>The dataset contains machine downtime events (features) from PLC in </a:t>
            </a:r>
            <a:r>
              <a:rPr lang="en-US" sz="1400" dirty="0" err="1"/>
              <a:t>roborts</a:t>
            </a:r>
            <a:r>
              <a:rPr lang="en-US" sz="1400" dirty="0"/>
              <a:t> such as:</a:t>
            </a:r>
          </a:p>
          <a:p>
            <a:pPr>
              <a:buFont typeface="Arial" panose="020B0604020202020204" pitchFamily="34" charset="0"/>
              <a:buChar char="•"/>
            </a:pPr>
            <a:r>
              <a:rPr lang="en-US" sz="1400" dirty="0"/>
              <a:t>downtime duration </a:t>
            </a:r>
          </a:p>
          <a:p>
            <a:pPr>
              <a:buFont typeface="Arial" panose="020B0604020202020204" pitchFamily="34" charset="0"/>
              <a:buChar char="•"/>
            </a:pPr>
            <a:r>
              <a:rPr lang="en-US" sz="1400" dirty="0"/>
              <a:t>fault duration </a:t>
            </a:r>
          </a:p>
          <a:p>
            <a:pPr>
              <a:buFont typeface="Arial" panose="020B0604020202020204" pitchFamily="34" charset="0"/>
              <a:buChar char="•"/>
            </a:pPr>
            <a:r>
              <a:rPr lang="en-US" sz="1400" dirty="0"/>
              <a:t>plant </a:t>
            </a:r>
          </a:p>
          <a:p>
            <a:pPr>
              <a:buFont typeface="Arial" panose="020B0604020202020204" pitchFamily="34" charset="0"/>
              <a:buChar char="•"/>
            </a:pPr>
            <a:r>
              <a:rPr lang="en-US" sz="1400" dirty="0"/>
              <a:t>department </a:t>
            </a:r>
          </a:p>
          <a:p>
            <a:pPr>
              <a:buFont typeface="Arial" panose="020B0604020202020204" pitchFamily="34" charset="0"/>
              <a:buChar char="•"/>
            </a:pPr>
            <a:r>
              <a:rPr lang="en-US" sz="1400" dirty="0"/>
              <a:t>area </a:t>
            </a:r>
          </a:p>
          <a:p>
            <a:pPr>
              <a:buFont typeface="Arial" panose="020B0604020202020204" pitchFamily="34" charset="0"/>
              <a:buChar char="•"/>
            </a:pPr>
            <a:r>
              <a:rPr lang="en-US" sz="1400" dirty="0"/>
              <a:t>downtime type </a:t>
            </a:r>
          </a:p>
          <a:p>
            <a:pPr>
              <a:buFont typeface="Arial" panose="020B0604020202020204" pitchFamily="34" charset="0"/>
              <a:buChar char="•"/>
            </a:pPr>
            <a:r>
              <a:rPr lang="en-US" sz="1400" dirty="0"/>
              <a:t>failure reason </a:t>
            </a:r>
          </a:p>
          <a:p>
            <a:pPr>
              <a:buFont typeface="Arial" panose="020B0604020202020204" pitchFamily="34" charset="0"/>
              <a:buChar char="•"/>
            </a:pPr>
            <a:r>
              <a:rPr lang="en-US" sz="1400" dirty="0"/>
              <a:t>machine messages </a:t>
            </a:r>
          </a:p>
          <a:p>
            <a:pPr>
              <a:buFont typeface="Arial" panose="020B0604020202020204" pitchFamily="34" charset="0"/>
              <a:buChar char="•"/>
            </a:pPr>
            <a:r>
              <a:rPr lang="en-US" sz="1400" dirty="0"/>
              <a:t>timestamps </a:t>
            </a:r>
          </a:p>
          <a:p>
            <a:pPr>
              <a:buNone/>
            </a:pPr>
            <a:r>
              <a:rPr lang="en-US" sz="1400" dirty="0"/>
              <a:t>Each row represents a machine downtime incident.</a:t>
            </a:r>
          </a:p>
          <a:p>
            <a:pPr marL="0" indent="0">
              <a:buNone/>
            </a:pPr>
            <a:r>
              <a:rPr lang="en-US" sz="1400" b="1" dirty="0"/>
              <a:t>This will help:</a:t>
            </a:r>
          </a:p>
          <a:p>
            <a:r>
              <a:rPr lang="en-US" sz="1400" dirty="0"/>
              <a:t>reduce production downtime </a:t>
            </a:r>
          </a:p>
          <a:p>
            <a:r>
              <a:rPr lang="en-US" sz="1400" dirty="0"/>
              <a:t>prioritize maintenance teams </a:t>
            </a:r>
          </a:p>
          <a:p>
            <a:r>
              <a:rPr lang="en-US" sz="1400" dirty="0"/>
              <a:t>improve operational efficiency</a:t>
            </a:r>
          </a:p>
          <a:p>
            <a:pPr>
              <a:buNone/>
            </a:pPr>
            <a:endParaRPr lang="en-US" sz="1400" dirty="0"/>
          </a:p>
        </p:txBody>
      </p:sp>
      <p:sp>
        <p:nvSpPr>
          <p:cNvPr id="5" name="Rectangle 4">
            <a:extLst>
              <a:ext uri="{FF2B5EF4-FFF2-40B4-BE49-F238E27FC236}">
                <a16:creationId xmlns:a16="http://schemas.microsoft.com/office/drawing/2014/main" id="{9F897354-327B-3352-44EB-BE71D0445AF3}"/>
              </a:ext>
            </a:extLst>
          </p:cNvPr>
          <p:cNvSpPr/>
          <p:nvPr/>
        </p:nvSpPr>
        <p:spPr>
          <a:xfrm>
            <a:off x="0" y="244549"/>
            <a:ext cx="212651" cy="785690"/>
          </a:xfrm>
          <a:prstGeom prst="rect">
            <a:avLst/>
          </a:prstGeom>
          <a:solidFill>
            <a:srgbClr val="C80000"/>
          </a:solidFill>
          <a:ln>
            <a:solidFill>
              <a:srgbClr val="C8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srgbClr val="C80000"/>
              </a:solidFill>
              <a:effectLst/>
              <a:uLnTx/>
              <a:uFillTx/>
              <a:latin typeface="Calibri" panose="020F0502020204030204"/>
              <a:ea typeface="+mn-ea"/>
              <a:cs typeface="+mn-cs"/>
            </a:endParaRPr>
          </a:p>
        </p:txBody>
      </p:sp>
      <p:cxnSp>
        <p:nvCxnSpPr>
          <p:cNvPr id="6" name="Straight Connector 5">
            <a:extLst>
              <a:ext uri="{FF2B5EF4-FFF2-40B4-BE49-F238E27FC236}">
                <a16:creationId xmlns:a16="http://schemas.microsoft.com/office/drawing/2014/main" id="{313E946B-1FB2-8CAB-70C0-2A5EA2FE573B}"/>
              </a:ext>
            </a:extLst>
          </p:cNvPr>
          <p:cNvCxnSpPr>
            <a:cxnSpLocks/>
          </p:cNvCxnSpPr>
          <p:nvPr/>
        </p:nvCxnSpPr>
        <p:spPr>
          <a:xfrm>
            <a:off x="345839" y="1030239"/>
            <a:ext cx="11589765" cy="0"/>
          </a:xfrm>
          <a:prstGeom prst="line">
            <a:avLst/>
          </a:prstGeom>
          <a:ln w="38100">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A0ACE9FE-E32D-0257-2BFC-0EE3D641F290}"/>
              </a:ext>
            </a:extLst>
          </p:cNvPr>
          <p:cNvSpPr txBox="1"/>
          <p:nvPr/>
        </p:nvSpPr>
        <p:spPr>
          <a:xfrm>
            <a:off x="5439697" y="1519903"/>
            <a:ext cx="6100916" cy="369332"/>
          </a:xfrm>
          <a:prstGeom prst="rect">
            <a:avLst/>
          </a:prstGeom>
          <a:noFill/>
        </p:spPr>
        <p:txBody>
          <a:bodyPr wrap="square">
            <a:spAutoFit/>
          </a:bodyPr>
          <a:lstStyle/>
          <a:p>
            <a:pPr>
              <a:buNone/>
            </a:pPr>
            <a:endParaRPr lang="en-US" b="1" dirty="0"/>
          </a:p>
        </p:txBody>
      </p:sp>
      <p:sp>
        <p:nvSpPr>
          <p:cNvPr id="12" name="Rectangle 2">
            <a:extLst>
              <a:ext uri="{FF2B5EF4-FFF2-40B4-BE49-F238E27FC236}">
                <a16:creationId xmlns:a16="http://schemas.microsoft.com/office/drawing/2014/main" id="{054EA4D8-B0C1-089A-45C2-B6C8651D53D4}"/>
              </a:ext>
            </a:extLst>
          </p:cNvPr>
          <p:cNvSpPr>
            <a:spLocks noChangeArrowheads="1"/>
          </p:cNvSpPr>
          <p:nvPr/>
        </p:nvSpPr>
        <p:spPr bwMode="auto">
          <a:xfrm>
            <a:off x="5826436" y="999039"/>
            <a:ext cx="5789570" cy="28469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a:ln>
                  <a:noFill/>
                </a:ln>
                <a:solidFill>
                  <a:schemeClr val="tx1"/>
                </a:solidFill>
                <a:effectLst/>
                <a:latin typeface="Aptos (Body)"/>
              </a:rPr>
              <a:t>Business Problem</a:t>
            </a:r>
            <a:br>
              <a:rPr kumimoji="0" lang="en-US" altLang="en-US" sz="1400" b="1" i="0" u="none" strike="noStrike" cap="none" normalizeH="0" baseline="0" dirty="0">
                <a:ln>
                  <a:noFill/>
                </a:ln>
                <a:solidFill>
                  <a:schemeClr val="tx1"/>
                </a:solidFill>
                <a:effectLst/>
                <a:latin typeface="Aptos (Body)"/>
              </a:rPr>
            </a:br>
            <a:endParaRPr kumimoji="0" lang="en-US" altLang="en-US" sz="1400" b="1" i="0" u="none" strike="noStrike" cap="none" normalizeH="0" baseline="0" dirty="0">
              <a:ln>
                <a:noFill/>
              </a:ln>
              <a:solidFill>
                <a:schemeClr val="tx1"/>
              </a:solidFill>
              <a:effectLst/>
              <a:latin typeface="Aptos (Body)"/>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Aptos (Body)"/>
              </a:rPr>
              <a:t>The objective is to </a:t>
            </a:r>
            <a:r>
              <a:rPr lang="en-US" altLang="en-US" sz="1400" dirty="0">
                <a:latin typeface="Aptos (Body)"/>
              </a:rPr>
              <a:t>p</a:t>
            </a:r>
            <a:r>
              <a:rPr kumimoji="0" lang="en-US" altLang="en-US" sz="1400" b="0" i="0" u="none" strike="noStrike" cap="none" normalizeH="0" baseline="0" dirty="0">
                <a:ln>
                  <a:noFill/>
                </a:ln>
                <a:solidFill>
                  <a:schemeClr val="tx1"/>
                </a:solidFill>
                <a:effectLst/>
                <a:latin typeface="Aptos (Body)"/>
              </a:rPr>
              <a:t>redict whether machine downtime/failures require maintenance using EMEA plants historical downtime logs.</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400" dirty="0">
              <a:latin typeface="Aptos (Body)"/>
            </a:endParaRPr>
          </a:p>
          <a:p>
            <a:pPr lvl="0" eaLnBrk="0" fontAlgn="base" hangingPunct="0">
              <a:spcBef>
                <a:spcPct val="0"/>
              </a:spcBef>
              <a:spcAft>
                <a:spcPct val="0"/>
              </a:spcAft>
            </a:pPr>
            <a:r>
              <a:rPr kumimoji="0" lang="en-US" altLang="en-US" sz="1400" b="1" i="0" u="none" strike="noStrike" cap="none" normalizeH="0" baseline="0" dirty="0">
                <a:ln>
                  <a:noFill/>
                </a:ln>
                <a:solidFill>
                  <a:schemeClr val="tx1"/>
                </a:solidFill>
                <a:effectLst/>
                <a:latin typeface="Aptos (Body)"/>
              </a:rPr>
              <a:t>Goal</a:t>
            </a:r>
            <a:r>
              <a:rPr kumimoji="0" lang="en-US" altLang="en-US" sz="1400" b="0" i="0" u="none" strike="noStrike" cap="none" normalizeH="0" baseline="0" dirty="0">
                <a:ln>
                  <a:noFill/>
                </a:ln>
                <a:solidFill>
                  <a:schemeClr val="tx1"/>
                </a:solidFill>
                <a:effectLst/>
                <a:latin typeface="Aptos (Body)"/>
              </a:rPr>
              <a:t>: </a:t>
            </a:r>
            <a:r>
              <a:rPr lang="en-US" altLang="en-US" sz="1400" dirty="0">
                <a:latin typeface="Aptos (Body)"/>
              </a:rPr>
              <a:t>Reduce unplanned downtime through early identification of maintenance needs</a:t>
            </a:r>
            <a:r>
              <a:rPr kumimoji="0" lang="en-US" altLang="en-US" sz="1400" b="0" i="0" u="none" strike="noStrike" cap="none" normalizeH="0" baseline="0" dirty="0">
                <a:ln>
                  <a:noFill/>
                </a:ln>
                <a:solidFill>
                  <a:schemeClr val="tx1"/>
                </a:solidFill>
                <a:effectLst/>
                <a:latin typeface="Aptos (Body)"/>
              </a:rPr>
              <a:t>.</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400" dirty="0">
              <a:latin typeface="Aptos (Body)"/>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Aptos (Body)"/>
              </a:rPr>
              <a:t>Binary classification problem: </a:t>
            </a:r>
            <a:r>
              <a:rPr kumimoji="0" lang="en-US" altLang="en-US" sz="1400" b="0" i="0" u="none" strike="noStrike" cap="none" normalizeH="0" baseline="0" dirty="0" err="1">
                <a:ln>
                  <a:noFill/>
                </a:ln>
                <a:solidFill>
                  <a:schemeClr val="tx1"/>
                </a:solidFill>
                <a:effectLst/>
                <a:latin typeface="Aptos (Body)"/>
              </a:rPr>
              <a:t>MaintenanceRequired</a:t>
            </a:r>
            <a:r>
              <a:rPr kumimoji="0" lang="en-US" altLang="en-US" sz="1400" b="0" i="0" u="none" strike="noStrike" cap="none" normalizeH="0" baseline="0" dirty="0">
                <a:ln>
                  <a:noFill/>
                </a:ln>
                <a:solidFill>
                  <a:schemeClr val="tx1"/>
                </a:solidFill>
                <a:effectLst/>
                <a:latin typeface="Aptos (Body)"/>
              </a:rPr>
              <a:t> (0/1)</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a:ln>
                  <a:noFill/>
                </a:ln>
                <a:solidFill>
                  <a:schemeClr val="tx1"/>
                </a:solidFill>
                <a:effectLst/>
                <a:latin typeface="Arial" panose="020B0604020202020204" pitchFamily="34" charset="0"/>
              </a:rPr>
              <a:t>Target Variable: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err="1">
                <a:ln>
                  <a:noFill/>
                </a:ln>
                <a:solidFill>
                  <a:schemeClr val="tx1"/>
                </a:solidFill>
                <a:effectLst/>
                <a:latin typeface="Arial Unicode MS"/>
              </a:rPr>
              <a:t>MaintenanceRequired</a:t>
            </a:r>
            <a:endParaRPr kumimoji="0" lang="en-US" altLang="en-US"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100" b="0" i="0" u="none" strike="noStrike" cap="none" normalizeH="0" baseline="0" dirty="0">
              <a:ln>
                <a:noFill/>
              </a:ln>
              <a:solidFill>
                <a:schemeClr val="tx1"/>
              </a:solidFill>
              <a:effectLst/>
              <a:latin typeface="Arial" panose="020B0604020202020204" pitchFamily="34" charset="0"/>
            </a:endParaRPr>
          </a:p>
        </p:txBody>
      </p:sp>
      <p:graphicFrame>
        <p:nvGraphicFramePr>
          <p:cNvPr id="14" name="Table 13">
            <a:extLst>
              <a:ext uri="{FF2B5EF4-FFF2-40B4-BE49-F238E27FC236}">
                <a16:creationId xmlns:a16="http://schemas.microsoft.com/office/drawing/2014/main" id="{EE43CE3C-CDF7-F2F3-ED79-E1C064A13067}"/>
              </a:ext>
            </a:extLst>
          </p:cNvPr>
          <p:cNvGraphicFramePr>
            <a:graphicFrameLocks noGrp="1"/>
          </p:cNvGraphicFramePr>
          <p:nvPr>
            <p:extLst>
              <p:ext uri="{D42A27DB-BD31-4B8C-83A1-F6EECF244321}">
                <p14:modId xmlns:p14="http://schemas.microsoft.com/office/powerpoint/2010/main" val="2944102612"/>
              </p:ext>
            </p:extLst>
          </p:nvPr>
        </p:nvGraphicFramePr>
        <p:xfrm>
          <a:off x="5959624" y="3998115"/>
          <a:ext cx="5789570" cy="1097280"/>
        </p:xfrm>
        <a:graphic>
          <a:graphicData uri="http://schemas.openxmlformats.org/drawingml/2006/table">
            <a:tbl>
              <a:tblPr firstRow="1" bandRow="1">
                <a:tableStyleId>{5C22544A-7EE6-4342-B048-85BDC9FD1C3A}</a:tableStyleId>
              </a:tblPr>
              <a:tblGrid>
                <a:gridCol w="2894785">
                  <a:extLst>
                    <a:ext uri="{9D8B030D-6E8A-4147-A177-3AD203B41FA5}">
                      <a16:colId xmlns:a16="http://schemas.microsoft.com/office/drawing/2014/main" val="3973972653"/>
                    </a:ext>
                  </a:extLst>
                </a:gridCol>
                <a:gridCol w="2894785">
                  <a:extLst>
                    <a:ext uri="{9D8B030D-6E8A-4147-A177-3AD203B41FA5}">
                      <a16:colId xmlns:a16="http://schemas.microsoft.com/office/drawing/2014/main" val="3114291906"/>
                    </a:ext>
                  </a:extLst>
                </a:gridCol>
              </a:tblGrid>
              <a:tr h="316173">
                <a:tc>
                  <a:txBody>
                    <a:bodyPr/>
                    <a:lstStyle/>
                    <a:p>
                      <a:r>
                        <a:rPr lang="en-ZA" dirty="0" err="1"/>
                        <a:t>Mantainance</a:t>
                      </a:r>
                      <a:r>
                        <a:rPr lang="en-ZA" dirty="0"/>
                        <a:t> Required</a:t>
                      </a:r>
                      <a:endParaRPr lang="en-US" dirty="0"/>
                    </a:p>
                  </a:txBody>
                  <a:tcPr/>
                </a:tc>
                <a:tc>
                  <a:txBody>
                    <a:bodyPr/>
                    <a:lstStyle/>
                    <a:p>
                      <a:r>
                        <a:rPr lang="en-ZA" dirty="0"/>
                        <a:t>Target</a:t>
                      </a:r>
                      <a:endParaRPr lang="en-US" dirty="0"/>
                    </a:p>
                  </a:txBody>
                  <a:tcPr/>
                </a:tc>
                <a:extLst>
                  <a:ext uri="{0D108BD9-81ED-4DB2-BD59-A6C34878D82A}">
                    <a16:rowId xmlns:a16="http://schemas.microsoft.com/office/drawing/2014/main" val="2498342786"/>
                  </a:ext>
                </a:extLst>
              </a:tr>
              <a:tr h="316173">
                <a:tc>
                  <a:txBody>
                    <a:bodyPr/>
                    <a:lstStyle/>
                    <a:p>
                      <a:r>
                        <a:rPr lang="en-ZA" dirty="0"/>
                        <a:t>Yes</a:t>
                      </a:r>
                      <a:endParaRPr lang="en-US" dirty="0"/>
                    </a:p>
                  </a:txBody>
                  <a:tcPr/>
                </a:tc>
                <a:tc>
                  <a:txBody>
                    <a:bodyPr/>
                    <a:lstStyle/>
                    <a:p>
                      <a:r>
                        <a:rPr lang="en-ZA" dirty="0"/>
                        <a:t>1</a:t>
                      </a:r>
                      <a:endParaRPr lang="en-US" dirty="0"/>
                    </a:p>
                  </a:txBody>
                  <a:tcPr/>
                </a:tc>
                <a:extLst>
                  <a:ext uri="{0D108BD9-81ED-4DB2-BD59-A6C34878D82A}">
                    <a16:rowId xmlns:a16="http://schemas.microsoft.com/office/drawing/2014/main" val="3165472283"/>
                  </a:ext>
                </a:extLst>
              </a:tr>
              <a:tr h="316173">
                <a:tc>
                  <a:txBody>
                    <a:bodyPr/>
                    <a:lstStyle/>
                    <a:p>
                      <a:r>
                        <a:rPr lang="en-ZA" dirty="0"/>
                        <a:t>No</a:t>
                      </a:r>
                      <a:endParaRPr lang="en-US" dirty="0"/>
                    </a:p>
                  </a:txBody>
                  <a:tcPr/>
                </a:tc>
                <a:tc>
                  <a:txBody>
                    <a:bodyPr/>
                    <a:lstStyle/>
                    <a:p>
                      <a:r>
                        <a:rPr lang="en-ZA" dirty="0"/>
                        <a:t>0</a:t>
                      </a:r>
                      <a:endParaRPr lang="en-US" dirty="0"/>
                    </a:p>
                  </a:txBody>
                  <a:tcPr/>
                </a:tc>
                <a:extLst>
                  <a:ext uri="{0D108BD9-81ED-4DB2-BD59-A6C34878D82A}">
                    <a16:rowId xmlns:a16="http://schemas.microsoft.com/office/drawing/2014/main" val="1498206858"/>
                  </a:ext>
                </a:extLst>
              </a:tr>
            </a:tbl>
          </a:graphicData>
        </a:graphic>
      </p:graphicFrame>
      <p:pic>
        <p:nvPicPr>
          <p:cNvPr id="1026" name="Picture 2">
            <a:extLst>
              <a:ext uri="{FF2B5EF4-FFF2-40B4-BE49-F238E27FC236}">
                <a16:creationId xmlns:a16="http://schemas.microsoft.com/office/drawing/2014/main" id="{C7B908E6-C245-1A57-F4B5-FD35B26D693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70106" y="2665535"/>
            <a:ext cx="2089769" cy="2089769"/>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Machine Learning in Automotive: Pros, Cons, and Applications">
            <a:extLst>
              <a:ext uri="{FF2B5EF4-FFF2-40B4-BE49-F238E27FC236}">
                <a16:creationId xmlns:a16="http://schemas.microsoft.com/office/drawing/2014/main" id="{195F6325-5A86-3CE3-C515-63BE5890017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a:off x="5959623" y="5156871"/>
            <a:ext cx="5580990" cy="16449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554326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146301-C61C-4D5E-1328-BE66C0DCE75B}"/>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5A55EE1D-715E-A62F-6B44-35B8F74D19E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902951" y="170579"/>
            <a:ext cx="2048257" cy="747614"/>
          </a:xfrm>
          <a:prstGeom prst="rect">
            <a:avLst/>
          </a:prstGeom>
        </p:spPr>
      </p:pic>
      <p:sp>
        <p:nvSpPr>
          <p:cNvPr id="3" name="Content Placeholder 2">
            <a:extLst>
              <a:ext uri="{FF2B5EF4-FFF2-40B4-BE49-F238E27FC236}">
                <a16:creationId xmlns:a16="http://schemas.microsoft.com/office/drawing/2014/main" id="{2CDC6ADD-4830-CC5C-2DE3-7DAC3E92967A}"/>
              </a:ext>
            </a:extLst>
          </p:cNvPr>
          <p:cNvSpPr txBox="1">
            <a:spLocks/>
          </p:cNvSpPr>
          <p:nvPr/>
        </p:nvSpPr>
        <p:spPr>
          <a:xfrm>
            <a:off x="403504" y="415048"/>
            <a:ext cx="9748681" cy="420682"/>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ts val="2900"/>
              </a:lnSpc>
              <a:spcBef>
                <a:spcPts val="0"/>
              </a:spcBef>
              <a:spcAft>
                <a:spcPts val="600"/>
              </a:spcAft>
              <a:buNone/>
            </a:pPr>
            <a:r>
              <a:rPr lang="en-US" b="1" dirty="0">
                <a:solidFill>
                  <a:srgbClr val="C00000"/>
                </a:solidFill>
              </a:rPr>
              <a:t>Data Understanding, Preprocessing &amp; Feature Engineering</a:t>
            </a:r>
          </a:p>
        </p:txBody>
      </p:sp>
      <p:sp>
        <p:nvSpPr>
          <p:cNvPr id="4" name="Content Placeholder 2">
            <a:extLst>
              <a:ext uri="{FF2B5EF4-FFF2-40B4-BE49-F238E27FC236}">
                <a16:creationId xmlns:a16="http://schemas.microsoft.com/office/drawing/2014/main" id="{70B016E6-A60F-8760-686D-F83C880A4578}"/>
              </a:ext>
            </a:extLst>
          </p:cNvPr>
          <p:cNvSpPr txBox="1">
            <a:spLocks/>
          </p:cNvSpPr>
          <p:nvPr/>
        </p:nvSpPr>
        <p:spPr>
          <a:xfrm>
            <a:off x="228142" y="1142286"/>
            <a:ext cx="11707462" cy="5622029"/>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100" dirty="0"/>
              <a:t>Duplicate removal: unique(</a:t>
            </a:r>
            <a:r>
              <a:rPr lang="en-US" sz="2100" dirty="0" err="1"/>
              <a:t>df</a:t>
            </a:r>
            <a:r>
              <a:rPr lang="en-US" sz="2100" dirty="0"/>
              <a:t>) used to eliminate repeated downtime records &amp; bias in model learning.</a:t>
            </a:r>
          </a:p>
          <a:p>
            <a:r>
              <a:rPr lang="en-US" sz="2100" dirty="0"/>
              <a:t>Handled missing numeric values: imputed using median (robust to outliers).</a:t>
            </a:r>
          </a:p>
          <a:p>
            <a:r>
              <a:rPr lang="en-US" sz="2100" dirty="0"/>
              <a:t>Handled missing categorical values: replaced with 'Unknown' category so model can still learn from them.</a:t>
            </a:r>
          </a:p>
          <a:p>
            <a:r>
              <a:rPr lang="en-US" sz="2100" dirty="0"/>
              <a:t>Fixed </a:t>
            </a:r>
            <a:r>
              <a:rPr lang="en-US" sz="2100" dirty="0" err="1"/>
              <a:t>NaN</a:t>
            </a:r>
            <a:r>
              <a:rPr lang="en-US" sz="2100" dirty="0"/>
              <a:t> and infinite values before modelling  our data in H2O environment</a:t>
            </a:r>
          </a:p>
          <a:p>
            <a:r>
              <a:rPr lang="en-US" sz="2100" dirty="0"/>
              <a:t>High-cardinality identifiers removed (e.g., </a:t>
            </a:r>
            <a:r>
              <a:rPr lang="en-US" sz="2100" dirty="0" err="1"/>
              <a:t>DowntimeId</a:t>
            </a:r>
            <a:r>
              <a:rPr lang="en-US" sz="2100" dirty="0"/>
              <a:t>) to reduce noise.</a:t>
            </a:r>
          </a:p>
          <a:p>
            <a:r>
              <a:rPr lang="en-US" sz="2100" dirty="0"/>
              <a:t>Removed leakage variables used in target construction (e.g. </a:t>
            </a:r>
            <a:r>
              <a:rPr lang="en-US" sz="2100" dirty="0" err="1"/>
              <a:t>DowntimeType</a:t>
            </a:r>
            <a:r>
              <a:rPr lang="en-US" sz="2100" dirty="0"/>
              <a:t>), Class order was enforced (levels = c("0","1")) ,Numeric conversion + median imputation were also used.</a:t>
            </a:r>
          </a:p>
          <a:p>
            <a:r>
              <a:rPr lang="en-US" sz="2100" dirty="0"/>
              <a:t>Remove identifier columns that do not contribute to prediction</a:t>
            </a:r>
          </a:p>
          <a:p>
            <a:pPr marL="0" indent="0">
              <a:buNone/>
            </a:pPr>
            <a:r>
              <a:rPr lang="en-US" sz="2100" b="1" dirty="0">
                <a:solidFill>
                  <a:srgbClr val="C00000"/>
                </a:solidFill>
                <a:latin typeface="Aptos (Body)"/>
              </a:rPr>
              <a:t>Feature Engineering </a:t>
            </a:r>
            <a:r>
              <a:rPr lang="en-US" sz="2100" b="1" dirty="0">
                <a:latin typeface="Aptos (Body)"/>
              </a:rPr>
              <a:t>(</a:t>
            </a:r>
            <a:r>
              <a:rPr lang="en-US" sz="2100" b="1" dirty="0"/>
              <a:t>Purpose: Improve model ability to capture operational </a:t>
            </a:r>
            <a:r>
              <a:rPr lang="en-US" sz="2100" b="1" dirty="0" err="1"/>
              <a:t>behaviour</a:t>
            </a:r>
            <a:r>
              <a:rPr lang="en-US" sz="2100" b="1" dirty="0"/>
              <a:t> patterns)</a:t>
            </a:r>
            <a:endParaRPr lang="en-US" sz="2100" b="1" dirty="0">
              <a:latin typeface="Aptos (Body)"/>
            </a:endParaRPr>
          </a:p>
          <a:p>
            <a:r>
              <a:rPr lang="en-US" sz="2100" dirty="0"/>
              <a:t>Target creation: based on median downtime threshold + failure keywords.</a:t>
            </a:r>
          </a:p>
          <a:p>
            <a:r>
              <a:rPr lang="en-US" sz="2100" dirty="0"/>
              <a:t>New features: Hour extracted from timestamp, </a:t>
            </a:r>
            <a:r>
              <a:rPr lang="en-US" sz="2100" dirty="0" err="1"/>
              <a:t>DayOfWeek</a:t>
            </a:r>
            <a:r>
              <a:rPr lang="en-US" sz="2100" dirty="0"/>
              <a:t> derived from </a:t>
            </a:r>
            <a:r>
              <a:rPr lang="en-US" sz="2100" dirty="0" err="1"/>
              <a:t>DowntimeStartDatetime</a:t>
            </a:r>
            <a:r>
              <a:rPr lang="en-US" sz="2100" dirty="0"/>
              <a:t>.</a:t>
            </a:r>
          </a:p>
          <a:p>
            <a:r>
              <a:rPr lang="en-US" sz="2100" dirty="0" err="1"/>
              <a:t>EmergencyFlag</a:t>
            </a:r>
            <a:r>
              <a:rPr lang="en-US" sz="2100" dirty="0"/>
              <a:t> created using keyword detection (emergency, critical, urgent) from </a:t>
            </a:r>
            <a:r>
              <a:rPr lang="en-US" sz="2100" dirty="0" err="1"/>
              <a:t>DowntimeDescription</a:t>
            </a:r>
            <a:endParaRPr lang="en-US" sz="2100" dirty="0"/>
          </a:p>
          <a:p>
            <a:endParaRPr lang="en-US" sz="2100" dirty="0"/>
          </a:p>
        </p:txBody>
      </p:sp>
      <p:sp>
        <p:nvSpPr>
          <p:cNvPr id="5" name="Rectangle 4">
            <a:extLst>
              <a:ext uri="{FF2B5EF4-FFF2-40B4-BE49-F238E27FC236}">
                <a16:creationId xmlns:a16="http://schemas.microsoft.com/office/drawing/2014/main" id="{37D5E89D-A649-FCCE-0EFD-95361296BBCD}"/>
              </a:ext>
            </a:extLst>
          </p:cNvPr>
          <p:cNvSpPr/>
          <p:nvPr/>
        </p:nvSpPr>
        <p:spPr>
          <a:xfrm>
            <a:off x="0" y="244549"/>
            <a:ext cx="212651" cy="785690"/>
          </a:xfrm>
          <a:prstGeom prst="rect">
            <a:avLst/>
          </a:prstGeom>
          <a:solidFill>
            <a:srgbClr val="C80000"/>
          </a:solidFill>
          <a:ln>
            <a:solidFill>
              <a:srgbClr val="C8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srgbClr val="C80000"/>
              </a:solidFill>
              <a:effectLst/>
              <a:uLnTx/>
              <a:uFillTx/>
              <a:latin typeface="Calibri" panose="020F0502020204030204"/>
              <a:ea typeface="+mn-ea"/>
              <a:cs typeface="+mn-cs"/>
            </a:endParaRPr>
          </a:p>
        </p:txBody>
      </p:sp>
      <p:cxnSp>
        <p:nvCxnSpPr>
          <p:cNvPr id="6" name="Straight Connector 5">
            <a:extLst>
              <a:ext uri="{FF2B5EF4-FFF2-40B4-BE49-F238E27FC236}">
                <a16:creationId xmlns:a16="http://schemas.microsoft.com/office/drawing/2014/main" id="{BF2F8D98-9CA6-C776-8CF0-AD6F52EBDEA0}"/>
              </a:ext>
            </a:extLst>
          </p:cNvPr>
          <p:cNvCxnSpPr>
            <a:cxnSpLocks/>
          </p:cNvCxnSpPr>
          <p:nvPr/>
        </p:nvCxnSpPr>
        <p:spPr>
          <a:xfrm>
            <a:off x="345839" y="1030239"/>
            <a:ext cx="11589765" cy="0"/>
          </a:xfrm>
          <a:prstGeom prst="line">
            <a:avLst/>
          </a:prstGeom>
          <a:ln w="38100">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F375A8AB-7344-F889-16ED-580954726ECA}"/>
              </a:ext>
            </a:extLst>
          </p:cNvPr>
          <p:cNvSpPr txBox="1"/>
          <p:nvPr/>
        </p:nvSpPr>
        <p:spPr>
          <a:xfrm>
            <a:off x="5439697" y="1519903"/>
            <a:ext cx="6100916" cy="369332"/>
          </a:xfrm>
          <a:prstGeom prst="rect">
            <a:avLst/>
          </a:prstGeom>
          <a:noFill/>
        </p:spPr>
        <p:txBody>
          <a:bodyPr wrap="square">
            <a:spAutoFit/>
          </a:bodyPr>
          <a:lstStyle/>
          <a:p>
            <a:pPr>
              <a:buNone/>
            </a:pPr>
            <a:endParaRPr lang="en-US" b="1" dirty="0"/>
          </a:p>
        </p:txBody>
      </p:sp>
    </p:spTree>
    <p:extLst>
      <p:ext uri="{BB962C8B-B14F-4D97-AF65-F5344CB8AC3E}">
        <p14:creationId xmlns:p14="http://schemas.microsoft.com/office/powerpoint/2010/main" val="13197190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D2DD76-0BB7-AF9B-7A0C-6FF4317D33FF}"/>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85785022-2A51-E743-30DB-23E51EA76DA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902951" y="170579"/>
            <a:ext cx="2048257" cy="747614"/>
          </a:xfrm>
          <a:prstGeom prst="rect">
            <a:avLst/>
          </a:prstGeom>
        </p:spPr>
      </p:pic>
      <p:sp>
        <p:nvSpPr>
          <p:cNvPr id="3" name="Content Placeholder 2">
            <a:extLst>
              <a:ext uri="{FF2B5EF4-FFF2-40B4-BE49-F238E27FC236}">
                <a16:creationId xmlns:a16="http://schemas.microsoft.com/office/drawing/2014/main" id="{585007F7-0919-A9D0-BEC1-DE8E4A3DF211}"/>
              </a:ext>
            </a:extLst>
          </p:cNvPr>
          <p:cNvSpPr txBox="1">
            <a:spLocks/>
          </p:cNvSpPr>
          <p:nvPr/>
        </p:nvSpPr>
        <p:spPr>
          <a:xfrm>
            <a:off x="403504" y="415048"/>
            <a:ext cx="9271437" cy="420682"/>
          </a:xfrm>
          <a:prstGeom prst="rect">
            <a:avLst/>
          </a:prstGeom>
        </p:spPr>
        <p:txBody>
          <a:bodyPr lIns="91440" tIns="45720" rIns="91440" bIns="4572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ts val="2900"/>
              </a:lnSpc>
              <a:spcBef>
                <a:spcPts val="0"/>
              </a:spcBef>
              <a:spcAft>
                <a:spcPts val="600"/>
              </a:spcAft>
              <a:buNone/>
            </a:pPr>
            <a:r>
              <a:rPr lang="en-US" b="1">
                <a:solidFill>
                  <a:srgbClr val="C00000"/>
                </a:solidFill>
                <a:latin typeface="Aptos (Body)"/>
              </a:rPr>
              <a:t>Machine Learning Techniques</a:t>
            </a:r>
          </a:p>
        </p:txBody>
      </p:sp>
      <p:sp>
        <p:nvSpPr>
          <p:cNvPr id="4" name="Content Placeholder 2">
            <a:extLst>
              <a:ext uri="{FF2B5EF4-FFF2-40B4-BE49-F238E27FC236}">
                <a16:creationId xmlns:a16="http://schemas.microsoft.com/office/drawing/2014/main" id="{173A6AC1-F31E-0E11-46C7-2E21ED3AAAFE}"/>
              </a:ext>
            </a:extLst>
          </p:cNvPr>
          <p:cNvSpPr txBox="1">
            <a:spLocks/>
          </p:cNvSpPr>
          <p:nvPr/>
        </p:nvSpPr>
        <p:spPr>
          <a:xfrm>
            <a:off x="228142" y="1142286"/>
            <a:ext cx="11707462" cy="5622029"/>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pPr>
            <a:r>
              <a:rPr lang="en-US" b="1" dirty="0"/>
              <a:t>Three classification techniques were applied are as follows:</a:t>
            </a:r>
          </a:p>
          <a:p>
            <a:pPr>
              <a:lnSpc>
                <a:spcPct val="150000"/>
              </a:lnSpc>
              <a:buFontTx/>
              <a:buChar char="-"/>
            </a:pPr>
            <a:r>
              <a:rPr lang="en-US" b="1" dirty="0"/>
              <a:t>Decision Tree </a:t>
            </a:r>
            <a:r>
              <a:rPr lang="en-US" dirty="0"/>
              <a:t>(interpretable rule-based model) </a:t>
            </a:r>
          </a:p>
          <a:p>
            <a:pPr lvl="1">
              <a:lnSpc>
                <a:spcPct val="150000"/>
              </a:lnSpc>
              <a:buFont typeface="Wingdings" panose="05000000000000000000" pitchFamily="2" charset="2"/>
              <a:buChar char="ü"/>
            </a:pPr>
            <a:r>
              <a:rPr lang="en-US" sz="1800" dirty="0"/>
              <a:t>Implemented using </a:t>
            </a:r>
            <a:r>
              <a:rPr lang="en-US" sz="1800" b="1" dirty="0"/>
              <a:t>Random Forest </a:t>
            </a:r>
            <a:r>
              <a:rPr lang="en-US" sz="1800" dirty="0"/>
              <a:t>with a small number of trees for stability</a:t>
            </a:r>
          </a:p>
          <a:p>
            <a:pPr lvl="1">
              <a:lnSpc>
                <a:spcPct val="150000"/>
              </a:lnSpc>
              <a:buFont typeface="Wingdings" panose="05000000000000000000" pitchFamily="2" charset="2"/>
              <a:buChar char="ü"/>
            </a:pPr>
            <a:r>
              <a:rPr lang="en-US" sz="1800" b="1" dirty="0" err="1"/>
              <a:t>rpart</a:t>
            </a:r>
            <a:r>
              <a:rPr lang="en-US" sz="1800" dirty="0"/>
              <a:t> was used for visual interpretation of tree structure &amp; to display fitted tree information</a:t>
            </a:r>
          </a:p>
          <a:p>
            <a:pPr>
              <a:lnSpc>
                <a:spcPct val="150000"/>
              </a:lnSpc>
              <a:buFontTx/>
              <a:buChar char="-"/>
            </a:pPr>
            <a:r>
              <a:rPr lang="en-US" b="1" dirty="0"/>
              <a:t>Logistic Regression </a:t>
            </a:r>
            <a:r>
              <a:rPr lang="en-US" dirty="0"/>
              <a:t>(linear baseline model)</a:t>
            </a:r>
          </a:p>
          <a:p>
            <a:pPr lvl="1">
              <a:lnSpc>
                <a:spcPct val="150000"/>
              </a:lnSpc>
              <a:buFont typeface="Wingdings" panose="05000000000000000000" pitchFamily="2" charset="2"/>
              <a:buChar char="ü"/>
            </a:pPr>
            <a:r>
              <a:rPr lang="en-US" sz="1800" dirty="0"/>
              <a:t>To captures linear relationships in downtime </a:t>
            </a:r>
            <a:r>
              <a:rPr lang="en-US" sz="1800" dirty="0" err="1"/>
              <a:t>behaviour</a:t>
            </a:r>
            <a:endParaRPr lang="en-US" sz="1800" dirty="0"/>
          </a:p>
          <a:p>
            <a:pPr>
              <a:lnSpc>
                <a:spcPct val="150000"/>
              </a:lnSpc>
              <a:buFontTx/>
              <a:buChar char="-"/>
            </a:pPr>
            <a:r>
              <a:rPr lang="en-US" b="1" dirty="0"/>
              <a:t>Naive Bayes </a:t>
            </a:r>
            <a:r>
              <a:rPr lang="en-US" dirty="0"/>
              <a:t>(probabilistic independence model)</a:t>
            </a:r>
          </a:p>
          <a:p>
            <a:pPr lvl="1">
              <a:lnSpc>
                <a:spcPct val="150000"/>
              </a:lnSpc>
              <a:buFont typeface="Wingdings" panose="05000000000000000000" pitchFamily="2" charset="2"/>
              <a:buChar char="ü"/>
            </a:pPr>
            <a:r>
              <a:rPr lang="en-US" sz="1800" dirty="0"/>
              <a:t>For assuming conditional independence between predictors in our model</a:t>
            </a:r>
          </a:p>
          <a:p>
            <a:pPr marL="0" indent="0">
              <a:lnSpc>
                <a:spcPct val="150000"/>
              </a:lnSpc>
              <a:buNone/>
            </a:pPr>
            <a:endParaRPr lang="en-US" b="1" dirty="0"/>
          </a:p>
          <a:p>
            <a:pPr marL="0" indent="0">
              <a:buNone/>
            </a:pPr>
            <a:endParaRPr lang="en-US" dirty="0"/>
          </a:p>
        </p:txBody>
      </p:sp>
      <p:sp>
        <p:nvSpPr>
          <p:cNvPr id="5" name="Rectangle 4">
            <a:extLst>
              <a:ext uri="{FF2B5EF4-FFF2-40B4-BE49-F238E27FC236}">
                <a16:creationId xmlns:a16="http://schemas.microsoft.com/office/drawing/2014/main" id="{14D316CE-BA63-4585-DFB7-6EC3F4566F73}"/>
              </a:ext>
            </a:extLst>
          </p:cNvPr>
          <p:cNvSpPr/>
          <p:nvPr/>
        </p:nvSpPr>
        <p:spPr>
          <a:xfrm>
            <a:off x="0" y="244549"/>
            <a:ext cx="212651" cy="785690"/>
          </a:xfrm>
          <a:prstGeom prst="rect">
            <a:avLst/>
          </a:prstGeom>
          <a:solidFill>
            <a:srgbClr val="C80000"/>
          </a:solidFill>
          <a:ln>
            <a:solidFill>
              <a:srgbClr val="C8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srgbClr val="C80000"/>
              </a:solidFill>
              <a:effectLst/>
              <a:uLnTx/>
              <a:uFillTx/>
              <a:latin typeface="Calibri" panose="020F0502020204030204"/>
              <a:ea typeface="+mn-ea"/>
              <a:cs typeface="+mn-cs"/>
            </a:endParaRPr>
          </a:p>
        </p:txBody>
      </p:sp>
      <p:cxnSp>
        <p:nvCxnSpPr>
          <p:cNvPr id="6" name="Straight Connector 5">
            <a:extLst>
              <a:ext uri="{FF2B5EF4-FFF2-40B4-BE49-F238E27FC236}">
                <a16:creationId xmlns:a16="http://schemas.microsoft.com/office/drawing/2014/main" id="{38C8983E-0F76-F997-D466-989AFF980191}"/>
              </a:ext>
            </a:extLst>
          </p:cNvPr>
          <p:cNvCxnSpPr>
            <a:cxnSpLocks/>
          </p:cNvCxnSpPr>
          <p:nvPr/>
        </p:nvCxnSpPr>
        <p:spPr>
          <a:xfrm>
            <a:off x="345839" y="1030239"/>
            <a:ext cx="11589765" cy="0"/>
          </a:xfrm>
          <a:prstGeom prst="line">
            <a:avLst/>
          </a:prstGeom>
          <a:ln w="38100">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F3B4A22E-AF75-104F-14D6-3BF7281A3923}"/>
              </a:ext>
            </a:extLst>
          </p:cNvPr>
          <p:cNvSpPr txBox="1"/>
          <p:nvPr/>
        </p:nvSpPr>
        <p:spPr>
          <a:xfrm>
            <a:off x="5439697" y="1519903"/>
            <a:ext cx="6100916" cy="369332"/>
          </a:xfrm>
          <a:prstGeom prst="rect">
            <a:avLst/>
          </a:prstGeom>
          <a:noFill/>
        </p:spPr>
        <p:txBody>
          <a:bodyPr wrap="square">
            <a:spAutoFit/>
          </a:bodyPr>
          <a:lstStyle/>
          <a:p>
            <a:pPr>
              <a:buNone/>
            </a:pPr>
            <a:endParaRPr lang="en-US" b="1" dirty="0"/>
          </a:p>
        </p:txBody>
      </p:sp>
    </p:spTree>
    <p:extLst>
      <p:ext uri="{BB962C8B-B14F-4D97-AF65-F5344CB8AC3E}">
        <p14:creationId xmlns:p14="http://schemas.microsoft.com/office/powerpoint/2010/main" val="12987751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F48CA2-C3EC-F7D4-AF29-7F8A1D4C431E}"/>
              </a:ext>
            </a:extLst>
          </p:cNvPr>
          <p:cNvSpPr>
            <a:spLocks noGrp="1"/>
          </p:cNvSpPr>
          <p:nvPr>
            <p:ph type="title"/>
          </p:nvPr>
        </p:nvSpPr>
        <p:spPr>
          <a:xfrm>
            <a:off x="839788" y="-269631"/>
            <a:ext cx="5045197" cy="1600200"/>
          </a:xfrm>
        </p:spPr>
        <p:txBody>
          <a:bodyPr/>
          <a:lstStyle/>
          <a:p>
            <a:r>
              <a:rPr lang="en-US" b="1" dirty="0">
                <a:solidFill>
                  <a:srgbClr val="C00000"/>
                </a:solidFill>
              </a:rPr>
              <a:t>Model Evaluation &amp; Results</a:t>
            </a:r>
            <a:br>
              <a:rPr lang="en-US" b="1" dirty="0">
                <a:solidFill>
                  <a:srgbClr val="C00000"/>
                </a:solidFill>
              </a:rPr>
            </a:br>
            <a:endParaRPr lang="en-US" dirty="0"/>
          </a:p>
        </p:txBody>
      </p:sp>
      <p:sp>
        <p:nvSpPr>
          <p:cNvPr id="4" name="Text Placeholder 3">
            <a:extLst>
              <a:ext uri="{FF2B5EF4-FFF2-40B4-BE49-F238E27FC236}">
                <a16:creationId xmlns:a16="http://schemas.microsoft.com/office/drawing/2014/main" id="{30C8AF1B-F028-D79E-F42A-C21B7F70592E}"/>
              </a:ext>
            </a:extLst>
          </p:cNvPr>
          <p:cNvSpPr>
            <a:spLocks noGrp="1"/>
          </p:cNvSpPr>
          <p:nvPr>
            <p:ph type="body" sz="half" idx="2"/>
          </p:nvPr>
        </p:nvSpPr>
        <p:spPr>
          <a:xfrm>
            <a:off x="839788" y="1189892"/>
            <a:ext cx="5259749" cy="4722630"/>
          </a:xfrm>
        </p:spPr>
        <p:txBody>
          <a:bodyPr vert="horz" lIns="91440" tIns="45720" rIns="91440" bIns="45720" rtlCol="0" anchor="t">
            <a:normAutofit fontScale="85000" lnSpcReduction="20000"/>
          </a:bodyPr>
          <a:lstStyle/>
          <a:p>
            <a:r>
              <a:rPr lang="en-US" sz="2200" dirty="0"/>
              <a:t>Used 70:30 split ensuring class representation.</a:t>
            </a:r>
            <a:endParaRPr lang="en-US" dirty="0"/>
          </a:p>
          <a:p>
            <a:r>
              <a:rPr lang="en-US" sz="3200" b="1" dirty="0">
                <a:solidFill>
                  <a:srgbClr val="C00000"/>
                </a:solidFill>
                <a:latin typeface="Aptos Display (Headings)"/>
              </a:rPr>
              <a:t>Best Model Selection </a:t>
            </a:r>
            <a:r>
              <a:rPr lang="en-US" sz="3200" b="1" dirty="0">
                <a:solidFill>
                  <a:srgbClr val="C00000"/>
                </a:solidFill>
              </a:rPr>
              <a:t>:</a:t>
            </a:r>
          </a:p>
          <a:p>
            <a:pPr>
              <a:buFontTx/>
              <a:buChar char="-"/>
            </a:pPr>
            <a:r>
              <a:rPr lang="en-US" sz="2800" dirty="0"/>
              <a:t> </a:t>
            </a:r>
            <a:r>
              <a:rPr lang="en-US" sz="2800" b="1" dirty="0"/>
              <a:t>Evaluation metric</a:t>
            </a:r>
            <a:r>
              <a:rPr lang="en-US" sz="2800" dirty="0"/>
              <a:t>: </a:t>
            </a:r>
            <a:r>
              <a:rPr lang="en-US" sz="2200" dirty="0"/>
              <a:t>AUC (Area Under Curve) - We use AUC instead of F1 because : - downtime data is often imbalanced</a:t>
            </a:r>
            <a:endParaRPr lang="en-US" sz="3200" b="1" dirty="0">
              <a:solidFill>
                <a:srgbClr val="C00000"/>
              </a:solidFill>
            </a:endParaRPr>
          </a:p>
          <a:p>
            <a:pPr>
              <a:buFontTx/>
              <a:buChar char="-"/>
            </a:pPr>
            <a:r>
              <a:rPr lang="en-US" sz="2100" b="1"/>
              <a:t>The Decision Tree achieved the highest AUC -  </a:t>
            </a:r>
            <a:r>
              <a:rPr lang="en-US" sz="2100"/>
              <a:t>proving</a:t>
            </a:r>
            <a:r>
              <a:rPr lang="en-US" sz="2100" dirty="0"/>
              <a:t> the strongest predictive </a:t>
            </a:r>
            <a:r>
              <a:rPr lang="en-US" sz="2100"/>
              <a:t>performance on the held‑out test set and the Best bias- variance trade-off</a:t>
            </a:r>
          </a:p>
          <a:p>
            <a:pPr>
              <a:buFontTx/>
              <a:buChar char="-"/>
            </a:pPr>
            <a:r>
              <a:rPr lang="en-US" sz="2100" b="1" dirty="0"/>
              <a:t>Logistic Regression showed lower performance</a:t>
            </a:r>
            <a:r>
              <a:rPr lang="en-US" sz="2100" dirty="0"/>
              <a:t>, with mild underfitting, as its linear structure limited its ability to capture non‑linear and threshold‑based patterns in maintenance </a:t>
            </a:r>
            <a:r>
              <a:rPr lang="en-US" sz="2100" dirty="0" err="1"/>
              <a:t>behaviour</a:t>
            </a:r>
            <a:r>
              <a:rPr lang="en-US" sz="2100" dirty="0"/>
              <a:t>.</a:t>
            </a:r>
          </a:p>
          <a:p>
            <a:pPr>
              <a:buFontTx/>
              <a:buChar char="-"/>
            </a:pPr>
            <a:r>
              <a:rPr lang="en-US" sz="2100" b="1" dirty="0"/>
              <a:t>Naïve Bayes performed poorest – </a:t>
            </a:r>
            <a:r>
              <a:rPr lang="en-US" sz="2100" dirty="0"/>
              <a:t>Underfits the </a:t>
            </a:r>
            <a:r>
              <a:rPr lang="en-US" sz="2100"/>
              <a:t>data,  due to</a:t>
            </a:r>
            <a:r>
              <a:rPr lang="en-US" sz="2100" dirty="0"/>
              <a:t> violations of the conditional independence assumption after data cleaning and </a:t>
            </a:r>
            <a:r>
              <a:rPr lang="en-US" sz="2100"/>
              <a:t>leakage removal. Results in high bias and weak ROC performance. </a:t>
            </a:r>
            <a:endParaRPr lang="en-US" sz="2100" dirty="0"/>
          </a:p>
          <a:p>
            <a:pPr>
              <a:buFontTx/>
              <a:buChar char="-"/>
            </a:pPr>
            <a:endParaRPr lang="en-US" dirty="0"/>
          </a:p>
          <a:p>
            <a:endParaRPr lang="en-US" dirty="0"/>
          </a:p>
        </p:txBody>
      </p:sp>
      <p:pic>
        <p:nvPicPr>
          <p:cNvPr id="10" name="Content Placeholder 9">
            <a:extLst>
              <a:ext uri="{FF2B5EF4-FFF2-40B4-BE49-F238E27FC236}">
                <a16:creationId xmlns:a16="http://schemas.microsoft.com/office/drawing/2014/main" id="{19D6A491-A680-4F54-F0EA-8D210317DFEF}"/>
              </a:ext>
            </a:extLst>
          </p:cNvPr>
          <p:cNvPicPr>
            <a:picLocks noGrp="1" noChangeAspect="1"/>
          </p:cNvPicPr>
          <p:nvPr>
            <p:ph idx="1"/>
          </p:nvPr>
        </p:nvPicPr>
        <p:blipFill>
          <a:blip r:embed="rId3"/>
          <a:stretch>
            <a:fillRect/>
          </a:stretch>
        </p:blipFill>
        <p:spPr>
          <a:xfrm>
            <a:off x="6722322" y="2785048"/>
            <a:ext cx="5270227" cy="3504987"/>
          </a:xfrm>
          <a:prstGeom prst="rect">
            <a:avLst/>
          </a:prstGeom>
        </p:spPr>
      </p:pic>
      <p:pic>
        <p:nvPicPr>
          <p:cNvPr id="9" name="Picture 8">
            <a:extLst>
              <a:ext uri="{FF2B5EF4-FFF2-40B4-BE49-F238E27FC236}">
                <a16:creationId xmlns:a16="http://schemas.microsoft.com/office/drawing/2014/main" id="{9C7B43A1-4D43-A480-506B-C4D22635EA77}"/>
              </a:ext>
            </a:extLst>
          </p:cNvPr>
          <p:cNvPicPr>
            <a:picLocks noChangeAspect="1"/>
          </p:cNvPicPr>
          <p:nvPr/>
        </p:nvPicPr>
        <p:blipFill>
          <a:blip r:embed="rId4"/>
          <a:stretch>
            <a:fillRect/>
          </a:stretch>
        </p:blipFill>
        <p:spPr>
          <a:xfrm>
            <a:off x="7342799" y="249997"/>
            <a:ext cx="4009413" cy="2161143"/>
          </a:xfrm>
          <a:prstGeom prst="rect">
            <a:avLst/>
          </a:prstGeom>
        </p:spPr>
      </p:pic>
      <p:sp>
        <p:nvSpPr>
          <p:cNvPr id="5" name="TextBox 4">
            <a:extLst>
              <a:ext uri="{FF2B5EF4-FFF2-40B4-BE49-F238E27FC236}">
                <a16:creationId xmlns:a16="http://schemas.microsoft.com/office/drawing/2014/main" id="{8A4B02A0-639E-E10A-29A7-8CE065A8A6D6}"/>
              </a:ext>
            </a:extLst>
          </p:cNvPr>
          <p:cNvSpPr txBox="1"/>
          <p:nvPr/>
        </p:nvSpPr>
        <p:spPr>
          <a:xfrm>
            <a:off x="8927000" y="1351947"/>
            <a:ext cx="1244524" cy="246221"/>
          </a:xfrm>
          <a:prstGeom prst="rect">
            <a:avLst/>
          </a:prstGeom>
          <a:noFill/>
        </p:spPr>
        <p:txBody>
          <a:bodyPr wrap="square" rtlCol="0">
            <a:spAutoFit/>
          </a:bodyPr>
          <a:lstStyle/>
          <a:p>
            <a:r>
              <a:rPr lang="en-ZA" sz="1000" dirty="0"/>
              <a:t>Decision Tree</a:t>
            </a:r>
            <a:endParaRPr lang="en-US" sz="1000" dirty="0"/>
          </a:p>
        </p:txBody>
      </p:sp>
    </p:spTree>
    <p:extLst>
      <p:ext uri="{BB962C8B-B14F-4D97-AF65-F5344CB8AC3E}">
        <p14:creationId xmlns:p14="http://schemas.microsoft.com/office/powerpoint/2010/main" val="21489325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C9DB3B-87DE-651E-A949-354C0854C703}"/>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463C59A4-C219-45E1-4BC0-C6E358811C3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902951" y="170579"/>
            <a:ext cx="2048257" cy="747614"/>
          </a:xfrm>
          <a:prstGeom prst="rect">
            <a:avLst/>
          </a:prstGeom>
        </p:spPr>
      </p:pic>
      <p:sp>
        <p:nvSpPr>
          <p:cNvPr id="3" name="Content Placeholder 2">
            <a:extLst>
              <a:ext uri="{FF2B5EF4-FFF2-40B4-BE49-F238E27FC236}">
                <a16:creationId xmlns:a16="http://schemas.microsoft.com/office/drawing/2014/main" id="{646EC864-1F90-2868-B0BB-66FF40DEF0C7}"/>
              </a:ext>
            </a:extLst>
          </p:cNvPr>
          <p:cNvSpPr txBox="1">
            <a:spLocks/>
          </p:cNvSpPr>
          <p:nvPr/>
        </p:nvSpPr>
        <p:spPr>
          <a:xfrm>
            <a:off x="403504" y="415048"/>
            <a:ext cx="9271437" cy="420682"/>
          </a:xfrm>
          <a:prstGeom prst="rect">
            <a:avLst/>
          </a:prstGeom>
        </p:spPr>
        <p:txBody>
          <a:bodyPr lIns="91440" tIns="45720" rIns="91440" bIns="4572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ts val="2900"/>
              </a:lnSpc>
              <a:spcBef>
                <a:spcPts val="0"/>
              </a:spcBef>
              <a:spcAft>
                <a:spcPts val="600"/>
              </a:spcAft>
              <a:buNone/>
            </a:pPr>
            <a:r>
              <a:rPr lang="en-US" b="1">
                <a:solidFill>
                  <a:srgbClr val="C00000"/>
                </a:solidFill>
                <a:latin typeface="Aptos (Body)"/>
              </a:rPr>
              <a:t>Model Interpretation Results</a:t>
            </a:r>
            <a:endParaRPr lang="en-US" b="1" dirty="0">
              <a:solidFill>
                <a:srgbClr val="C00000"/>
              </a:solidFill>
              <a:latin typeface="Aptos (Body)"/>
            </a:endParaRPr>
          </a:p>
        </p:txBody>
      </p:sp>
      <p:sp>
        <p:nvSpPr>
          <p:cNvPr id="5" name="Rectangle 4">
            <a:extLst>
              <a:ext uri="{FF2B5EF4-FFF2-40B4-BE49-F238E27FC236}">
                <a16:creationId xmlns:a16="http://schemas.microsoft.com/office/drawing/2014/main" id="{9901EC50-94BC-2DBA-60C6-8F8233ADF497}"/>
              </a:ext>
            </a:extLst>
          </p:cNvPr>
          <p:cNvSpPr/>
          <p:nvPr/>
        </p:nvSpPr>
        <p:spPr>
          <a:xfrm>
            <a:off x="0" y="244549"/>
            <a:ext cx="212651" cy="785690"/>
          </a:xfrm>
          <a:prstGeom prst="rect">
            <a:avLst/>
          </a:prstGeom>
          <a:solidFill>
            <a:srgbClr val="C80000"/>
          </a:solidFill>
          <a:ln>
            <a:solidFill>
              <a:srgbClr val="C8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srgbClr val="C80000"/>
              </a:solidFill>
              <a:effectLst/>
              <a:uLnTx/>
              <a:uFillTx/>
              <a:latin typeface="Calibri" panose="020F0502020204030204"/>
              <a:ea typeface="+mn-ea"/>
              <a:cs typeface="+mn-cs"/>
            </a:endParaRPr>
          </a:p>
        </p:txBody>
      </p:sp>
      <p:cxnSp>
        <p:nvCxnSpPr>
          <p:cNvPr id="6" name="Straight Connector 5">
            <a:extLst>
              <a:ext uri="{FF2B5EF4-FFF2-40B4-BE49-F238E27FC236}">
                <a16:creationId xmlns:a16="http://schemas.microsoft.com/office/drawing/2014/main" id="{C1B6909D-1F3F-C517-CF72-C454E6CFD9DF}"/>
              </a:ext>
            </a:extLst>
          </p:cNvPr>
          <p:cNvCxnSpPr>
            <a:cxnSpLocks/>
          </p:cNvCxnSpPr>
          <p:nvPr/>
        </p:nvCxnSpPr>
        <p:spPr>
          <a:xfrm>
            <a:off x="345839" y="1030239"/>
            <a:ext cx="11589765" cy="0"/>
          </a:xfrm>
          <a:prstGeom prst="line">
            <a:avLst/>
          </a:prstGeom>
          <a:ln w="38100">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0A54F06A-6E95-33EB-EFBC-204842A66362}"/>
              </a:ext>
            </a:extLst>
          </p:cNvPr>
          <p:cNvSpPr txBox="1"/>
          <p:nvPr/>
        </p:nvSpPr>
        <p:spPr>
          <a:xfrm>
            <a:off x="5439697" y="1519903"/>
            <a:ext cx="6100916" cy="369332"/>
          </a:xfrm>
          <a:prstGeom prst="rect">
            <a:avLst/>
          </a:prstGeom>
          <a:noFill/>
        </p:spPr>
        <p:txBody>
          <a:bodyPr wrap="square">
            <a:spAutoFit/>
          </a:bodyPr>
          <a:lstStyle/>
          <a:p>
            <a:pPr>
              <a:buNone/>
            </a:pPr>
            <a:endParaRPr lang="en-US" b="1" dirty="0"/>
          </a:p>
        </p:txBody>
      </p:sp>
      <p:graphicFrame>
        <p:nvGraphicFramePr>
          <p:cNvPr id="7" name="Table 6">
            <a:extLst>
              <a:ext uri="{FF2B5EF4-FFF2-40B4-BE49-F238E27FC236}">
                <a16:creationId xmlns:a16="http://schemas.microsoft.com/office/drawing/2014/main" id="{99BB35F8-5408-0CA2-6816-4D07ADEFE601}"/>
              </a:ext>
            </a:extLst>
          </p:cNvPr>
          <p:cNvGraphicFramePr>
            <a:graphicFrameLocks noGrp="1"/>
          </p:cNvGraphicFramePr>
          <p:nvPr>
            <p:extLst>
              <p:ext uri="{D42A27DB-BD31-4B8C-83A1-F6EECF244321}">
                <p14:modId xmlns:p14="http://schemas.microsoft.com/office/powerpoint/2010/main" val="3885204198"/>
              </p:ext>
            </p:extLst>
          </p:nvPr>
        </p:nvGraphicFramePr>
        <p:xfrm>
          <a:off x="113868" y="1340602"/>
          <a:ext cx="11944272" cy="5821506"/>
        </p:xfrm>
        <a:graphic>
          <a:graphicData uri="http://schemas.openxmlformats.org/drawingml/2006/table">
            <a:tbl>
              <a:tblPr firstRow="1" bandRow="1">
                <a:tableStyleId>{5C22544A-7EE6-4342-B048-85BDC9FD1C3A}</a:tableStyleId>
              </a:tblPr>
              <a:tblGrid>
                <a:gridCol w="2986068">
                  <a:extLst>
                    <a:ext uri="{9D8B030D-6E8A-4147-A177-3AD203B41FA5}">
                      <a16:colId xmlns:a16="http://schemas.microsoft.com/office/drawing/2014/main" val="3369706278"/>
                    </a:ext>
                  </a:extLst>
                </a:gridCol>
                <a:gridCol w="2952641">
                  <a:extLst>
                    <a:ext uri="{9D8B030D-6E8A-4147-A177-3AD203B41FA5}">
                      <a16:colId xmlns:a16="http://schemas.microsoft.com/office/drawing/2014/main" val="3562511263"/>
                    </a:ext>
                  </a:extLst>
                </a:gridCol>
                <a:gridCol w="3019495">
                  <a:extLst>
                    <a:ext uri="{9D8B030D-6E8A-4147-A177-3AD203B41FA5}">
                      <a16:colId xmlns:a16="http://schemas.microsoft.com/office/drawing/2014/main" val="1432743236"/>
                    </a:ext>
                  </a:extLst>
                </a:gridCol>
                <a:gridCol w="2986068">
                  <a:extLst>
                    <a:ext uri="{9D8B030D-6E8A-4147-A177-3AD203B41FA5}">
                      <a16:colId xmlns:a16="http://schemas.microsoft.com/office/drawing/2014/main" val="3267738666"/>
                    </a:ext>
                  </a:extLst>
                </a:gridCol>
              </a:tblGrid>
              <a:tr h="1310553">
                <a:tc>
                  <a:txBody>
                    <a:bodyPr/>
                    <a:lstStyle/>
                    <a:p>
                      <a:r>
                        <a:rPr lang="en-US"/>
                        <a:t>Model</a:t>
                      </a:r>
                    </a:p>
                  </a:txBody>
                  <a:tcPr/>
                </a:tc>
                <a:tc>
                  <a:txBody>
                    <a:bodyPr/>
                    <a:lstStyle/>
                    <a:p>
                      <a:r>
                        <a:rPr lang="en-US"/>
                        <a:t>Observed Performance</a:t>
                      </a:r>
                    </a:p>
                    <a:p>
                      <a:pPr lvl="0">
                        <a:buNone/>
                      </a:pPr>
                      <a:r>
                        <a:rPr lang="en-US"/>
                        <a:t> (ROC/AUC)</a:t>
                      </a:r>
                    </a:p>
                  </a:txBody>
                  <a:tcPr/>
                </a:tc>
                <a:tc>
                  <a:txBody>
                    <a:bodyPr/>
                    <a:lstStyle/>
                    <a:p>
                      <a:r>
                        <a:rPr lang="en-US"/>
                        <a:t>Bias/ Variance</a:t>
                      </a:r>
                    </a:p>
                  </a:txBody>
                  <a:tcPr/>
                </a:tc>
                <a:tc>
                  <a:txBody>
                    <a:bodyPr/>
                    <a:lstStyle/>
                    <a:p>
                      <a:r>
                        <a:rPr lang="en-US"/>
                        <a:t>Interpretation in the project. </a:t>
                      </a:r>
                    </a:p>
                  </a:txBody>
                  <a:tcPr/>
                </a:tc>
                <a:extLst>
                  <a:ext uri="{0D108BD9-81ED-4DB2-BD59-A6C34878D82A}">
                    <a16:rowId xmlns:a16="http://schemas.microsoft.com/office/drawing/2014/main" val="674301985"/>
                  </a:ext>
                </a:extLst>
              </a:tr>
              <a:tr h="1310553">
                <a:tc>
                  <a:txBody>
                    <a:bodyPr/>
                    <a:lstStyle/>
                    <a:p>
                      <a:pPr marL="342900" indent="-342900">
                        <a:buAutoNum type="arabicPeriod"/>
                      </a:pPr>
                      <a:r>
                        <a:rPr lang="en-US"/>
                        <a:t>Decision Tree</a:t>
                      </a:r>
                      <a:endParaRPr lang="en-US" dirty="0"/>
                    </a:p>
                  </a:txBody>
                  <a:tcPr/>
                </a:tc>
                <a:tc>
                  <a:txBody>
                    <a:bodyPr/>
                    <a:lstStyle/>
                    <a:p>
                      <a:r>
                        <a:rPr lang="en-US" dirty="0"/>
                        <a:t>Highest AUC; strongest ROC curve </a:t>
                      </a:r>
                      <a:r>
                        <a:rPr lang="en-US"/>
                        <a:t>separation. </a:t>
                      </a:r>
                      <a:endParaRPr lang="en-US" dirty="0"/>
                    </a:p>
                  </a:txBody>
                  <a:tcPr/>
                </a:tc>
                <a:tc>
                  <a:txBody>
                    <a:bodyPr/>
                    <a:lstStyle/>
                    <a:p>
                      <a:r>
                        <a:rPr lang="en-US"/>
                        <a:t>Balanced bias-variance</a:t>
                      </a:r>
                      <a:r>
                        <a:rPr lang="en-US" dirty="0"/>
                        <a:t> trade off</a:t>
                      </a:r>
                    </a:p>
                  </a:txBody>
                  <a:tcPr/>
                </a:tc>
                <a:tc>
                  <a:txBody>
                    <a:bodyPr/>
                    <a:lstStyle/>
                    <a:p>
                      <a:r>
                        <a:rPr lang="en-US" dirty="0"/>
                        <a:t>Best generalization model. Captures interactions effectively.  No clear evidence of over fitting due to controlled model complexity. </a:t>
                      </a:r>
                    </a:p>
                  </a:txBody>
                  <a:tcPr/>
                </a:tc>
                <a:extLst>
                  <a:ext uri="{0D108BD9-81ED-4DB2-BD59-A6C34878D82A}">
                    <a16:rowId xmlns:a16="http://schemas.microsoft.com/office/drawing/2014/main" val="1920158961"/>
                  </a:ext>
                </a:extLst>
              </a:tr>
              <a:tr h="1310553">
                <a:tc>
                  <a:txBody>
                    <a:bodyPr/>
                    <a:lstStyle/>
                    <a:p>
                      <a:r>
                        <a:rPr lang="en-US" dirty="0"/>
                        <a:t>2. </a:t>
                      </a:r>
                      <a:r>
                        <a:rPr lang="en-US"/>
                        <a:t>Logistic Regression </a:t>
                      </a:r>
                    </a:p>
                    <a:p>
                      <a:pPr lvl="0">
                        <a:buNone/>
                      </a:pPr>
                      <a:endParaRPr lang="en-US" dirty="0"/>
                    </a:p>
                  </a:txBody>
                  <a:tcPr/>
                </a:tc>
                <a:tc>
                  <a:txBody>
                    <a:bodyPr/>
                    <a:lstStyle/>
                    <a:p>
                      <a:r>
                        <a:rPr lang="en-US" dirty="0"/>
                        <a:t>Moderate AUC; ROC above </a:t>
                      </a:r>
                      <a:r>
                        <a:rPr lang="en-US" sz="1600" b="0" i="0" u="none" strike="noStrike" noProof="0">
                          <a:solidFill>
                            <a:srgbClr val="000000"/>
                          </a:solidFill>
                          <a:latin typeface="Segoe UI"/>
                          <a:cs typeface="Segoe UI"/>
                        </a:rPr>
                        <a:t>Naïve Bayes but below the Decision Tree. </a:t>
                      </a:r>
                      <a:endParaRPr lang="en-US"/>
                    </a:p>
                  </a:txBody>
                  <a:tcPr/>
                </a:tc>
                <a:tc>
                  <a:txBody>
                    <a:bodyPr/>
                    <a:lstStyle/>
                    <a:p>
                      <a:r>
                        <a:rPr lang="en-US"/>
                        <a:t>Moderate bias, low variance </a:t>
                      </a:r>
                    </a:p>
                  </a:txBody>
                  <a:tcPr/>
                </a:tc>
                <a:tc>
                  <a:txBody>
                    <a:bodyPr/>
                    <a:lstStyle/>
                    <a:p>
                      <a:r>
                        <a:rPr lang="en-US" dirty="0"/>
                        <a:t>Mild underfitting. The linear structure cannot adequately model non-linear and threshold-based </a:t>
                      </a:r>
                      <a:r>
                        <a:rPr lang="en-US"/>
                        <a:t>maintenance patterns. </a:t>
                      </a:r>
                      <a:endParaRPr lang="en-US" dirty="0"/>
                    </a:p>
                  </a:txBody>
                  <a:tcPr/>
                </a:tc>
                <a:extLst>
                  <a:ext uri="{0D108BD9-81ED-4DB2-BD59-A6C34878D82A}">
                    <a16:rowId xmlns:a16="http://schemas.microsoft.com/office/drawing/2014/main" val="2569773055"/>
                  </a:ext>
                </a:extLst>
              </a:tr>
              <a:tr h="1310553">
                <a:tc>
                  <a:txBody>
                    <a:bodyPr/>
                    <a:lstStyle/>
                    <a:p>
                      <a:r>
                        <a:rPr lang="en-US" dirty="0"/>
                        <a:t>3. </a:t>
                      </a:r>
                      <a:r>
                        <a:rPr lang="en-US" sz="1600" b="0" i="0" u="none" strike="noStrike" noProof="0">
                          <a:latin typeface="Segoe UI"/>
                          <a:cs typeface="Segoe UI"/>
                        </a:rPr>
                        <a:t>Naïve Bayes</a:t>
                      </a:r>
                    </a:p>
                    <a:p>
                      <a:pPr lvl="0">
                        <a:buNone/>
                      </a:pPr>
                      <a:endParaRPr lang="en-US" dirty="0"/>
                    </a:p>
                  </a:txBody>
                  <a:tcPr/>
                </a:tc>
                <a:tc>
                  <a:txBody>
                    <a:bodyPr/>
                    <a:lstStyle/>
                    <a:p>
                      <a:r>
                        <a:rPr lang="en-US"/>
                        <a:t>Lowest AUC; ROC curve closer to  diagonal </a:t>
                      </a:r>
                    </a:p>
                  </a:txBody>
                  <a:tcPr/>
                </a:tc>
                <a:tc>
                  <a:txBody>
                    <a:bodyPr/>
                    <a:lstStyle/>
                    <a:p>
                      <a:r>
                        <a:rPr lang="en-US" dirty="0"/>
                        <a:t>High </a:t>
                      </a:r>
                      <a:r>
                        <a:rPr lang="en-US"/>
                        <a:t>bias, low variance</a:t>
                      </a:r>
                    </a:p>
                  </a:txBody>
                  <a:tcPr/>
                </a:tc>
                <a:tc>
                  <a:txBody>
                    <a:bodyPr/>
                    <a:lstStyle/>
                    <a:p>
                      <a:r>
                        <a:rPr lang="en-US" dirty="0"/>
                        <a:t>Strong underfitting due to conditional independence assumption. Results in a weak discrimina</a:t>
                      </a:r>
                      <a:r>
                        <a:rPr lang="en-US"/>
                        <a:t>tive ability. </a:t>
                      </a:r>
                      <a:endParaRPr lang="en-US" dirty="0"/>
                    </a:p>
                  </a:txBody>
                  <a:tcPr/>
                </a:tc>
                <a:extLst>
                  <a:ext uri="{0D108BD9-81ED-4DB2-BD59-A6C34878D82A}">
                    <a16:rowId xmlns:a16="http://schemas.microsoft.com/office/drawing/2014/main" val="2959601924"/>
                  </a:ext>
                </a:extLst>
              </a:tr>
            </a:tbl>
          </a:graphicData>
        </a:graphic>
      </p:graphicFrame>
    </p:spTree>
    <p:extLst>
      <p:ext uri="{BB962C8B-B14F-4D97-AF65-F5344CB8AC3E}">
        <p14:creationId xmlns:p14="http://schemas.microsoft.com/office/powerpoint/2010/main" val="4439653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F4FF06-D6D5-055B-CCD3-32A0B79A839C}"/>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1308EE82-1639-3390-4870-B9D20A4EB52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902951" y="170579"/>
            <a:ext cx="2048257" cy="747614"/>
          </a:xfrm>
          <a:prstGeom prst="rect">
            <a:avLst/>
          </a:prstGeom>
        </p:spPr>
      </p:pic>
      <p:sp>
        <p:nvSpPr>
          <p:cNvPr id="3" name="Content Placeholder 2">
            <a:extLst>
              <a:ext uri="{FF2B5EF4-FFF2-40B4-BE49-F238E27FC236}">
                <a16:creationId xmlns:a16="http://schemas.microsoft.com/office/drawing/2014/main" id="{A28AA4B4-1A31-DDD0-6A28-36192AE9C424}"/>
              </a:ext>
            </a:extLst>
          </p:cNvPr>
          <p:cNvSpPr txBox="1">
            <a:spLocks/>
          </p:cNvSpPr>
          <p:nvPr/>
        </p:nvSpPr>
        <p:spPr>
          <a:xfrm>
            <a:off x="403504" y="415048"/>
            <a:ext cx="9271437" cy="420682"/>
          </a:xfrm>
          <a:prstGeom prst="rect">
            <a:avLst/>
          </a:prstGeom>
        </p:spPr>
        <p:txBody>
          <a:bodyPr lIns="91440" tIns="45720" rIns="91440" bIns="4572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ts val="2900"/>
              </a:lnSpc>
              <a:spcBef>
                <a:spcPts val="0"/>
              </a:spcBef>
              <a:spcAft>
                <a:spcPts val="600"/>
              </a:spcAft>
              <a:buNone/>
            </a:pPr>
            <a:r>
              <a:rPr lang="en-ZA" b="1" dirty="0">
                <a:solidFill>
                  <a:srgbClr val="C00000"/>
                </a:solidFill>
              </a:rPr>
              <a:t>Top </a:t>
            </a:r>
            <a:r>
              <a:rPr lang="en-US" b="1" dirty="0">
                <a:solidFill>
                  <a:srgbClr val="C00000"/>
                </a:solidFill>
              </a:rPr>
              <a:t>5 most important features</a:t>
            </a:r>
          </a:p>
        </p:txBody>
      </p:sp>
      <p:sp>
        <p:nvSpPr>
          <p:cNvPr id="4" name="Content Placeholder 2">
            <a:extLst>
              <a:ext uri="{FF2B5EF4-FFF2-40B4-BE49-F238E27FC236}">
                <a16:creationId xmlns:a16="http://schemas.microsoft.com/office/drawing/2014/main" id="{81F2DFB9-892B-ABE5-625D-8F1D5C367469}"/>
              </a:ext>
            </a:extLst>
          </p:cNvPr>
          <p:cNvSpPr txBox="1">
            <a:spLocks/>
          </p:cNvSpPr>
          <p:nvPr/>
        </p:nvSpPr>
        <p:spPr>
          <a:xfrm>
            <a:off x="228142" y="1142286"/>
            <a:ext cx="11707462" cy="5622029"/>
          </a:xfrm>
          <a:prstGeom prst="rect">
            <a:avLst/>
          </a:prstGeom>
        </p:spPr>
        <p:txBody>
          <a:bodyPr lIns="91440" tIns="45720" rIns="91440" bIns="4572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Top predictive features (Decision Tree):</a:t>
            </a:r>
          </a:p>
          <a:p>
            <a:pPr marL="0" indent="0">
              <a:buNone/>
            </a:pPr>
            <a:r>
              <a:rPr lang="en-US" dirty="0"/>
              <a:t>- Downtime Duration</a:t>
            </a:r>
          </a:p>
          <a:p>
            <a:pPr marL="0" indent="0">
              <a:buNone/>
            </a:pPr>
            <a:r>
              <a:rPr lang="en-US" dirty="0"/>
              <a:t>- Fault Duration</a:t>
            </a:r>
          </a:p>
          <a:p>
            <a:pPr marL="0" indent="0">
              <a:buNone/>
            </a:pPr>
            <a:r>
              <a:rPr lang="en-US" dirty="0"/>
              <a:t>- Emergency Flag</a:t>
            </a:r>
          </a:p>
          <a:p>
            <a:pPr marL="0" indent="0">
              <a:buNone/>
            </a:pPr>
            <a:r>
              <a:rPr lang="en-US" dirty="0"/>
              <a:t>- Downtime Type</a:t>
            </a:r>
          </a:p>
          <a:p>
            <a:pPr marL="0" indent="0">
              <a:buNone/>
            </a:pPr>
            <a:r>
              <a:rPr lang="en-US" dirty="0"/>
              <a:t>- Hour of occurrence</a:t>
            </a:r>
          </a:p>
          <a:p>
            <a:pPr marL="0" indent="0">
              <a:buNone/>
            </a:pPr>
            <a:endParaRPr lang="en-US" dirty="0">
              <a:solidFill>
                <a:srgbClr val="000000"/>
              </a:solidFill>
            </a:endParaRPr>
          </a:p>
        </p:txBody>
      </p:sp>
      <p:sp>
        <p:nvSpPr>
          <p:cNvPr id="5" name="Rectangle 4">
            <a:extLst>
              <a:ext uri="{FF2B5EF4-FFF2-40B4-BE49-F238E27FC236}">
                <a16:creationId xmlns:a16="http://schemas.microsoft.com/office/drawing/2014/main" id="{95191B54-F956-9613-A740-4E2723A1791A}"/>
              </a:ext>
            </a:extLst>
          </p:cNvPr>
          <p:cNvSpPr/>
          <p:nvPr/>
        </p:nvSpPr>
        <p:spPr>
          <a:xfrm>
            <a:off x="0" y="244549"/>
            <a:ext cx="212651" cy="785690"/>
          </a:xfrm>
          <a:prstGeom prst="rect">
            <a:avLst/>
          </a:prstGeom>
          <a:solidFill>
            <a:srgbClr val="C80000"/>
          </a:solidFill>
          <a:ln>
            <a:solidFill>
              <a:srgbClr val="C8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srgbClr val="C80000"/>
              </a:solidFill>
              <a:effectLst/>
              <a:uLnTx/>
              <a:uFillTx/>
              <a:latin typeface="Calibri" panose="020F0502020204030204"/>
              <a:ea typeface="+mn-ea"/>
              <a:cs typeface="+mn-cs"/>
            </a:endParaRPr>
          </a:p>
        </p:txBody>
      </p:sp>
      <p:cxnSp>
        <p:nvCxnSpPr>
          <p:cNvPr id="6" name="Straight Connector 5">
            <a:extLst>
              <a:ext uri="{FF2B5EF4-FFF2-40B4-BE49-F238E27FC236}">
                <a16:creationId xmlns:a16="http://schemas.microsoft.com/office/drawing/2014/main" id="{F2382E26-0177-2902-CD58-C33D4FE2B692}"/>
              </a:ext>
            </a:extLst>
          </p:cNvPr>
          <p:cNvCxnSpPr>
            <a:cxnSpLocks/>
          </p:cNvCxnSpPr>
          <p:nvPr/>
        </p:nvCxnSpPr>
        <p:spPr>
          <a:xfrm>
            <a:off x="345839" y="1030239"/>
            <a:ext cx="11589765" cy="0"/>
          </a:xfrm>
          <a:prstGeom prst="line">
            <a:avLst/>
          </a:prstGeom>
          <a:ln w="38100">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B9CC4A1B-8A15-5E83-1FF5-91EC3DAA88DC}"/>
              </a:ext>
            </a:extLst>
          </p:cNvPr>
          <p:cNvSpPr txBox="1"/>
          <p:nvPr/>
        </p:nvSpPr>
        <p:spPr>
          <a:xfrm>
            <a:off x="5439697" y="1519903"/>
            <a:ext cx="6100916" cy="369332"/>
          </a:xfrm>
          <a:prstGeom prst="rect">
            <a:avLst/>
          </a:prstGeom>
          <a:noFill/>
        </p:spPr>
        <p:txBody>
          <a:bodyPr wrap="square">
            <a:spAutoFit/>
          </a:bodyPr>
          <a:lstStyle/>
          <a:p>
            <a:pPr>
              <a:buNone/>
            </a:pPr>
            <a:endParaRPr lang="en-US" b="1" dirty="0"/>
          </a:p>
        </p:txBody>
      </p:sp>
    </p:spTree>
    <p:extLst>
      <p:ext uri="{BB962C8B-B14F-4D97-AF65-F5344CB8AC3E}">
        <p14:creationId xmlns:p14="http://schemas.microsoft.com/office/powerpoint/2010/main" val="5856384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41A094-FF92-30C4-87DF-16FC7B25F1C0}"/>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9BFEDC17-FD27-1E18-AFDB-2EDFB7670B9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902951" y="170579"/>
            <a:ext cx="2048257" cy="747614"/>
          </a:xfrm>
          <a:prstGeom prst="rect">
            <a:avLst/>
          </a:prstGeom>
        </p:spPr>
      </p:pic>
      <p:sp>
        <p:nvSpPr>
          <p:cNvPr id="3" name="Content Placeholder 2">
            <a:extLst>
              <a:ext uri="{FF2B5EF4-FFF2-40B4-BE49-F238E27FC236}">
                <a16:creationId xmlns:a16="http://schemas.microsoft.com/office/drawing/2014/main" id="{D0617528-36D4-E22F-BDCD-51D7990D7041}"/>
              </a:ext>
            </a:extLst>
          </p:cNvPr>
          <p:cNvSpPr txBox="1">
            <a:spLocks/>
          </p:cNvSpPr>
          <p:nvPr/>
        </p:nvSpPr>
        <p:spPr>
          <a:xfrm>
            <a:off x="403504" y="415048"/>
            <a:ext cx="9271437" cy="420682"/>
          </a:xfrm>
          <a:prstGeom prst="rect">
            <a:avLst/>
          </a:prstGeom>
        </p:spPr>
        <p:txBody>
          <a:bodyPr lIns="91440" tIns="45720" rIns="91440" bIns="4572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ts val="2900"/>
              </a:lnSpc>
              <a:spcBef>
                <a:spcPts val="0"/>
              </a:spcBef>
              <a:spcAft>
                <a:spcPts val="600"/>
              </a:spcAft>
              <a:buNone/>
            </a:pPr>
            <a:r>
              <a:rPr lang="en-ZA" b="1">
                <a:solidFill>
                  <a:srgbClr val="C00000"/>
                </a:solidFill>
              </a:rPr>
              <a:t>Conclusion</a:t>
            </a:r>
            <a:endParaRPr lang="en-US" b="1">
              <a:solidFill>
                <a:srgbClr val="C00000"/>
              </a:solidFill>
            </a:endParaRPr>
          </a:p>
        </p:txBody>
      </p:sp>
      <p:sp>
        <p:nvSpPr>
          <p:cNvPr id="4" name="Content Placeholder 2">
            <a:extLst>
              <a:ext uri="{FF2B5EF4-FFF2-40B4-BE49-F238E27FC236}">
                <a16:creationId xmlns:a16="http://schemas.microsoft.com/office/drawing/2014/main" id="{865297B1-CE0D-D2A0-5208-013890EB7672}"/>
              </a:ext>
            </a:extLst>
          </p:cNvPr>
          <p:cNvSpPr txBox="1">
            <a:spLocks/>
          </p:cNvSpPr>
          <p:nvPr/>
        </p:nvSpPr>
        <p:spPr>
          <a:xfrm>
            <a:off x="228142" y="1142286"/>
            <a:ext cx="11707462" cy="5622029"/>
          </a:xfrm>
          <a:prstGeom prst="rect">
            <a:avLst/>
          </a:prstGeom>
        </p:spPr>
        <p:txBody>
          <a:bodyPr lIns="91440" tIns="45720" rIns="91440" bIns="4572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dirty="0">
                <a:latin typeface="Aptos"/>
                <a:cs typeface="Segoe UI"/>
              </a:rPr>
              <a:t>This project demonstrated how machine learning can be applied to operational downtime data to predict whether a downtime event requires maintenance intervention.</a:t>
            </a:r>
            <a:endParaRPr lang="en-US" sz="2000">
              <a:latin typeface="Aptos"/>
            </a:endParaRPr>
          </a:p>
          <a:p>
            <a:r>
              <a:rPr lang="en-US" sz="2000">
                <a:latin typeface="Aptos"/>
                <a:cs typeface="Segoe UI"/>
              </a:rPr>
              <a:t>Through robust data preprocessing, target variable construction, and feature engineering, meaningful operational patterns were successfully extracted.</a:t>
            </a:r>
            <a:endParaRPr lang="en-US" sz="2000">
              <a:latin typeface="Aptos"/>
            </a:endParaRPr>
          </a:p>
          <a:p>
            <a:r>
              <a:rPr lang="en-US" sz="2000" dirty="0">
                <a:latin typeface="Aptos"/>
                <a:cs typeface="Segoe UI"/>
              </a:rPr>
              <a:t>Three classification models — Naïve Bayes, Logistic Regression, and Decision Tree — were evaluated using AUC, which is appropriate for the imbalanced nature of maintenance data.</a:t>
            </a:r>
            <a:endParaRPr lang="en-US" sz="2000">
              <a:latin typeface="Aptos"/>
            </a:endParaRPr>
          </a:p>
          <a:p>
            <a:r>
              <a:rPr lang="en-US" sz="2000" dirty="0">
                <a:latin typeface="Aptos"/>
                <a:cs typeface="Segoe UI"/>
              </a:rPr>
              <a:t>The Decision Tree emerged as the best‑performing model, achieving the highest test‑set AUC and the best bias–variance trade‑off, while Logistic Regression and Naïve Bayes underfit due to restrictive modelling assumptions.</a:t>
            </a:r>
            <a:endParaRPr lang="en-US" sz="2000">
              <a:latin typeface="Aptos"/>
            </a:endParaRPr>
          </a:p>
          <a:p>
            <a:r>
              <a:rPr lang="en-US" sz="2000">
                <a:latin typeface="Aptos"/>
                <a:cs typeface="Segoe UI"/>
              </a:rPr>
              <a:t>Feature importance analysis showed that downtime duration, fault duration, emergency indicators, downtime type, and time‑based features are the primary drivers of maintenance requirements.</a:t>
            </a:r>
            <a:endParaRPr lang="en-US" sz="2000">
              <a:latin typeface="Aptos"/>
            </a:endParaRPr>
          </a:p>
          <a:p>
            <a:r>
              <a:rPr lang="en-US" sz="2000">
                <a:latin typeface="Aptos"/>
                <a:cs typeface="Segoe UI"/>
              </a:rPr>
              <a:t>Overall, the results highlight  potential benefits of reduced unplanned downtime, improved reliability, and more efficient use of maintenance resources.</a:t>
            </a:r>
          </a:p>
        </p:txBody>
      </p:sp>
      <p:sp>
        <p:nvSpPr>
          <p:cNvPr id="5" name="Rectangle 4">
            <a:extLst>
              <a:ext uri="{FF2B5EF4-FFF2-40B4-BE49-F238E27FC236}">
                <a16:creationId xmlns:a16="http://schemas.microsoft.com/office/drawing/2014/main" id="{E0ED6478-34D4-E4D9-5E94-F0DE0F8F1AEF}"/>
              </a:ext>
            </a:extLst>
          </p:cNvPr>
          <p:cNvSpPr/>
          <p:nvPr/>
        </p:nvSpPr>
        <p:spPr>
          <a:xfrm>
            <a:off x="0" y="244549"/>
            <a:ext cx="212651" cy="785690"/>
          </a:xfrm>
          <a:prstGeom prst="rect">
            <a:avLst/>
          </a:prstGeom>
          <a:solidFill>
            <a:srgbClr val="C80000"/>
          </a:solidFill>
          <a:ln>
            <a:solidFill>
              <a:srgbClr val="C8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srgbClr val="C80000"/>
              </a:solidFill>
              <a:effectLst/>
              <a:uLnTx/>
              <a:uFillTx/>
              <a:latin typeface="Calibri" panose="020F0502020204030204"/>
              <a:ea typeface="+mn-ea"/>
              <a:cs typeface="+mn-cs"/>
            </a:endParaRPr>
          </a:p>
        </p:txBody>
      </p:sp>
      <p:cxnSp>
        <p:nvCxnSpPr>
          <p:cNvPr id="6" name="Straight Connector 5">
            <a:extLst>
              <a:ext uri="{FF2B5EF4-FFF2-40B4-BE49-F238E27FC236}">
                <a16:creationId xmlns:a16="http://schemas.microsoft.com/office/drawing/2014/main" id="{8FE25E34-00ED-FC78-CB02-878F5E07E9B8}"/>
              </a:ext>
            </a:extLst>
          </p:cNvPr>
          <p:cNvCxnSpPr>
            <a:cxnSpLocks/>
          </p:cNvCxnSpPr>
          <p:nvPr/>
        </p:nvCxnSpPr>
        <p:spPr>
          <a:xfrm>
            <a:off x="345839" y="1030239"/>
            <a:ext cx="11589765" cy="0"/>
          </a:xfrm>
          <a:prstGeom prst="line">
            <a:avLst/>
          </a:prstGeom>
          <a:ln w="38100">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FB0F09AC-FFB6-BF11-E5D0-4BAEEFA6B2B2}"/>
              </a:ext>
            </a:extLst>
          </p:cNvPr>
          <p:cNvSpPr txBox="1"/>
          <p:nvPr/>
        </p:nvSpPr>
        <p:spPr>
          <a:xfrm>
            <a:off x="5439697" y="1519903"/>
            <a:ext cx="6100916" cy="369332"/>
          </a:xfrm>
          <a:prstGeom prst="rect">
            <a:avLst/>
          </a:prstGeom>
          <a:noFill/>
        </p:spPr>
        <p:txBody>
          <a:bodyPr wrap="square">
            <a:spAutoFit/>
          </a:bodyPr>
          <a:lstStyle/>
          <a:p>
            <a:pPr>
              <a:buNone/>
            </a:pPr>
            <a:endParaRPr lang="en-US" b="1" dirty="0"/>
          </a:p>
        </p:txBody>
      </p:sp>
    </p:spTree>
    <p:extLst>
      <p:ext uri="{BB962C8B-B14F-4D97-AF65-F5344CB8AC3E}">
        <p14:creationId xmlns:p14="http://schemas.microsoft.com/office/powerpoint/2010/main" val="352299835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745</Words>
  <Application>Microsoft Office PowerPoint</Application>
  <PresentationFormat>Widescreen</PresentationFormat>
  <Paragraphs>101</Paragraphs>
  <Slides>9</Slides>
  <Notes>3</Notes>
  <HiddenSlides>0</HiddenSlides>
  <MMClips>0</MMClips>
  <ScaleCrop>false</ScaleCrop>
  <HeadingPairs>
    <vt:vector size="4" baseType="variant">
      <vt:variant>
        <vt:lpstr>Theme</vt:lpstr>
      </vt:variant>
      <vt:variant>
        <vt:i4>1</vt:i4>
      </vt:variant>
      <vt:variant>
        <vt:lpstr>Slide Titles</vt:lpstr>
      </vt:variant>
      <vt:variant>
        <vt:i4>9</vt:i4>
      </vt:variant>
    </vt:vector>
  </HeadingPairs>
  <TitlesOfParts>
    <vt:vector size="10" baseType="lpstr">
      <vt:lpstr>Office Theme</vt:lpstr>
      <vt:lpstr>PowerPoint Presentation</vt:lpstr>
      <vt:lpstr>PowerPoint Presentation</vt:lpstr>
      <vt:lpstr>PowerPoint Presentation</vt:lpstr>
      <vt:lpstr>PowerPoint Presentation</vt:lpstr>
      <vt:lpstr>PowerPoint Presentation</vt:lpstr>
      <vt:lpstr>Model Evaluation &amp; Results </vt:lpstr>
      <vt:lpstr>PowerPoint Presentation</vt:lpstr>
      <vt:lpstr>PowerPoint Presentation</vt:lpstr>
      <vt:lpstr>PowerPoint Presentation</vt:lpstr>
    </vt:vector>
  </TitlesOfParts>
  <Company>University of KwaZulu-Natal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Danielle Jade Roberts</dc:creator>
  <cp:lastModifiedBy>Mawanda Mbaza (226024595)</cp:lastModifiedBy>
  <cp:revision>264</cp:revision>
  <dcterms:created xsi:type="dcterms:W3CDTF">2025-05-12T08:10:08Z</dcterms:created>
  <dcterms:modified xsi:type="dcterms:W3CDTF">2026-05-18T17:14:44Z</dcterms:modified>
</cp:coreProperties>
</file>