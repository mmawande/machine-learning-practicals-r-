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63" r:id="rId3"/>
    <p:sldId id="257" r:id="rId4"/>
    <p:sldId id="258" r:id="rId5"/>
    <p:sldId id="260" r:id="rId6"/>
    <p:sldId id="264" r:id="rId7"/>
    <p:sldId id="266" r:id="rId8"/>
    <p:sldId id="261"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8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6610" autoAdjust="0"/>
  </p:normalViewPr>
  <p:slideViewPr>
    <p:cSldViewPr snapToGrid="0">
      <p:cViewPr varScale="1">
        <p:scale>
          <a:sx n="65" d="100"/>
          <a:sy n="65" d="100"/>
        </p:scale>
        <p:origin x="1358"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0A869F-ED06-4157-9D5A-CE27B3D25265}"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353AF12B-A7F7-4E39-A2DC-02ADA9AD0F74}">
      <dgm:prSet phldrT="[Text]" phldr="0"/>
      <dgm:spPr/>
      <dgm:t>
        <a:bodyPr/>
        <a:lstStyle/>
        <a:p>
          <a:pPr rtl="0"/>
          <a:r>
            <a:rPr lang="en-US" dirty="0">
              <a:latin typeface="Aptos Display" panose="02110004020202020204"/>
            </a:rPr>
            <a:t>Raw Downtime Data </a:t>
          </a:r>
          <a:endParaRPr lang="en-US" dirty="0"/>
        </a:p>
      </dgm:t>
    </dgm:pt>
    <dgm:pt modelId="{00754AA1-9AD2-4939-802B-9D0AD30C41AF}" type="sibTrans" cxnId="{606F23C0-857B-401A-A16F-D232649EEEE1}">
      <dgm:prSet/>
      <dgm:spPr/>
      <dgm:t>
        <a:bodyPr/>
        <a:lstStyle/>
        <a:p>
          <a:endParaRPr lang="en-US"/>
        </a:p>
      </dgm:t>
    </dgm:pt>
    <dgm:pt modelId="{3DAE4CD0-2558-46D2-8C03-F47ED9458B87}" type="parTrans" cxnId="{606F23C0-857B-401A-A16F-D232649EEEE1}">
      <dgm:prSet/>
      <dgm:spPr/>
      <dgm:t>
        <a:bodyPr/>
        <a:lstStyle/>
        <a:p>
          <a:endParaRPr lang="en-US"/>
        </a:p>
      </dgm:t>
    </dgm:pt>
    <dgm:pt modelId="{D0FB205F-35C2-4455-8B96-03AEE56DED70}">
      <dgm:prSet phldrT="[Text]" phldr="0"/>
      <dgm:spPr/>
      <dgm:t>
        <a:bodyPr/>
        <a:lstStyle/>
        <a:p>
          <a:pPr rtl="0"/>
          <a:r>
            <a:rPr lang="en-US" dirty="0">
              <a:latin typeface="Aptos Display" panose="02110004020202020204"/>
            </a:rPr>
            <a:t>Data Cleaning,</a:t>
          </a:r>
        </a:p>
        <a:p>
          <a:pPr rtl="0"/>
          <a:r>
            <a:rPr lang="en-US" dirty="0">
              <a:latin typeface="Aptos Display" panose="02110004020202020204"/>
            </a:rPr>
            <a:t>Target Definition &amp; Preprocessing </a:t>
          </a:r>
          <a:endParaRPr lang="en-US" dirty="0"/>
        </a:p>
      </dgm:t>
    </dgm:pt>
    <dgm:pt modelId="{8619E79A-0CBD-488F-8FBB-AEBE47E277CA}" type="sibTrans" cxnId="{B31299CB-D422-4B27-A295-48E6EB79980C}">
      <dgm:prSet/>
      <dgm:spPr/>
      <dgm:t>
        <a:bodyPr/>
        <a:lstStyle/>
        <a:p>
          <a:endParaRPr lang="en-US"/>
        </a:p>
      </dgm:t>
    </dgm:pt>
    <dgm:pt modelId="{0FA6DDDB-D40C-4B0C-A316-FF3CE708656B}" type="parTrans" cxnId="{B31299CB-D422-4B27-A295-48E6EB79980C}">
      <dgm:prSet/>
      <dgm:spPr/>
      <dgm:t>
        <a:bodyPr/>
        <a:lstStyle/>
        <a:p>
          <a:endParaRPr lang="en-US"/>
        </a:p>
      </dgm:t>
    </dgm:pt>
    <dgm:pt modelId="{9898BBA7-BF07-480A-A631-741A79B9743E}">
      <dgm:prSet phldrT="[Text]" phldr="0"/>
      <dgm:spPr/>
      <dgm:t>
        <a:bodyPr/>
        <a:lstStyle/>
        <a:p>
          <a:pPr rtl="0"/>
          <a:r>
            <a:rPr lang="en-US" dirty="0">
              <a:latin typeface="Aptos Display" panose="02110004020202020204"/>
            </a:rPr>
            <a:t>Feature Engineering</a:t>
          </a:r>
        </a:p>
      </dgm:t>
    </dgm:pt>
    <dgm:pt modelId="{587757F1-02DA-45D2-8604-9F7BE1AA1F3E}" type="sibTrans" cxnId="{04DA40F3-33A6-4CF3-9C80-C28BE9104CEB}">
      <dgm:prSet/>
      <dgm:spPr/>
      <dgm:t>
        <a:bodyPr/>
        <a:lstStyle/>
        <a:p>
          <a:endParaRPr lang="en-US"/>
        </a:p>
      </dgm:t>
    </dgm:pt>
    <dgm:pt modelId="{60B36E4C-E8ED-4F10-ACA7-32C38ABEE3DD}" type="parTrans" cxnId="{04DA40F3-33A6-4CF3-9C80-C28BE9104CEB}">
      <dgm:prSet/>
      <dgm:spPr/>
      <dgm:t>
        <a:bodyPr/>
        <a:lstStyle/>
        <a:p>
          <a:endParaRPr lang="en-US"/>
        </a:p>
      </dgm:t>
    </dgm:pt>
    <dgm:pt modelId="{DDE7BD93-A8B0-4B70-ABC3-5A8CC4BE8DD8}">
      <dgm:prSet phldrT="[Text]" phldr="0"/>
      <dgm:spPr/>
      <dgm:t>
        <a:bodyPr/>
        <a:lstStyle/>
        <a:p>
          <a:pPr rtl="0"/>
          <a:r>
            <a:rPr lang="en-US" dirty="0">
              <a:latin typeface="Aptos Display" panose="02110004020202020204"/>
            </a:rPr>
            <a:t>Machine learning Techniques</a:t>
          </a:r>
        </a:p>
      </dgm:t>
    </dgm:pt>
    <dgm:pt modelId="{67367A5B-4B87-4BD4-A47D-FDD24D73CE23}" type="sibTrans" cxnId="{0FB0205B-1D66-4C13-A779-7BCB71EB4EB0}">
      <dgm:prSet/>
      <dgm:spPr/>
      <dgm:t>
        <a:bodyPr/>
        <a:lstStyle/>
        <a:p>
          <a:endParaRPr lang="en-US"/>
        </a:p>
      </dgm:t>
    </dgm:pt>
    <dgm:pt modelId="{93B0075A-C583-4C39-B93D-674D3CD7485F}" type="parTrans" cxnId="{0FB0205B-1D66-4C13-A779-7BCB71EB4EB0}">
      <dgm:prSet/>
      <dgm:spPr/>
      <dgm:t>
        <a:bodyPr/>
        <a:lstStyle/>
        <a:p>
          <a:endParaRPr lang="en-US"/>
        </a:p>
      </dgm:t>
    </dgm:pt>
    <dgm:pt modelId="{01AB8569-DF4F-491A-9D56-DA8F5783DA02}">
      <dgm:prSet phldrT="[Text]" phldr="0"/>
      <dgm:spPr/>
      <dgm:t>
        <a:bodyPr/>
        <a:lstStyle/>
        <a:p>
          <a:pPr rtl="0"/>
          <a:r>
            <a:rPr lang="en-US" dirty="0">
              <a:latin typeface="Aptos Display" panose="02110004020202020204"/>
            </a:rPr>
            <a:t>Models evaluation &amp; Best Model Selection </a:t>
          </a:r>
        </a:p>
      </dgm:t>
    </dgm:pt>
    <dgm:pt modelId="{3E15D390-93C2-4FCC-A6D5-8347DB60907D}" type="sibTrans" cxnId="{BC330C89-567C-4DFC-90AF-E95628D156EC}">
      <dgm:prSet/>
      <dgm:spPr/>
      <dgm:t>
        <a:bodyPr/>
        <a:lstStyle/>
        <a:p>
          <a:endParaRPr lang="en-US"/>
        </a:p>
      </dgm:t>
    </dgm:pt>
    <dgm:pt modelId="{0CB57B9C-64EF-4212-840C-70AEBD48A0C4}" type="parTrans" cxnId="{BC330C89-567C-4DFC-90AF-E95628D156EC}">
      <dgm:prSet/>
      <dgm:spPr/>
      <dgm:t>
        <a:bodyPr/>
        <a:lstStyle/>
        <a:p>
          <a:endParaRPr lang="en-US"/>
        </a:p>
      </dgm:t>
    </dgm:pt>
    <dgm:pt modelId="{E29E87E4-16CC-4D68-9029-52341207C1EA}">
      <dgm:prSet phldrT="[Text]" phldr="0"/>
      <dgm:spPr/>
      <dgm:t>
        <a:bodyPr/>
        <a:lstStyle/>
        <a:p>
          <a:pPr rtl="0"/>
          <a:r>
            <a:rPr lang="en-US" dirty="0">
              <a:latin typeface="Aptos Display" panose="02110004020202020204"/>
            </a:rPr>
            <a:t>Feature Importance</a:t>
          </a:r>
        </a:p>
      </dgm:t>
    </dgm:pt>
    <dgm:pt modelId="{B1CFDD8C-842A-4433-A126-4581A5F6EC16}" type="sibTrans" cxnId="{8CD4705E-542C-486D-8F07-5FA5841BF4C5}">
      <dgm:prSet/>
      <dgm:spPr/>
      <dgm:t>
        <a:bodyPr/>
        <a:lstStyle/>
        <a:p>
          <a:endParaRPr lang="en-US"/>
        </a:p>
      </dgm:t>
    </dgm:pt>
    <dgm:pt modelId="{4FC51010-6D6B-478A-A6B3-9FB0DAE7153A}" type="parTrans" cxnId="{8CD4705E-542C-486D-8F07-5FA5841BF4C5}">
      <dgm:prSet/>
      <dgm:spPr/>
      <dgm:t>
        <a:bodyPr/>
        <a:lstStyle/>
        <a:p>
          <a:endParaRPr lang="en-US"/>
        </a:p>
      </dgm:t>
    </dgm:pt>
    <dgm:pt modelId="{5EAA2E3E-2DB2-4E7B-9105-D125404716D8}">
      <dgm:prSet phldrT="[Text]" phldr="0"/>
      <dgm:spPr/>
      <dgm:t>
        <a:bodyPr/>
        <a:lstStyle/>
        <a:p>
          <a:pPr rtl="0"/>
          <a:r>
            <a:rPr lang="en-US" dirty="0">
              <a:latin typeface="Aptos Display" panose="02110004020202020204"/>
            </a:rPr>
            <a:t>Conclusion</a:t>
          </a:r>
        </a:p>
      </dgm:t>
    </dgm:pt>
    <dgm:pt modelId="{CC2EF943-268A-4964-B150-E22A41ACC6AC}" type="parTrans" cxnId="{43852073-3FDC-4039-915A-68ED4F4273B8}">
      <dgm:prSet/>
      <dgm:spPr/>
      <dgm:t>
        <a:bodyPr/>
        <a:lstStyle/>
        <a:p>
          <a:endParaRPr lang="en-US"/>
        </a:p>
      </dgm:t>
    </dgm:pt>
    <dgm:pt modelId="{CBACB218-F354-4DA6-A104-8AED6533E965}" type="sibTrans" cxnId="{43852073-3FDC-4039-915A-68ED4F4273B8}">
      <dgm:prSet/>
      <dgm:spPr/>
      <dgm:t>
        <a:bodyPr/>
        <a:lstStyle/>
        <a:p>
          <a:endParaRPr lang="en-US"/>
        </a:p>
      </dgm:t>
    </dgm:pt>
    <dgm:pt modelId="{1B18F128-2D30-4800-A5EB-493C90B92F49}" type="pres">
      <dgm:prSet presAssocID="{DE0A869F-ED06-4157-9D5A-CE27B3D25265}" presName="Name0" presStyleCnt="0">
        <dgm:presLayoutVars>
          <dgm:dir/>
          <dgm:animLvl val="lvl"/>
          <dgm:resizeHandles val="exact"/>
        </dgm:presLayoutVars>
      </dgm:prSet>
      <dgm:spPr/>
    </dgm:pt>
    <dgm:pt modelId="{4A135A56-41DF-467E-8B62-C991E27AC0C6}" type="pres">
      <dgm:prSet presAssocID="{353AF12B-A7F7-4E39-A2DC-02ADA9AD0F74}" presName="parTxOnly" presStyleLbl="node1" presStyleIdx="0" presStyleCnt="7">
        <dgm:presLayoutVars>
          <dgm:chMax val="0"/>
          <dgm:chPref val="0"/>
          <dgm:bulletEnabled val="1"/>
        </dgm:presLayoutVars>
      </dgm:prSet>
      <dgm:spPr/>
    </dgm:pt>
    <dgm:pt modelId="{68F9CB85-DE27-4B86-8D4B-B4D9C00DE0ED}" type="pres">
      <dgm:prSet presAssocID="{00754AA1-9AD2-4939-802B-9D0AD30C41AF}" presName="parTxOnlySpace" presStyleCnt="0"/>
      <dgm:spPr/>
    </dgm:pt>
    <dgm:pt modelId="{551FEA79-D1BA-464D-93C3-7EC4164F0280}" type="pres">
      <dgm:prSet presAssocID="{D0FB205F-35C2-4455-8B96-03AEE56DED70}" presName="parTxOnly" presStyleLbl="node1" presStyleIdx="1" presStyleCnt="7">
        <dgm:presLayoutVars>
          <dgm:chMax val="0"/>
          <dgm:chPref val="0"/>
          <dgm:bulletEnabled val="1"/>
        </dgm:presLayoutVars>
      </dgm:prSet>
      <dgm:spPr/>
    </dgm:pt>
    <dgm:pt modelId="{CF1F4F98-66E6-4C95-B3D7-552EA40922D0}" type="pres">
      <dgm:prSet presAssocID="{8619E79A-0CBD-488F-8FBB-AEBE47E277CA}" presName="parTxOnlySpace" presStyleCnt="0"/>
      <dgm:spPr/>
    </dgm:pt>
    <dgm:pt modelId="{2E044520-31CD-40B8-BEEF-80204F48109F}" type="pres">
      <dgm:prSet presAssocID="{9898BBA7-BF07-480A-A631-741A79B9743E}" presName="parTxOnly" presStyleLbl="node1" presStyleIdx="2" presStyleCnt="7">
        <dgm:presLayoutVars>
          <dgm:chMax val="0"/>
          <dgm:chPref val="0"/>
          <dgm:bulletEnabled val="1"/>
        </dgm:presLayoutVars>
      </dgm:prSet>
      <dgm:spPr/>
    </dgm:pt>
    <dgm:pt modelId="{7FC959A1-1303-4874-901A-37D4EB57D769}" type="pres">
      <dgm:prSet presAssocID="{587757F1-02DA-45D2-8604-9F7BE1AA1F3E}" presName="parTxOnlySpace" presStyleCnt="0"/>
      <dgm:spPr/>
    </dgm:pt>
    <dgm:pt modelId="{5A209939-02B4-488C-9D36-3BFBD73420E8}" type="pres">
      <dgm:prSet presAssocID="{DDE7BD93-A8B0-4B70-ABC3-5A8CC4BE8DD8}" presName="parTxOnly" presStyleLbl="node1" presStyleIdx="3" presStyleCnt="7">
        <dgm:presLayoutVars>
          <dgm:chMax val="0"/>
          <dgm:chPref val="0"/>
          <dgm:bulletEnabled val="1"/>
        </dgm:presLayoutVars>
      </dgm:prSet>
      <dgm:spPr/>
    </dgm:pt>
    <dgm:pt modelId="{586B3805-B959-4B2E-8FD2-A0CAF5BC7900}" type="pres">
      <dgm:prSet presAssocID="{67367A5B-4B87-4BD4-A47D-FDD24D73CE23}" presName="parTxOnlySpace" presStyleCnt="0"/>
      <dgm:spPr/>
    </dgm:pt>
    <dgm:pt modelId="{6BE9B11A-0411-49D1-93DA-C44A84189A24}" type="pres">
      <dgm:prSet presAssocID="{01AB8569-DF4F-491A-9D56-DA8F5783DA02}" presName="parTxOnly" presStyleLbl="node1" presStyleIdx="4" presStyleCnt="7">
        <dgm:presLayoutVars>
          <dgm:chMax val="0"/>
          <dgm:chPref val="0"/>
          <dgm:bulletEnabled val="1"/>
        </dgm:presLayoutVars>
      </dgm:prSet>
      <dgm:spPr/>
    </dgm:pt>
    <dgm:pt modelId="{4A0185B2-0C80-4CF2-A7FE-1142DFB8869A}" type="pres">
      <dgm:prSet presAssocID="{3E15D390-93C2-4FCC-A6D5-8347DB60907D}" presName="parTxOnlySpace" presStyleCnt="0"/>
      <dgm:spPr/>
    </dgm:pt>
    <dgm:pt modelId="{FF9E73D5-5E63-4F01-A973-3DEBCCAD5B71}" type="pres">
      <dgm:prSet presAssocID="{E29E87E4-16CC-4D68-9029-52341207C1EA}" presName="parTxOnly" presStyleLbl="node1" presStyleIdx="5" presStyleCnt="7">
        <dgm:presLayoutVars>
          <dgm:chMax val="0"/>
          <dgm:chPref val="0"/>
          <dgm:bulletEnabled val="1"/>
        </dgm:presLayoutVars>
      </dgm:prSet>
      <dgm:spPr/>
    </dgm:pt>
    <dgm:pt modelId="{9DCABAE4-3A7E-4739-83FC-67BBEC6F7AF5}" type="pres">
      <dgm:prSet presAssocID="{B1CFDD8C-842A-4433-A126-4581A5F6EC16}" presName="parTxOnlySpace" presStyleCnt="0"/>
      <dgm:spPr/>
    </dgm:pt>
    <dgm:pt modelId="{C12AB7CD-16DC-4DC2-8E11-0B825C83D317}" type="pres">
      <dgm:prSet presAssocID="{5EAA2E3E-2DB2-4E7B-9105-D125404716D8}" presName="parTxOnly" presStyleLbl="node1" presStyleIdx="6" presStyleCnt="7">
        <dgm:presLayoutVars>
          <dgm:chMax val="0"/>
          <dgm:chPref val="0"/>
          <dgm:bulletEnabled val="1"/>
        </dgm:presLayoutVars>
      </dgm:prSet>
      <dgm:spPr/>
    </dgm:pt>
  </dgm:ptLst>
  <dgm:cxnLst>
    <dgm:cxn modelId="{0FB0205B-1D66-4C13-A779-7BCB71EB4EB0}" srcId="{DE0A869F-ED06-4157-9D5A-CE27B3D25265}" destId="{DDE7BD93-A8B0-4B70-ABC3-5A8CC4BE8DD8}" srcOrd="3" destOrd="0" parTransId="{93B0075A-C583-4C39-B93D-674D3CD7485F}" sibTransId="{67367A5B-4B87-4BD4-A47D-FDD24D73CE23}"/>
    <dgm:cxn modelId="{8CD4705E-542C-486D-8F07-5FA5841BF4C5}" srcId="{DE0A869F-ED06-4157-9D5A-CE27B3D25265}" destId="{E29E87E4-16CC-4D68-9029-52341207C1EA}" srcOrd="5" destOrd="0" parTransId="{4FC51010-6D6B-478A-A6B3-9FB0DAE7153A}" sibTransId="{B1CFDD8C-842A-4433-A126-4581A5F6EC16}"/>
    <dgm:cxn modelId="{851AC560-F077-4A4F-8A8F-C97C5DE164A8}" type="presOf" srcId="{DDE7BD93-A8B0-4B70-ABC3-5A8CC4BE8DD8}" destId="{5A209939-02B4-488C-9D36-3BFBD73420E8}" srcOrd="0" destOrd="0" presId="urn:microsoft.com/office/officeart/2005/8/layout/chevron1"/>
    <dgm:cxn modelId="{8FFA3C61-E446-4F32-8D25-D3E5656455AC}" type="presOf" srcId="{353AF12B-A7F7-4E39-A2DC-02ADA9AD0F74}" destId="{4A135A56-41DF-467E-8B62-C991E27AC0C6}" srcOrd="0" destOrd="0" presId="urn:microsoft.com/office/officeart/2005/8/layout/chevron1"/>
    <dgm:cxn modelId="{F7220C4A-6AF0-432F-B757-1B799DF99E04}" type="presOf" srcId="{D0FB205F-35C2-4455-8B96-03AEE56DED70}" destId="{551FEA79-D1BA-464D-93C3-7EC4164F0280}" srcOrd="0" destOrd="0" presId="urn:microsoft.com/office/officeart/2005/8/layout/chevron1"/>
    <dgm:cxn modelId="{43852073-3FDC-4039-915A-68ED4F4273B8}" srcId="{DE0A869F-ED06-4157-9D5A-CE27B3D25265}" destId="{5EAA2E3E-2DB2-4E7B-9105-D125404716D8}" srcOrd="6" destOrd="0" parTransId="{CC2EF943-268A-4964-B150-E22A41ACC6AC}" sibTransId="{CBACB218-F354-4DA6-A104-8AED6533E965}"/>
    <dgm:cxn modelId="{00D1AE76-3ECE-4BDB-9339-BD932FF7B81D}" type="presOf" srcId="{9898BBA7-BF07-480A-A631-741A79B9743E}" destId="{2E044520-31CD-40B8-BEEF-80204F48109F}" srcOrd="0" destOrd="0" presId="urn:microsoft.com/office/officeart/2005/8/layout/chevron1"/>
    <dgm:cxn modelId="{69C4A586-3F73-4D9F-8AA5-A9E8DEAF73F8}" type="presOf" srcId="{E29E87E4-16CC-4D68-9029-52341207C1EA}" destId="{FF9E73D5-5E63-4F01-A973-3DEBCCAD5B71}" srcOrd="0" destOrd="0" presId="urn:microsoft.com/office/officeart/2005/8/layout/chevron1"/>
    <dgm:cxn modelId="{BC330C89-567C-4DFC-90AF-E95628D156EC}" srcId="{DE0A869F-ED06-4157-9D5A-CE27B3D25265}" destId="{01AB8569-DF4F-491A-9D56-DA8F5783DA02}" srcOrd="4" destOrd="0" parTransId="{0CB57B9C-64EF-4212-840C-70AEBD48A0C4}" sibTransId="{3E15D390-93C2-4FCC-A6D5-8347DB60907D}"/>
    <dgm:cxn modelId="{C167C0A8-26AA-4305-8EBD-2A63E7E1BC0A}" type="presOf" srcId="{01AB8569-DF4F-491A-9D56-DA8F5783DA02}" destId="{6BE9B11A-0411-49D1-93DA-C44A84189A24}" srcOrd="0" destOrd="0" presId="urn:microsoft.com/office/officeart/2005/8/layout/chevron1"/>
    <dgm:cxn modelId="{606F23C0-857B-401A-A16F-D232649EEEE1}" srcId="{DE0A869F-ED06-4157-9D5A-CE27B3D25265}" destId="{353AF12B-A7F7-4E39-A2DC-02ADA9AD0F74}" srcOrd="0" destOrd="0" parTransId="{3DAE4CD0-2558-46D2-8C03-F47ED9458B87}" sibTransId="{00754AA1-9AD2-4939-802B-9D0AD30C41AF}"/>
    <dgm:cxn modelId="{2973B5C5-A18B-4512-B87D-93B228AD016E}" type="presOf" srcId="{5EAA2E3E-2DB2-4E7B-9105-D125404716D8}" destId="{C12AB7CD-16DC-4DC2-8E11-0B825C83D317}" srcOrd="0" destOrd="0" presId="urn:microsoft.com/office/officeart/2005/8/layout/chevron1"/>
    <dgm:cxn modelId="{B31299CB-D422-4B27-A295-48E6EB79980C}" srcId="{DE0A869F-ED06-4157-9D5A-CE27B3D25265}" destId="{D0FB205F-35C2-4455-8B96-03AEE56DED70}" srcOrd="1" destOrd="0" parTransId="{0FA6DDDB-D40C-4B0C-A316-FF3CE708656B}" sibTransId="{8619E79A-0CBD-488F-8FBB-AEBE47E277CA}"/>
    <dgm:cxn modelId="{04DA40F3-33A6-4CF3-9C80-C28BE9104CEB}" srcId="{DE0A869F-ED06-4157-9D5A-CE27B3D25265}" destId="{9898BBA7-BF07-480A-A631-741A79B9743E}" srcOrd="2" destOrd="0" parTransId="{60B36E4C-E8ED-4F10-ACA7-32C38ABEE3DD}" sibTransId="{587757F1-02DA-45D2-8604-9F7BE1AA1F3E}"/>
    <dgm:cxn modelId="{C63DF4F4-C44B-4AEA-A0A7-1305725A8969}" type="presOf" srcId="{DE0A869F-ED06-4157-9D5A-CE27B3D25265}" destId="{1B18F128-2D30-4800-A5EB-493C90B92F49}" srcOrd="0" destOrd="0" presId="urn:microsoft.com/office/officeart/2005/8/layout/chevron1"/>
    <dgm:cxn modelId="{9C2C6CA6-015F-4F2C-B316-1A66DB79447F}" type="presParOf" srcId="{1B18F128-2D30-4800-A5EB-493C90B92F49}" destId="{4A135A56-41DF-467E-8B62-C991E27AC0C6}" srcOrd="0" destOrd="0" presId="urn:microsoft.com/office/officeart/2005/8/layout/chevron1"/>
    <dgm:cxn modelId="{5206332A-199E-4C49-B4FD-D9E6652A0CBD}" type="presParOf" srcId="{1B18F128-2D30-4800-A5EB-493C90B92F49}" destId="{68F9CB85-DE27-4B86-8D4B-B4D9C00DE0ED}" srcOrd="1" destOrd="0" presId="urn:microsoft.com/office/officeart/2005/8/layout/chevron1"/>
    <dgm:cxn modelId="{1F3E3F80-C126-49CF-9945-67A8B2959D84}" type="presParOf" srcId="{1B18F128-2D30-4800-A5EB-493C90B92F49}" destId="{551FEA79-D1BA-464D-93C3-7EC4164F0280}" srcOrd="2" destOrd="0" presId="urn:microsoft.com/office/officeart/2005/8/layout/chevron1"/>
    <dgm:cxn modelId="{D994A3F4-C875-4F59-BCED-E140E013F6DB}" type="presParOf" srcId="{1B18F128-2D30-4800-A5EB-493C90B92F49}" destId="{CF1F4F98-66E6-4C95-B3D7-552EA40922D0}" srcOrd="3" destOrd="0" presId="urn:microsoft.com/office/officeart/2005/8/layout/chevron1"/>
    <dgm:cxn modelId="{F82079AD-6BED-4636-80A9-61D3D9BADEC5}" type="presParOf" srcId="{1B18F128-2D30-4800-A5EB-493C90B92F49}" destId="{2E044520-31CD-40B8-BEEF-80204F48109F}" srcOrd="4" destOrd="0" presId="urn:microsoft.com/office/officeart/2005/8/layout/chevron1"/>
    <dgm:cxn modelId="{767CD205-AAFA-4494-8F6C-3FE72F2CD32F}" type="presParOf" srcId="{1B18F128-2D30-4800-A5EB-493C90B92F49}" destId="{7FC959A1-1303-4874-901A-37D4EB57D769}" srcOrd="5" destOrd="0" presId="urn:microsoft.com/office/officeart/2005/8/layout/chevron1"/>
    <dgm:cxn modelId="{B8566685-9E67-4B3D-9758-4767D059DC4C}" type="presParOf" srcId="{1B18F128-2D30-4800-A5EB-493C90B92F49}" destId="{5A209939-02B4-488C-9D36-3BFBD73420E8}" srcOrd="6" destOrd="0" presId="urn:microsoft.com/office/officeart/2005/8/layout/chevron1"/>
    <dgm:cxn modelId="{FA51CCAF-2292-4ECC-A838-20139DECFD45}" type="presParOf" srcId="{1B18F128-2D30-4800-A5EB-493C90B92F49}" destId="{586B3805-B959-4B2E-8FD2-A0CAF5BC7900}" srcOrd="7" destOrd="0" presId="urn:microsoft.com/office/officeart/2005/8/layout/chevron1"/>
    <dgm:cxn modelId="{87C476D3-DEE5-4105-864E-E173AAF74956}" type="presParOf" srcId="{1B18F128-2D30-4800-A5EB-493C90B92F49}" destId="{6BE9B11A-0411-49D1-93DA-C44A84189A24}" srcOrd="8" destOrd="0" presId="urn:microsoft.com/office/officeart/2005/8/layout/chevron1"/>
    <dgm:cxn modelId="{CF3B9D89-222C-4B73-8B70-B689F5D7D935}" type="presParOf" srcId="{1B18F128-2D30-4800-A5EB-493C90B92F49}" destId="{4A0185B2-0C80-4CF2-A7FE-1142DFB8869A}" srcOrd="9" destOrd="0" presId="urn:microsoft.com/office/officeart/2005/8/layout/chevron1"/>
    <dgm:cxn modelId="{9B3DC4C9-0512-4067-8946-8006718DDB94}" type="presParOf" srcId="{1B18F128-2D30-4800-A5EB-493C90B92F49}" destId="{FF9E73D5-5E63-4F01-A973-3DEBCCAD5B71}" srcOrd="10" destOrd="0" presId="urn:microsoft.com/office/officeart/2005/8/layout/chevron1"/>
    <dgm:cxn modelId="{3F4B4994-8F3D-41D2-B8B4-3F249FF97C6C}" type="presParOf" srcId="{1B18F128-2D30-4800-A5EB-493C90B92F49}" destId="{9DCABAE4-3A7E-4739-83FC-67BBEC6F7AF5}" srcOrd="11" destOrd="0" presId="urn:microsoft.com/office/officeart/2005/8/layout/chevron1"/>
    <dgm:cxn modelId="{C58DD280-D304-45D2-8C9F-5D8A3563736A}" type="presParOf" srcId="{1B18F128-2D30-4800-A5EB-493C90B92F49}" destId="{C12AB7CD-16DC-4DC2-8E11-0B825C83D317}" srcOrd="12"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135A56-41DF-467E-8B62-C991E27AC0C6}">
      <dsp:nvSpPr>
        <dsp:cNvPr id="0" name=""/>
        <dsp:cNvSpPr/>
      </dsp:nvSpPr>
      <dsp:spPr>
        <a:xfrm>
          <a:off x="0" y="18374389"/>
          <a:ext cx="1810900" cy="724360"/>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rtl="0">
            <a:lnSpc>
              <a:spcPct val="90000"/>
            </a:lnSpc>
            <a:spcBef>
              <a:spcPct val="0"/>
            </a:spcBef>
            <a:spcAft>
              <a:spcPct val="35000"/>
            </a:spcAft>
            <a:buNone/>
          </a:pPr>
          <a:r>
            <a:rPr lang="en-US" sz="1200" kern="1200" dirty="0">
              <a:latin typeface="Aptos Display" panose="02110004020202020204"/>
            </a:rPr>
            <a:t>Raw Downtime Data </a:t>
          </a:r>
          <a:endParaRPr lang="en-US" sz="1200" kern="1200" dirty="0"/>
        </a:p>
      </dsp:txBody>
      <dsp:txXfrm>
        <a:off x="362180" y="18374389"/>
        <a:ext cx="1086540" cy="724360"/>
      </dsp:txXfrm>
    </dsp:sp>
    <dsp:sp modelId="{551FEA79-D1BA-464D-93C3-7EC4164F0280}">
      <dsp:nvSpPr>
        <dsp:cNvPr id="0" name=""/>
        <dsp:cNvSpPr/>
      </dsp:nvSpPr>
      <dsp:spPr>
        <a:xfrm>
          <a:off x="1629810" y="18374389"/>
          <a:ext cx="1810900" cy="724360"/>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rtl="0">
            <a:lnSpc>
              <a:spcPct val="90000"/>
            </a:lnSpc>
            <a:spcBef>
              <a:spcPct val="0"/>
            </a:spcBef>
            <a:spcAft>
              <a:spcPct val="35000"/>
            </a:spcAft>
            <a:buNone/>
          </a:pPr>
          <a:r>
            <a:rPr lang="en-US" sz="1200" kern="1200" dirty="0">
              <a:latin typeface="Aptos Display" panose="02110004020202020204"/>
            </a:rPr>
            <a:t>Data Cleaning,</a:t>
          </a:r>
        </a:p>
        <a:p>
          <a:pPr marL="0" lvl="0" indent="0" algn="ctr" defTabSz="533400" rtl="0">
            <a:lnSpc>
              <a:spcPct val="90000"/>
            </a:lnSpc>
            <a:spcBef>
              <a:spcPct val="0"/>
            </a:spcBef>
            <a:spcAft>
              <a:spcPct val="35000"/>
            </a:spcAft>
            <a:buNone/>
          </a:pPr>
          <a:r>
            <a:rPr lang="en-US" sz="1200" kern="1200" dirty="0">
              <a:latin typeface="Aptos Display" panose="02110004020202020204"/>
            </a:rPr>
            <a:t>Target Definition &amp; Preprocessing </a:t>
          </a:r>
          <a:endParaRPr lang="en-US" sz="1200" kern="1200" dirty="0"/>
        </a:p>
      </dsp:txBody>
      <dsp:txXfrm>
        <a:off x="1991990" y="18374389"/>
        <a:ext cx="1086540" cy="724360"/>
      </dsp:txXfrm>
    </dsp:sp>
    <dsp:sp modelId="{2E044520-31CD-40B8-BEEF-80204F48109F}">
      <dsp:nvSpPr>
        <dsp:cNvPr id="0" name=""/>
        <dsp:cNvSpPr/>
      </dsp:nvSpPr>
      <dsp:spPr>
        <a:xfrm>
          <a:off x="3259621" y="18374389"/>
          <a:ext cx="1810900" cy="724360"/>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rtl="0">
            <a:lnSpc>
              <a:spcPct val="90000"/>
            </a:lnSpc>
            <a:spcBef>
              <a:spcPct val="0"/>
            </a:spcBef>
            <a:spcAft>
              <a:spcPct val="35000"/>
            </a:spcAft>
            <a:buNone/>
          </a:pPr>
          <a:r>
            <a:rPr lang="en-US" sz="1200" kern="1200" dirty="0">
              <a:latin typeface="Aptos Display" panose="02110004020202020204"/>
            </a:rPr>
            <a:t>Feature Engineering</a:t>
          </a:r>
        </a:p>
      </dsp:txBody>
      <dsp:txXfrm>
        <a:off x="3621801" y="18374389"/>
        <a:ext cx="1086540" cy="724360"/>
      </dsp:txXfrm>
    </dsp:sp>
    <dsp:sp modelId="{5A209939-02B4-488C-9D36-3BFBD73420E8}">
      <dsp:nvSpPr>
        <dsp:cNvPr id="0" name=""/>
        <dsp:cNvSpPr/>
      </dsp:nvSpPr>
      <dsp:spPr>
        <a:xfrm>
          <a:off x="4889432" y="18374389"/>
          <a:ext cx="1810900" cy="724360"/>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rtl="0">
            <a:lnSpc>
              <a:spcPct val="90000"/>
            </a:lnSpc>
            <a:spcBef>
              <a:spcPct val="0"/>
            </a:spcBef>
            <a:spcAft>
              <a:spcPct val="35000"/>
            </a:spcAft>
            <a:buNone/>
          </a:pPr>
          <a:r>
            <a:rPr lang="en-US" sz="1200" kern="1200" dirty="0">
              <a:latin typeface="Aptos Display" panose="02110004020202020204"/>
            </a:rPr>
            <a:t>Machine learning Techniques</a:t>
          </a:r>
        </a:p>
      </dsp:txBody>
      <dsp:txXfrm>
        <a:off x="5251612" y="18374389"/>
        <a:ext cx="1086540" cy="724360"/>
      </dsp:txXfrm>
    </dsp:sp>
    <dsp:sp modelId="{6BE9B11A-0411-49D1-93DA-C44A84189A24}">
      <dsp:nvSpPr>
        <dsp:cNvPr id="0" name=""/>
        <dsp:cNvSpPr/>
      </dsp:nvSpPr>
      <dsp:spPr>
        <a:xfrm>
          <a:off x="6519242" y="18374389"/>
          <a:ext cx="1810900" cy="724360"/>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rtl="0">
            <a:lnSpc>
              <a:spcPct val="90000"/>
            </a:lnSpc>
            <a:spcBef>
              <a:spcPct val="0"/>
            </a:spcBef>
            <a:spcAft>
              <a:spcPct val="35000"/>
            </a:spcAft>
            <a:buNone/>
          </a:pPr>
          <a:r>
            <a:rPr lang="en-US" sz="1200" kern="1200" dirty="0">
              <a:latin typeface="Aptos Display" panose="02110004020202020204"/>
            </a:rPr>
            <a:t>Models evaluation &amp; Best Model Selection </a:t>
          </a:r>
        </a:p>
      </dsp:txBody>
      <dsp:txXfrm>
        <a:off x="6881422" y="18374389"/>
        <a:ext cx="1086540" cy="724360"/>
      </dsp:txXfrm>
    </dsp:sp>
    <dsp:sp modelId="{FF9E73D5-5E63-4F01-A973-3DEBCCAD5B71}">
      <dsp:nvSpPr>
        <dsp:cNvPr id="0" name=""/>
        <dsp:cNvSpPr/>
      </dsp:nvSpPr>
      <dsp:spPr>
        <a:xfrm>
          <a:off x="8149053" y="18374389"/>
          <a:ext cx="1810900" cy="724360"/>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rtl="0">
            <a:lnSpc>
              <a:spcPct val="90000"/>
            </a:lnSpc>
            <a:spcBef>
              <a:spcPct val="0"/>
            </a:spcBef>
            <a:spcAft>
              <a:spcPct val="35000"/>
            </a:spcAft>
            <a:buNone/>
          </a:pPr>
          <a:r>
            <a:rPr lang="en-US" sz="1200" kern="1200" dirty="0">
              <a:latin typeface="Aptos Display" panose="02110004020202020204"/>
            </a:rPr>
            <a:t>Feature Importance</a:t>
          </a:r>
        </a:p>
      </dsp:txBody>
      <dsp:txXfrm>
        <a:off x="8511233" y="18374389"/>
        <a:ext cx="1086540" cy="724360"/>
      </dsp:txXfrm>
    </dsp:sp>
    <dsp:sp modelId="{C12AB7CD-16DC-4DC2-8E11-0B825C83D317}">
      <dsp:nvSpPr>
        <dsp:cNvPr id="0" name=""/>
        <dsp:cNvSpPr/>
      </dsp:nvSpPr>
      <dsp:spPr>
        <a:xfrm>
          <a:off x="9778864" y="18374389"/>
          <a:ext cx="1810900" cy="724360"/>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rtl="0">
            <a:lnSpc>
              <a:spcPct val="90000"/>
            </a:lnSpc>
            <a:spcBef>
              <a:spcPct val="0"/>
            </a:spcBef>
            <a:spcAft>
              <a:spcPct val="35000"/>
            </a:spcAft>
            <a:buNone/>
          </a:pPr>
          <a:r>
            <a:rPr lang="en-US" sz="1200" kern="1200" dirty="0">
              <a:latin typeface="Aptos Display" panose="02110004020202020204"/>
            </a:rPr>
            <a:t>Conclusion</a:t>
          </a:r>
        </a:p>
      </dsp:txBody>
      <dsp:txXfrm>
        <a:off x="10141044" y="18374389"/>
        <a:ext cx="1086540" cy="724360"/>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4E02D4-7CEE-4426-B842-C52CC7EAF1AF}" type="datetimeFigureOut">
              <a:rPr lang="en-ZA" smtClean="0"/>
              <a:t>2026/05/18</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A4A676-2660-4BB4-BF48-DD096EA23FE3}" type="slidenum">
              <a:rPr lang="en-ZA" smtClean="0"/>
              <a:t>‹#›</a:t>
            </a:fld>
            <a:endParaRPr lang="en-ZA"/>
          </a:p>
        </p:txBody>
      </p:sp>
    </p:spTree>
    <p:extLst>
      <p:ext uri="{BB962C8B-B14F-4D97-AF65-F5344CB8AC3E}">
        <p14:creationId xmlns:p14="http://schemas.microsoft.com/office/powerpoint/2010/main" val="2961855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mn-ea"/>
                <a:cs typeface="+mn-cs"/>
              </a:rPr>
              <a:t>Based on AUC evaluated on a held‑out test set, the </a:t>
            </a:r>
          </a:p>
          <a:p>
            <a:pPr marL="171450" marR="0" lvl="0" indent="-171450" algn="l" defTabSz="914400" rtl="0" eaLnBrk="1" fontAlgn="t" latinLnBrk="0" hangingPunct="1">
              <a:lnSpc>
                <a:spcPct val="100000"/>
              </a:lnSpc>
              <a:spcBef>
                <a:spcPts val="0"/>
              </a:spcBef>
              <a:spcAft>
                <a:spcPts val="0"/>
              </a:spcAft>
              <a:buClrTx/>
              <a:buSzTx/>
              <a:buFont typeface="Wingdings" panose="05000000000000000000" pitchFamily="2" charset="2"/>
              <a:buChar char="ü"/>
              <a:tabLst/>
              <a:defRPr/>
            </a:pPr>
            <a:r>
              <a:rPr lang="en-US" sz="1200" b="1" i="0" kern="1200" dirty="0">
                <a:solidFill>
                  <a:schemeClr val="tx1"/>
                </a:solidFill>
                <a:effectLst/>
                <a:latin typeface="+mn-lt"/>
                <a:ea typeface="+mn-ea"/>
                <a:cs typeface="+mn-cs"/>
              </a:rPr>
              <a:t>Decision Tree</a:t>
            </a:r>
            <a:r>
              <a:rPr lang="en-US" sz="1200" b="0" i="0" kern="1200" dirty="0">
                <a:solidFill>
                  <a:schemeClr val="tx1"/>
                </a:solidFill>
                <a:effectLst/>
                <a:latin typeface="+mn-lt"/>
                <a:ea typeface="+mn-ea"/>
                <a:cs typeface="+mn-cs"/>
              </a:rPr>
              <a:t> achieved the best predictive performance (AUC ≈ 0.7495) &amp; </a:t>
            </a:r>
            <a:r>
              <a:rPr lang="en-US" sz="1200" dirty="0"/>
              <a:t>shows the strongest ROC performance,</a:t>
            </a:r>
            <a:r>
              <a:rPr lang="en-US" sz="1200" b="0" i="0" kern="1200" dirty="0">
                <a:solidFill>
                  <a:schemeClr val="tx1"/>
                </a:solidFill>
                <a:effectLst/>
                <a:latin typeface="+mn-lt"/>
                <a:ea typeface="+mn-ea"/>
                <a:cs typeface="+mn-cs"/>
              </a:rPr>
              <a:t> indicating the strongest overall discriminative ability. </a:t>
            </a:r>
          </a:p>
          <a:p>
            <a:pPr marL="171450" indent="-171450" fontAlgn="t">
              <a:buFont typeface="Wingdings" panose="05000000000000000000" pitchFamily="2" charset="2"/>
              <a:buChar char="ü"/>
            </a:pPr>
            <a:r>
              <a:rPr lang="en-US" sz="1200" b="1" i="0" kern="1200" dirty="0">
                <a:solidFill>
                  <a:schemeClr val="tx1"/>
                </a:solidFill>
                <a:effectLst/>
                <a:latin typeface="+mn-lt"/>
                <a:ea typeface="+mn-ea"/>
                <a:cs typeface="+mn-cs"/>
              </a:rPr>
              <a:t>Logistic Regression</a:t>
            </a:r>
            <a:r>
              <a:rPr lang="en-US" sz="1200" b="0" i="0" kern="1200" dirty="0">
                <a:solidFill>
                  <a:schemeClr val="tx1"/>
                </a:solidFill>
                <a:effectLst/>
                <a:latin typeface="+mn-lt"/>
                <a:ea typeface="+mn-ea"/>
                <a:cs typeface="+mn-cs"/>
              </a:rPr>
              <a:t> showed moderate performance, constrained by its linear modelling assumptions. In contrast, </a:t>
            </a:r>
          </a:p>
          <a:p>
            <a:pPr marL="171450" indent="-171450" fontAlgn="t">
              <a:buFont typeface="Wingdings" panose="05000000000000000000" pitchFamily="2" charset="2"/>
              <a:buChar char="ü"/>
            </a:pPr>
            <a:r>
              <a:rPr lang="en-US" sz="1200" b="1" i="0" kern="1200" dirty="0">
                <a:solidFill>
                  <a:schemeClr val="tx1"/>
                </a:solidFill>
                <a:effectLst/>
                <a:latin typeface="+mn-lt"/>
                <a:ea typeface="+mn-ea"/>
                <a:cs typeface="+mn-cs"/>
              </a:rPr>
              <a:t>Naïve Bayes </a:t>
            </a:r>
            <a:r>
              <a:rPr lang="en-US" sz="1200" b="0" i="0" kern="1200" dirty="0">
                <a:solidFill>
                  <a:schemeClr val="tx1"/>
                </a:solidFill>
                <a:effectLst/>
                <a:latin typeface="+mn-lt"/>
                <a:ea typeface="+mn-ea"/>
                <a:cs typeface="+mn-cs"/>
              </a:rPr>
              <a:t>exhibited weak generalization after data cleaning and leakage removal, suggesting that its conditional independence assumption was not well suited to the final feature set.</a:t>
            </a:r>
          </a:p>
          <a:p>
            <a:pPr marL="0" indent="0" fontAlgn="t">
              <a:buFont typeface="Wingdings" panose="05000000000000000000" pitchFamily="2" charset="2"/>
              <a:buNone/>
            </a:pPr>
            <a:r>
              <a:rPr lang="en-US" sz="1200" dirty="0"/>
              <a:t>High sensitivity achieved with better separation of classes.</a:t>
            </a:r>
            <a:endParaRPr lang="en-US" sz="1200" b="0" i="0" kern="1200" dirty="0">
              <a:solidFill>
                <a:schemeClr val="tx1"/>
              </a:solidFill>
              <a:effectLst/>
              <a:latin typeface="+mn-lt"/>
              <a:ea typeface="+mn-ea"/>
              <a:cs typeface="+mn-cs"/>
            </a:endParaRPr>
          </a:p>
          <a:p>
            <a:pPr marL="0" indent="0" fontAlgn="t">
              <a:buFont typeface="Wingdings" panose="05000000000000000000" pitchFamily="2" charset="2"/>
              <a:buNone/>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Consequently, feature importance and key drivers of maintenance were interpreted primarily using the Decision Tree and supported by Logistic Regression. The results further demonstrate that feature engineering substantially improved predictive power, with downtime severity, time‑based patterns, and operational context emerging as the primary drivers of maintenance requirements.</a:t>
            </a:r>
          </a:p>
          <a:p>
            <a:endParaRPr lang="en-US" dirty="0"/>
          </a:p>
          <a:p>
            <a:pPr marL="171450" indent="-171450" fontAlgn="t">
              <a:buFont typeface="Wingdings" panose="05000000000000000000" pitchFamily="2" charset="2"/>
              <a:buChar char="ü"/>
            </a:pPr>
            <a:endParaRPr lang="en-US" sz="1200" b="0" i="0" kern="1200" dirty="0">
              <a:solidFill>
                <a:schemeClr val="tx1"/>
              </a:solidFill>
              <a:effectLst/>
              <a:latin typeface="+mn-lt"/>
              <a:ea typeface="+mn-ea"/>
              <a:cs typeface="+mn-cs"/>
            </a:endParaRPr>
          </a:p>
          <a:p>
            <a:pPr marL="0" indent="0" fontAlgn="t">
              <a:buFont typeface="Wingdings" panose="05000000000000000000" pitchFamily="2" charset="2"/>
              <a:buNone/>
            </a:pPr>
            <a:endParaRPr lang="en-US" sz="1200" b="0" i="0" kern="1200" dirty="0">
              <a:solidFill>
                <a:schemeClr val="tx1"/>
              </a:solidFill>
              <a:effectLst/>
              <a:latin typeface="+mn-lt"/>
              <a:ea typeface="+mn-ea"/>
              <a:cs typeface="+mn-cs"/>
            </a:endParaRPr>
          </a:p>
          <a:p>
            <a:pPr marL="171450" indent="-171450" fontAlgn="t">
              <a:buFont typeface="Wingdings" panose="05000000000000000000" pitchFamily="2" charset="2"/>
              <a:buChar char="ü"/>
            </a:pP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0" i="0" kern="1200" dirty="0">
              <a:solidFill>
                <a:schemeClr val="tx1"/>
              </a:solidFill>
              <a:effectLst/>
              <a:latin typeface="+mn-lt"/>
              <a:ea typeface="+mn-ea"/>
              <a:cs typeface="+mn-cs"/>
            </a:endParaRPr>
          </a:p>
          <a:p>
            <a:endParaRPr lang="en-US" dirty="0"/>
          </a:p>
          <a:p>
            <a:endParaRPr lang="en-US" dirty="0"/>
          </a:p>
        </p:txBody>
      </p:sp>
      <p:sp>
        <p:nvSpPr>
          <p:cNvPr id="4" name="Slide Number Placeholder 3"/>
          <p:cNvSpPr>
            <a:spLocks noGrp="1"/>
          </p:cNvSpPr>
          <p:nvPr>
            <p:ph type="sldNum" sz="quarter" idx="5"/>
          </p:nvPr>
        </p:nvSpPr>
        <p:spPr/>
        <p:txBody>
          <a:bodyPr/>
          <a:lstStyle/>
          <a:p>
            <a:fld id="{C6A4A676-2660-4BB4-BF48-DD096EA23FE3}" type="slidenum">
              <a:rPr lang="en-ZA" smtClean="0"/>
              <a:t>6</a:t>
            </a:fld>
            <a:endParaRPr lang="en-ZA"/>
          </a:p>
        </p:txBody>
      </p:sp>
    </p:spTree>
    <p:extLst>
      <p:ext uri="{BB962C8B-B14F-4D97-AF65-F5344CB8AC3E}">
        <p14:creationId xmlns:p14="http://schemas.microsoft.com/office/powerpoint/2010/main" val="7329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BE04D-7F0A-FF58-B6EC-491771F1F0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EC195F-8B73-337C-8F0F-C62F927013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11B902-279E-803E-3CDE-E1A45A6B307B}"/>
              </a:ext>
            </a:extLst>
          </p:cNvPr>
          <p:cNvSpPr>
            <a:spLocks noGrp="1"/>
          </p:cNvSpPr>
          <p:nvPr>
            <p:ph type="body" idx="1"/>
          </p:nvPr>
        </p:nvSpPr>
        <p:spPr/>
        <p:txBody>
          <a:bodyPr/>
          <a:lstStyle/>
          <a:p>
            <a:pPr fontAlgn="t"/>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Decision Tree model </a:t>
            </a:r>
            <a:r>
              <a:rPr lang="en-US" sz="1200" b="0" i="0" kern="1200" dirty="0">
                <a:solidFill>
                  <a:schemeClr val="tx1"/>
                </a:solidFill>
                <a:effectLst/>
                <a:latin typeface="+mn-lt"/>
                <a:ea typeface="+mn-ea"/>
                <a:cs typeface="+mn-cs"/>
              </a:rPr>
              <a:t>achieved the highest AUC of 0.7495, indicating moderate predictive performance and reasonable generalization. </a:t>
            </a:r>
          </a:p>
          <a:p>
            <a:pPr fontAlgn="t"/>
            <a:r>
              <a:rPr lang="en-US" sz="1200" b="0" i="0" kern="1200" dirty="0">
                <a:solidFill>
                  <a:schemeClr val="tx1"/>
                </a:solidFill>
                <a:effectLst/>
                <a:latin typeface="+mn-lt"/>
                <a:ea typeface="+mn-ea"/>
                <a:cs typeface="+mn-cs"/>
              </a:rPr>
              <a:t>There is no strong evidence of overfitting, as the model is relatively simple (limited tree depth and number of trees). </a:t>
            </a:r>
          </a:p>
          <a:p>
            <a:pPr fontAlgn="t"/>
            <a:r>
              <a:rPr lang="en-US" sz="1200" b="0" i="0" kern="1200" dirty="0">
                <a:solidFill>
                  <a:schemeClr val="tx1"/>
                </a:solidFill>
                <a:effectLst/>
                <a:latin typeface="+mn-lt"/>
                <a:ea typeface="+mn-ea"/>
                <a:cs typeface="+mn-cs"/>
              </a:rPr>
              <a:t>However, the simple structure suggests some underfitting may be present, indicating high bias and an inability to fully capture complex downtime patterns. </a:t>
            </a:r>
          </a:p>
          <a:p>
            <a:pPr fontAlgn="t"/>
            <a:endParaRPr lang="en-US" sz="1200" b="0" i="0" kern="1200" dirty="0">
              <a:solidFill>
                <a:schemeClr val="tx1"/>
              </a:solidFill>
              <a:effectLst/>
              <a:latin typeface="+mn-lt"/>
              <a:ea typeface="+mn-ea"/>
              <a:cs typeface="+mn-cs"/>
            </a:endParaRPr>
          </a:p>
          <a:p>
            <a:pPr marL="171450" indent="-171450" fontAlgn="t">
              <a:buFontTx/>
              <a:buChar char="-"/>
            </a:pPr>
            <a:r>
              <a:rPr lang="en-US" sz="1200" b="1" i="0" kern="1200" dirty="0">
                <a:solidFill>
                  <a:schemeClr val="tx1"/>
                </a:solidFill>
                <a:effectLst/>
                <a:latin typeface="+mn-lt"/>
                <a:ea typeface="+mn-ea"/>
                <a:cs typeface="+mn-cs"/>
              </a:rPr>
              <a:t>The Logistic Regression model </a:t>
            </a:r>
            <a:r>
              <a:rPr lang="en-US" sz="1200" b="0" i="0" kern="1200" dirty="0">
                <a:solidFill>
                  <a:schemeClr val="tx1"/>
                </a:solidFill>
                <a:effectLst/>
                <a:latin typeface="+mn-lt"/>
                <a:ea typeface="+mn-ea"/>
                <a:cs typeface="+mn-cs"/>
              </a:rPr>
              <a:t>also shows signs of underfitting due to its lower AUC and linear assumptions. </a:t>
            </a:r>
          </a:p>
          <a:p>
            <a:pPr marL="171450" indent="-171450" fontAlgn="t">
              <a:buFontTx/>
              <a:buChar char="-"/>
            </a:pPr>
            <a:r>
              <a:rPr lang="en-US" sz="1200" b="1" i="0" kern="1200" dirty="0">
                <a:solidFill>
                  <a:schemeClr val="tx1"/>
                </a:solidFill>
                <a:effectLst/>
                <a:latin typeface="+mn-lt"/>
                <a:ea typeface="+mn-ea"/>
                <a:cs typeface="+mn-cs"/>
              </a:rPr>
              <a:t>The Naive Bayes model </a:t>
            </a:r>
            <a:r>
              <a:rPr lang="en-US" sz="1200" b="0" i="0" kern="1200" dirty="0">
                <a:solidFill>
                  <a:schemeClr val="tx1"/>
                </a:solidFill>
                <a:effectLst/>
                <a:latin typeface="+mn-lt"/>
                <a:ea typeface="+mn-ea"/>
                <a:cs typeface="+mn-cs"/>
              </a:rPr>
              <a:t>performs poorly (AUC = 0.3452), indicating severe underfitting, likely due to its strong independence assumptions. Overall, the models exhibit low variance but moderate to high bias, particularly for Logistic Regression and Naive Bayes.</a:t>
            </a:r>
          </a:p>
        </p:txBody>
      </p:sp>
      <p:sp>
        <p:nvSpPr>
          <p:cNvPr id="4" name="Slide Number Placeholder 3">
            <a:extLst>
              <a:ext uri="{FF2B5EF4-FFF2-40B4-BE49-F238E27FC236}">
                <a16:creationId xmlns:a16="http://schemas.microsoft.com/office/drawing/2014/main" id="{12B2A881-2D67-712C-54C9-A276A1527143}"/>
              </a:ext>
            </a:extLst>
          </p:cNvPr>
          <p:cNvSpPr>
            <a:spLocks noGrp="1"/>
          </p:cNvSpPr>
          <p:nvPr>
            <p:ph type="sldNum" sz="quarter" idx="5"/>
          </p:nvPr>
        </p:nvSpPr>
        <p:spPr/>
        <p:txBody>
          <a:bodyPr/>
          <a:lstStyle/>
          <a:p>
            <a:fld id="{C6A4A676-2660-4BB4-BF48-DD096EA23FE3}" type="slidenum">
              <a:rPr lang="en-ZA" smtClean="0"/>
              <a:t>7</a:t>
            </a:fld>
            <a:endParaRPr lang="en-ZA"/>
          </a:p>
        </p:txBody>
      </p:sp>
    </p:spTree>
    <p:extLst>
      <p:ext uri="{BB962C8B-B14F-4D97-AF65-F5344CB8AC3E}">
        <p14:creationId xmlns:p14="http://schemas.microsoft.com/office/powerpoint/2010/main" val="3152803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The feature importance results show that </a:t>
            </a:r>
            <a:r>
              <a:rPr lang="en-US" sz="1200" b="1" i="0" kern="1200" dirty="0" err="1">
                <a:solidFill>
                  <a:schemeClr val="tx1"/>
                </a:solidFill>
                <a:effectLst/>
                <a:latin typeface="+mn-lt"/>
                <a:ea typeface="+mn-ea"/>
                <a:cs typeface="+mn-cs"/>
              </a:rPr>
              <a:t>DowntimeDuration</a:t>
            </a:r>
            <a:r>
              <a:rPr lang="en-US" sz="1200" b="0" i="0" kern="1200" dirty="0">
                <a:solidFill>
                  <a:schemeClr val="tx1"/>
                </a:solidFill>
                <a:effectLst/>
                <a:latin typeface="+mn-lt"/>
                <a:ea typeface="+mn-ea"/>
                <a:cs typeface="+mn-cs"/>
              </a:rPr>
              <a:t> is the most influential variable in predicting maintenance requirements, indicating that longer downtime events are strongly associated with maintenance needs. </a:t>
            </a: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Other important features include Hour and </a:t>
            </a:r>
            <a:r>
              <a:rPr lang="en-US" sz="1200" b="1" i="0" kern="1200" dirty="0" err="1">
                <a:solidFill>
                  <a:schemeClr val="tx1"/>
                </a:solidFill>
                <a:effectLst/>
                <a:latin typeface="+mn-lt"/>
                <a:ea typeface="+mn-ea"/>
                <a:cs typeface="+mn-cs"/>
              </a:rPr>
              <a:t>EditTimestamp</a:t>
            </a:r>
            <a:r>
              <a:rPr lang="en-US" sz="1200" b="0" i="0" kern="1200" dirty="0">
                <a:solidFill>
                  <a:schemeClr val="tx1"/>
                </a:solidFill>
                <a:effectLst/>
                <a:latin typeface="+mn-lt"/>
                <a:ea typeface="+mn-ea"/>
                <a:cs typeface="+mn-cs"/>
              </a:rPr>
              <a:t>, suggesting that the timing of downtime events also plays a significant role. </a:t>
            </a: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Operational features such as </a:t>
            </a:r>
            <a:r>
              <a:rPr lang="en-US" sz="1200" b="1" i="0" kern="1200" dirty="0" err="1">
                <a:solidFill>
                  <a:schemeClr val="tx1"/>
                </a:solidFill>
                <a:effectLst/>
                <a:latin typeface="+mn-lt"/>
                <a:ea typeface="+mn-ea"/>
                <a:cs typeface="+mn-cs"/>
              </a:rPr>
              <a:t>GaeWaterfall</a:t>
            </a:r>
            <a:r>
              <a:rPr lang="en-US" sz="1200" b="0" i="0" kern="1200" dirty="0">
                <a:solidFill>
                  <a:schemeClr val="tx1"/>
                </a:solidFill>
                <a:effectLst/>
                <a:latin typeface="+mn-lt"/>
                <a:ea typeface="+mn-ea"/>
                <a:cs typeface="+mn-cs"/>
              </a:rPr>
              <a:t> and </a:t>
            </a:r>
            <a:r>
              <a:rPr lang="en-US" sz="1200" b="1" i="0" kern="1200" dirty="0" err="1">
                <a:solidFill>
                  <a:schemeClr val="tx1"/>
                </a:solidFill>
                <a:effectLst/>
                <a:latin typeface="+mn-lt"/>
                <a:ea typeface="+mn-ea"/>
                <a:cs typeface="+mn-cs"/>
              </a:rPr>
              <a:t>ControlledDowntime</a:t>
            </a:r>
            <a:r>
              <a:rPr lang="en-US" sz="1200" b="0" i="0" kern="1200" dirty="0">
                <a:solidFill>
                  <a:schemeClr val="tx1"/>
                </a:solidFill>
                <a:effectLst/>
                <a:latin typeface="+mn-lt"/>
                <a:ea typeface="+mn-ea"/>
                <a:cs typeface="+mn-cs"/>
              </a:rPr>
              <a:t> further contribute to the prediction. However, the dominance of </a:t>
            </a:r>
            <a:r>
              <a:rPr lang="en-US" sz="1200" b="1" i="0" kern="1200" dirty="0" err="1">
                <a:solidFill>
                  <a:schemeClr val="tx1"/>
                </a:solidFill>
                <a:effectLst/>
                <a:latin typeface="+mn-lt"/>
                <a:ea typeface="+mn-ea"/>
                <a:cs typeface="+mn-cs"/>
              </a:rPr>
              <a:t>DowntimeDuration</a:t>
            </a:r>
            <a:r>
              <a:rPr lang="en-US" sz="1200" b="0" i="0" kern="1200" dirty="0">
                <a:solidFill>
                  <a:schemeClr val="tx1"/>
                </a:solidFill>
                <a:effectLst/>
                <a:latin typeface="+mn-lt"/>
                <a:ea typeface="+mn-ea"/>
                <a:cs typeface="+mn-cs"/>
              </a:rPr>
              <a:t> and the simple structure observed in the decision tree indicate that the model relies heavily on a single feature, which may result in underfitting and limit the model’s ability to capture more complex relationships in the data.</a:t>
            </a:r>
          </a:p>
          <a:p>
            <a:pPr fontAlgn="t"/>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C6A4A676-2660-4BB4-BF48-DD096EA23FE3}" type="slidenum">
              <a:rPr lang="en-ZA" smtClean="0"/>
              <a:t>8</a:t>
            </a:fld>
            <a:endParaRPr lang="en-ZA"/>
          </a:p>
        </p:txBody>
      </p:sp>
    </p:spTree>
    <p:extLst>
      <p:ext uri="{BB962C8B-B14F-4D97-AF65-F5344CB8AC3E}">
        <p14:creationId xmlns:p14="http://schemas.microsoft.com/office/powerpoint/2010/main" val="5682940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7FAA2-BFA4-947E-211F-ACA39DC424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8AD977-2DE0-F991-23F1-FC07397CC7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37DF75-1133-1B2D-7107-0E1996EABB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71132E-2BDC-EA17-2979-AA768C54F292}"/>
              </a:ext>
            </a:extLst>
          </p:cNvPr>
          <p:cNvSpPr>
            <a:spLocks noGrp="1"/>
          </p:cNvSpPr>
          <p:nvPr>
            <p:ph type="sldNum" sz="quarter" idx="5"/>
          </p:nvPr>
        </p:nvSpPr>
        <p:spPr/>
        <p:txBody>
          <a:bodyPr/>
          <a:lstStyle/>
          <a:p>
            <a:fld id="{C6A4A676-2660-4BB4-BF48-DD096EA23FE3}" type="slidenum">
              <a:rPr lang="en-ZA" smtClean="0"/>
              <a:t>9</a:t>
            </a:fld>
            <a:endParaRPr lang="en-ZA"/>
          </a:p>
        </p:txBody>
      </p:sp>
    </p:spTree>
    <p:extLst>
      <p:ext uri="{BB962C8B-B14F-4D97-AF65-F5344CB8AC3E}">
        <p14:creationId xmlns:p14="http://schemas.microsoft.com/office/powerpoint/2010/main" val="5220358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A525B-7C89-0818-AFF1-E184F85A3D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92FAFA97-542C-5540-583F-A357E45588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FDD93099-2FDC-8337-46B2-9798EB39BB96}"/>
              </a:ext>
            </a:extLst>
          </p:cNvPr>
          <p:cNvSpPr>
            <a:spLocks noGrp="1"/>
          </p:cNvSpPr>
          <p:nvPr>
            <p:ph type="dt" sz="half" idx="10"/>
          </p:nvPr>
        </p:nvSpPr>
        <p:spPr/>
        <p:txBody>
          <a:bodyPr/>
          <a:lstStyle/>
          <a:p>
            <a:fld id="{D3997BC2-908B-4AE2-B66B-0BE82B2F56FB}" type="datetimeFigureOut">
              <a:rPr lang="en-ZA" smtClean="0"/>
              <a:t>2026/05/18</a:t>
            </a:fld>
            <a:endParaRPr lang="en-ZA"/>
          </a:p>
        </p:txBody>
      </p:sp>
      <p:sp>
        <p:nvSpPr>
          <p:cNvPr id="5" name="Footer Placeholder 4">
            <a:extLst>
              <a:ext uri="{FF2B5EF4-FFF2-40B4-BE49-F238E27FC236}">
                <a16:creationId xmlns:a16="http://schemas.microsoft.com/office/drawing/2014/main" id="{37344EEB-A394-AC7A-4C4F-9D81D689B5C6}"/>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222DA6D1-146F-7C62-0C27-01A5A8CE763B}"/>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36851917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51C24-FE9A-AF0D-D00E-AF05DD8832D5}"/>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FF338984-ADDD-77D9-4862-6D2093C30F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75B571C-5208-9F89-2400-C2B0029D2AFC}"/>
              </a:ext>
            </a:extLst>
          </p:cNvPr>
          <p:cNvSpPr>
            <a:spLocks noGrp="1"/>
          </p:cNvSpPr>
          <p:nvPr>
            <p:ph type="dt" sz="half" idx="10"/>
          </p:nvPr>
        </p:nvSpPr>
        <p:spPr/>
        <p:txBody>
          <a:bodyPr/>
          <a:lstStyle/>
          <a:p>
            <a:fld id="{D3997BC2-908B-4AE2-B66B-0BE82B2F56FB}" type="datetimeFigureOut">
              <a:rPr lang="en-ZA" smtClean="0"/>
              <a:t>2026/05/18</a:t>
            </a:fld>
            <a:endParaRPr lang="en-ZA"/>
          </a:p>
        </p:txBody>
      </p:sp>
      <p:sp>
        <p:nvSpPr>
          <p:cNvPr id="5" name="Footer Placeholder 4">
            <a:extLst>
              <a:ext uri="{FF2B5EF4-FFF2-40B4-BE49-F238E27FC236}">
                <a16:creationId xmlns:a16="http://schemas.microsoft.com/office/drawing/2014/main" id="{7B06B03C-18AF-BCF7-E104-878387850E14}"/>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397892C7-A7C8-C835-3495-65D9A721C817}"/>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522942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977A2-EEDC-9396-EDF5-8C9C6F9BB2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8EB4CABE-C170-BFE5-06D9-8ACAE81D624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128E9F-94AB-405C-59E7-24D2E11EC7AC}"/>
              </a:ext>
            </a:extLst>
          </p:cNvPr>
          <p:cNvSpPr>
            <a:spLocks noGrp="1"/>
          </p:cNvSpPr>
          <p:nvPr>
            <p:ph type="dt" sz="half" idx="10"/>
          </p:nvPr>
        </p:nvSpPr>
        <p:spPr/>
        <p:txBody>
          <a:bodyPr/>
          <a:lstStyle/>
          <a:p>
            <a:fld id="{D3997BC2-908B-4AE2-B66B-0BE82B2F56FB}" type="datetimeFigureOut">
              <a:rPr lang="en-ZA" smtClean="0"/>
              <a:t>2026/05/18</a:t>
            </a:fld>
            <a:endParaRPr lang="en-ZA"/>
          </a:p>
        </p:txBody>
      </p:sp>
      <p:sp>
        <p:nvSpPr>
          <p:cNvPr id="5" name="Footer Placeholder 4">
            <a:extLst>
              <a:ext uri="{FF2B5EF4-FFF2-40B4-BE49-F238E27FC236}">
                <a16:creationId xmlns:a16="http://schemas.microsoft.com/office/drawing/2014/main" id="{E50D097F-79C5-1909-B2E2-777ABCC24D8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C58A3CB1-0DE5-BC1C-5766-A9AE5D2B0880}"/>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2482488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4886D-4DCA-9E15-0FBB-E98DD9EE547B}"/>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62E277A2-6257-646C-4C99-5AFFEF6B4D4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606FDC54-5F33-1D28-E44B-748DED4EB6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381293C8-C19E-2A47-6E08-F3DA087ADBDF}"/>
              </a:ext>
            </a:extLst>
          </p:cNvPr>
          <p:cNvSpPr>
            <a:spLocks noGrp="1"/>
          </p:cNvSpPr>
          <p:nvPr>
            <p:ph type="dt" sz="half" idx="10"/>
          </p:nvPr>
        </p:nvSpPr>
        <p:spPr/>
        <p:txBody>
          <a:bodyPr/>
          <a:lstStyle/>
          <a:p>
            <a:fld id="{D3997BC2-908B-4AE2-B66B-0BE82B2F56FB}" type="datetimeFigureOut">
              <a:rPr lang="en-ZA" smtClean="0"/>
              <a:t>2026/05/18</a:t>
            </a:fld>
            <a:endParaRPr lang="en-ZA"/>
          </a:p>
        </p:txBody>
      </p:sp>
      <p:sp>
        <p:nvSpPr>
          <p:cNvPr id="6" name="Footer Placeholder 5">
            <a:extLst>
              <a:ext uri="{FF2B5EF4-FFF2-40B4-BE49-F238E27FC236}">
                <a16:creationId xmlns:a16="http://schemas.microsoft.com/office/drawing/2014/main" id="{B3144E10-9319-881B-8316-B2158B39933E}"/>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9A070C26-1625-BD6B-A05C-22848314568A}"/>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21812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D8D1A-FAEB-E581-1AEC-5DFADEFFBEC4}"/>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D3EDF994-0AAA-9EC1-1D52-68FC99E56A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38D17B-A38D-6336-8041-9051675654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CAD75745-443A-6D4D-2FE4-61F5ED1928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D16C13-DAEA-108A-D2B1-67307F2B63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D3BC0D69-2666-4DDC-DF9C-E184EF8E5D21}"/>
              </a:ext>
            </a:extLst>
          </p:cNvPr>
          <p:cNvSpPr>
            <a:spLocks noGrp="1"/>
          </p:cNvSpPr>
          <p:nvPr>
            <p:ph type="dt" sz="half" idx="10"/>
          </p:nvPr>
        </p:nvSpPr>
        <p:spPr/>
        <p:txBody>
          <a:bodyPr/>
          <a:lstStyle/>
          <a:p>
            <a:fld id="{D3997BC2-908B-4AE2-B66B-0BE82B2F56FB}" type="datetimeFigureOut">
              <a:rPr lang="en-ZA" smtClean="0"/>
              <a:t>2026/05/18</a:t>
            </a:fld>
            <a:endParaRPr lang="en-ZA"/>
          </a:p>
        </p:txBody>
      </p:sp>
      <p:sp>
        <p:nvSpPr>
          <p:cNvPr id="8" name="Footer Placeholder 7">
            <a:extLst>
              <a:ext uri="{FF2B5EF4-FFF2-40B4-BE49-F238E27FC236}">
                <a16:creationId xmlns:a16="http://schemas.microsoft.com/office/drawing/2014/main" id="{A690385C-4CB8-D8E0-58F4-068D1BB859A2}"/>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C43D98B2-F141-7D75-19AD-4FD4394EBF2C}"/>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3938348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AB291-12BF-9615-65A5-A94006FDCE42}"/>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3C9B4F9B-FC29-593B-4818-1C55D924F2E8}"/>
              </a:ext>
            </a:extLst>
          </p:cNvPr>
          <p:cNvSpPr>
            <a:spLocks noGrp="1"/>
          </p:cNvSpPr>
          <p:nvPr>
            <p:ph type="dt" sz="half" idx="10"/>
          </p:nvPr>
        </p:nvSpPr>
        <p:spPr/>
        <p:txBody>
          <a:bodyPr/>
          <a:lstStyle/>
          <a:p>
            <a:fld id="{D3997BC2-908B-4AE2-B66B-0BE82B2F56FB}" type="datetimeFigureOut">
              <a:rPr lang="en-ZA" smtClean="0"/>
              <a:t>2026/05/18</a:t>
            </a:fld>
            <a:endParaRPr lang="en-ZA"/>
          </a:p>
        </p:txBody>
      </p:sp>
      <p:sp>
        <p:nvSpPr>
          <p:cNvPr id="4" name="Footer Placeholder 3">
            <a:extLst>
              <a:ext uri="{FF2B5EF4-FFF2-40B4-BE49-F238E27FC236}">
                <a16:creationId xmlns:a16="http://schemas.microsoft.com/office/drawing/2014/main" id="{84C4C946-4C9E-23D6-82E8-84D14A582EA0}"/>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B6F51066-0E09-E6A4-4DDB-4A8E8AB0D2EF}"/>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6099047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40004B-EB7D-474F-0123-D1B78E477905}"/>
              </a:ext>
            </a:extLst>
          </p:cNvPr>
          <p:cNvSpPr>
            <a:spLocks noGrp="1"/>
          </p:cNvSpPr>
          <p:nvPr>
            <p:ph type="dt" sz="half" idx="10"/>
          </p:nvPr>
        </p:nvSpPr>
        <p:spPr/>
        <p:txBody>
          <a:bodyPr/>
          <a:lstStyle/>
          <a:p>
            <a:fld id="{D3997BC2-908B-4AE2-B66B-0BE82B2F56FB}" type="datetimeFigureOut">
              <a:rPr lang="en-ZA" smtClean="0"/>
              <a:t>2026/05/18</a:t>
            </a:fld>
            <a:endParaRPr lang="en-ZA"/>
          </a:p>
        </p:txBody>
      </p:sp>
      <p:sp>
        <p:nvSpPr>
          <p:cNvPr id="3" name="Footer Placeholder 2">
            <a:extLst>
              <a:ext uri="{FF2B5EF4-FFF2-40B4-BE49-F238E27FC236}">
                <a16:creationId xmlns:a16="http://schemas.microsoft.com/office/drawing/2014/main" id="{A8B4FE66-6FA6-0125-9554-8CCCEB11A008}"/>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D8E25DFC-B48F-274D-62EF-C7C7E77A65FC}"/>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2750754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918C2-C4F7-E472-07E2-1E089EE1D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76A84C90-838C-DF94-A2E9-8D7878CAC2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2E8FEBE6-185C-0728-3D72-7B2AF39B13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FA6908-7B4E-E75F-50B6-90B5FB9D1BA5}"/>
              </a:ext>
            </a:extLst>
          </p:cNvPr>
          <p:cNvSpPr>
            <a:spLocks noGrp="1"/>
          </p:cNvSpPr>
          <p:nvPr>
            <p:ph type="dt" sz="half" idx="10"/>
          </p:nvPr>
        </p:nvSpPr>
        <p:spPr/>
        <p:txBody>
          <a:bodyPr/>
          <a:lstStyle/>
          <a:p>
            <a:fld id="{D3997BC2-908B-4AE2-B66B-0BE82B2F56FB}" type="datetimeFigureOut">
              <a:rPr lang="en-ZA" smtClean="0"/>
              <a:t>2026/05/18</a:t>
            </a:fld>
            <a:endParaRPr lang="en-ZA"/>
          </a:p>
        </p:txBody>
      </p:sp>
      <p:sp>
        <p:nvSpPr>
          <p:cNvPr id="6" name="Footer Placeholder 5">
            <a:extLst>
              <a:ext uri="{FF2B5EF4-FFF2-40B4-BE49-F238E27FC236}">
                <a16:creationId xmlns:a16="http://schemas.microsoft.com/office/drawing/2014/main" id="{A5098077-6C99-3561-ED3C-1A23D8469EAF}"/>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FD92B655-BCAF-2B8A-CD4D-8727DC2B2818}"/>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328822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2559A-1193-6725-7B6F-8AB4F18530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32DFF954-D366-4B9D-0AA0-0BA4BB47D3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B187CD4F-89F5-7B47-FCD3-01C68184C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754BE2-BA2C-E574-4CB9-051EFFE9F82D}"/>
              </a:ext>
            </a:extLst>
          </p:cNvPr>
          <p:cNvSpPr>
            <a:spLocks noGrp="1"/>
          </p:cNvSpPr>
          <p:nvPr>
            <p:ph type="dt" sz="half" idx="10"/>
          </p:nvPr>
        </p:nvSpPr>
        <p:spPr/>
        <p:txBody>
          <a:bodyPr/>
          <a:lstStyle/>
          <a:p>
            <a:fld id="{D3997BC2-908B-4AE2-B66B-0BE82B2F56FB}" type="datetimeFigureOut">
              <a:rPr lang="en-ZA" smtClean="0"/>
              <a:t>2026/05/18</a:t>
            </a:fld>
            <a:endParaRPr lang="en-ZA"/>
          </a:p>
        </p:txBody>
      </p:sp>
      <p:sp>
        <p:nvSpPr>
          <p:cNvPr id="6" name="Footer Placeholder 5">
            <a:extLst>
              <a:ext uri="{FF2B5EF4-FFF2-40B4-BE49-F238E27FC236}">
                <a16:creationId xmlns:a16="http://schemas.microsoft.com/office/drawing/2014/main" id="{CE82B7A3-F6F1-D21A-5365-2B1FD2AD479A}"/>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7DFBE9D5-562A-CB0A-5E17-984A58634378}"/>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1116109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FEE06-3899-C086-35D6-7C7D832CAC99}"/>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0DFBC438-4595-117D-45ED-51E59A81591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923B438-8537-7529-0790-63B98C9A5C70}"/>
              </a:ext>
            </a:extLst>
          </p:cNvPr>
          <p:cNvSpPr>
            <a:spLocks noGrp="1"/>
          </p:cNvSpPr>
          <p:nvPr>
            <p:ph type="dt" sz="half" idx="10"/>
          </p:nvPr>
        </p:nvSpPr>
        <p:spPr/>
        <p:txBody>
          <a:bodyPr/>
          <a:lstStyle/>
          <a:p>
            <a:fld id="{D3997BC2-908B-4AE2-B66B-0BE82B2F56FB}" type="datetimeFigureOut">
              <a:rPr lang="en-ZA" smtClean="0"/>
              <a:t>2026/05/18</a:t>
            </a:fld>
            <a:endParaRPr lang="en-ZA"/>
          </a:p>
        </p:txBody>
      </p:sp>
      <p:sp>
        <p:nvSpPr>
          <p:cNvPr id="5" name="Footer Placeholder 4">
            <a:extLst>
              <a:ext uri="{FF2B5EF4-FFF2-40B4-BE49-F238E27FC236}">
                <a16:creationId xmlns:a16="http://schemas.microsoft.com/office/drawing/2014/main" id="{87CB9BC3-400E-7797-D7C2-F5A3551B857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7EB53ECA-3C45-1959-9733-3D5A7E3D76DC}"/>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2701872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C7167A-5843-4CDA-A095-6B6172A11E7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6900FD8E-3662-A984-E61B-AFFF10A17FD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995A59E7-4E37-D3D4-CE9E-A854CDDCED65}"/>
              </a:ext>
            </a:extLst>
          </p:cNvPr>
          <p:cNvSpPr>
            <a:spLocks noGrp="1"/>
          </p:cNvSpPr>
          <p:nvPr>
            <p:ph type="dt" sz="half" idx="10"/>
          </p:nvPr>
        </p:nvSpPr>
        <p:spPr/>
        <p:txBody>
          <a:bodyPr/>
          <a:lstStyle/>
          <a:p>
            <a:fld id="{D3997BC2-908B-4AE2-B66B-0BE82B2F56FB}" type="datetimeFigureOut">
              <a:rPr lang="en-ZA" smtClean="0"/>
              <a:t>2026/05/18</a:t>
            </a:fld>
            <a:endParaRPr lang="en-ZA"/>
          </a:p>
        </p:txBody>
      </p:sp>
      <p:sp>
        <p:nvSpPr>
          <p:cNvPr id="5" name="Footer Placeholder 4">
            <a:extLst>
              <a:ext uri="{FF2B5EF4-FFF2-40B4-BE49-F238E27FC236}">
                <a16:creationId xmlns:a16="http://schemas.microsoft.com/office/drawing/2014/main" id="{7133A528-9CB2-2C4C-AEB0-612A80A730D7}"/>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4237EEB3-A479-90A1-2C3C-272C6E20E1EE}"/>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1658297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8D1900-CA9B-F026-E1AE-ED5A27C641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7DED024A-CD96-5611-2ABD-6674A497FA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A3EC3FDE-5A9B-C91C-9380-AAA4BC3E46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3997BC2-908B-4AE2-B66B-0BE82B2F56FB}" type="datetimeFigureOut">
              <a:rPr lang="en-ZA" smtClean="0"/>
              <a:t>2026/05/18</a:t>
            </a:fld>
            <a:endParaRPr lang="en-ZA"/>
          </a:p>
        </p:txBody>
      </p:sp>
      <p:sp>
        <p:nvSpPr>
          <p:cNvPr id="5" name="Footer Placeholder 4">
            <a:extLst>
              <a:ext uri="{FF2B5EF4-FFF2-40B4-BE49-F238E27FC236}">
                <a16:creationId xmlns:a16="http://schemas.microsoft.com/office/drawing/2014/main" id="{B13D5B6D-ED0F-11DF-950B-0EEC27C924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B3F456FE-0192-C8FF-4E6D-0DEF39714F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CC2D65-3171-4FC7-802C-6FA9CF2E3E22}" type="slidenum">
              <a:rPr lang="en-ZA" smtClean="0"/>
              <a:t>‹#›</a:t>
            </a:fld>
            <a:endParaRPr lang="en-ZA"/>
          </a:p>
        </p:txBody>
      </p:sp>
    </p:spTree>
    <p:extLst>
      <p:ext uri="{BB962C8B-B14F-4D97-AF65-F5344CB8AC3E}">
        <p14:creationId xmlns:p14="http://schemas.microsoft.com/office/powerpoint/2010/main" val="32991070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A70D246-911C-D7B3-6009-055DAF83A196}"/>
              </a:ext>
            </a:extLst>
          </p:cNvPr>
          <p:cNvPicPr>
            <a:picLocks noChangeAspect="1"/>
          </p:cNvPicPr>
          <p:nvPr/>
        </p:nvPicPr>
        <p:blipFill>
          <a:blip r:embed="rId2"/>
          <a:stretch>
            <a:fillRect/>
          </a:stretch>
        </p:blipFill>
        <p:spPr>
          <a:xfrm>
            <a:off x="0" y="4921911"/>
            <a:ext cx="12192000" cy="2013632"/>
          </a:xfrm>
          <a:prstGeom prst="rect">
            <a:avLst/>
          </a:prstGeom>
        </p:spPr>
      </p:pic>
      <p:pic>
        <p:nvPicPr>
          <p:cNvPr id="6" name="Picture 5">
            <a:extLst>
              <a:ext uri="{FF2B5EF4-FFF2-40B4-BE49-F238E27FC236}">
                <a16:creationId xmlns:a16="http://schemas.microsoft.com/office/drawing/2014/main" id="{492B0773-86CD-D19C-AD6C-48CDE5F56A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02951" y="170579"/>
            <a:ext cx="2048257" cy="747614"/>
          </a:xfrm>
          <a:prstGeom prst="rect">
            <a:avLst/>
          </a:prstGeom>
        </p:spPr>
      </p:pic>
      <p:sp>
        <p:nvSpPr>
          <p:cNvPr id="8" name="Content Placeholder 2">
            <a:extLst>
              <a:ext uri="{FF2B5EF4-FFF2-40B4-BE49-F238E27FC236}">
                <a16:creationId xmlns:a16="http://schemas.microsoft.com/office/drawing/2014/main" id="{D5ECAFAF-4F91-67A8-9086-1AC0C30FB6F7}"/>
              </a:ext>
            </a:extLst>
          </p:cNvPr>
          <p:cNvSpPr txBox="1">
            <a:spLocks/>
          </p:cNvSpPr>
          <p:nvPr/>
        </p:nvSpPr>
        <p:spPr>
          <a:xfrm>
            <a:off x="3126659" y="3686334"/>
            <a:ext cx="5170253" cy="83680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2900"/>
              </a:lnSpc>
              <a:spcBef>
                <a:spcPts val="0"/>
              </a:spcBef>
              <a:spcAft>
                <a:spcPts val="600"/>
              </a:spcAft>
              <a:buFont typeface="Arial" panose="020B0604020202020204" pitchFamily="34" charset="0"/>
              <a:buNone/>
            </a:pPr>
            <a:r>
              <a:rPr lang="en-ZA" sz="2000" dirty="0">
                <a:solidFill>
                  <a:schemeClr val="bg2">
                    <a:lumMod val="25000"/>
                  </a:schemeClr>
                </a:solidFill>
                <a:latin typeface="Calibri (Body)"/>
              </a:rPr>
              <a:t>By Y</a:t>
            </a:r>
            <a:r>
              <a:rPr lang="en-US" sz="2000" dirty="0" err="1">
                <a:solidFill>
                  <a:schemeClr val="bg2">
                    <a:lumMod val="25000"/>
                  </a:schemeClr>
                </a:solidFill>
                <a:latin typeface="Calibri (Body)"/>
              </a:rPr>
              <a:t>anga</a:t>
            </a:r>
            <a:r>
              <a:rPr lang="en-US" sz="2000" dirty="0">
                <a:solidFill>
                  <a:schemeClr val="bg2">
                    <a:lumMod val="25000"/>
                  </a:schemeClr>
                </a:solidFill>
                <a:latin typeface="Calibri (Body)"/>
              </a:rPr>
              <a:t> Ndamase (226029024) &amp; Mawanda Mbaza (226024595</a:t>
            </a:r>
          </a:p>
        </p:txBody>
      </p:sp>
      <p:sp>
        <p:nvSpPr>
          <p:cNvPr id="2" name="Title 1">
            <a:extLst>
              <a:ext uri="{FF2B5EF4-FFF2-40B4-BE49-F238E27FC236}">
                <a16:creationId xmlns:a16="http://schemas.microsoft.com/office/drawing/2014/main" id="{55E40223-E29F-E9DF-DB75-96BBABB8729D}"/>
              </a:ext>
            </a:extLst>
          </p:cNvPr>
          <p:cNvSpPr txBox="1">
            <a:spLocks/>
          </p:cNvSpPr>
          <p:nvPr/>
        </p:nvSpPr>
        <p:spPr>
          <a:xfrm>
            <a:off x="363794" y="183180"/>
            <a:ext cx="9293941" cy="14700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C80000"/>
                </a:solidFill>
                <a:latin typeface="Aptos (Body)"/>
              </a:rPr>
              <a:t>Machine Learning for Downtime                  			Prediction</a:t>
            </a:r>
          </a:p>
        </p:txBody>
      </p:sp>
      <p:sp>
        <p:nvSpPr>
          <p:cNvPr id="4" name="TextBox 3">
            <a:extLst>
              <a:ext uri="{FF2B5EF4-FFF2-40B4-BE49-F238E27FC236}">
                <a16:creationId xmlns:a16="http://schemas.microsoft.com/office/drawing/2014/main" id="{C0387C65-0A84-4594-D0D7-F1DE8BFCFA6D}"/>
              </a:ext>
            </a:extLst>
          </p:cNvPr>
          <p:cNvSpPr txBox="1"/>
          <p:nvPr/>
        </p:nvSpPr>
        <p:spPr>
          <a:xfrm>
            <a:off x="3224980" y="1717898"/>
            <a:ext cx="6096000" cy="1569660"/>
          </a:xfrm>
          <a:prstGeom prst="rect">
            <a:avLst/>
          </a:prstGeom>
          <a:noFill/>
        </p:spPr>
        <p:txBody>
          <a:bodyPr wrap="square">
            <a:spAutoFit/>
          </a:bodyPr>
          <a:lstStyle/>
          <a:p>
            <a:r>
              <a:rPr lang="en-US" sz="3200" dirty="0">
                <a:latin typeface="Calibri (Body)"/>
              </a:rPr>
              <a:t>STAT606 Practical Assignment</a:t>
            </a:r>
          </a:p>
          <a:p>
            <a:r>
              <a:rPr lang="en-US" sz="3200" dirty="0">
                <a:latin typeface="Calibri (Body)"/>
              </a:rPr>
              <a:t>Binary Classification: Maintenance Requirement Prediction</a:t>
            </a:r>
          </a:p>
        </p:txBody>
      </p:sp>
    </p:spTree>
    <p:extLst>
      <p:ext uri="{BB962C8B-B14F-4D97-AF65-F5344CB8AC3E}">
        <p14:creationId xmlns:p14="http://schemas.microsoft.com/office/powerpoint/2010/main" val="1094209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535F3-F78C-38C6-0BB3-7EC1284637E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2F3D9BE-8D1C-C791-ACCB-79AAFD232A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02951" y="170579"/>
            <a:ext cx="2048257" cy="747614"/>
          </a:xfrm>
          <a:prstGeom prst="rect">
            <a:avLst/>
          </a:prstGeom>
        </p:spPr>
      </p:pic>
      <p:sp>
        <p:nvSpPr>
          <p:cNvPr id="3" name="Content Placeholder 2">
            <a:extLst>
              <a:ext uri="{FF2B5EF4-FFF2-40B4-BE49-F238E27FC236}">
                <a16:creationId xmlns:a16="http://schemas.microsoft.com/office/drawing/2014/main" id="{A04EA10A-4C7D-EE21-DBC1-51A9EB401678}"/>
              </a:ext>
            </a:extLst>
          </p:cNvPr>
          <p:cNvSpPr txBox="1">
            <a:spLocks/>
          </p:cNvSpPr>
          <p:nvPr/>
        </p:nvSpPr>
        <p:spPr>
          <a:xfrm>
            <a:off x="403504" y="415048"/>
            <a:ext cx="9271437" cy="420682"/>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2900"/>
              </a:lnSpc>
              <a:spcBef>
                <a:spcPts val="0"/>
              </a:spcBef>
              <a:spcAft>
                <a:spcPts val="600"/>
              </a:spcAft>
              <a:buNone/>
            </a:pPr>
            <a:r>
              <a:rPr lang="en-US" b="1" dirty="0">
                <a:solidFill>
                  <a:srgbClr val="C00000"/>
                </a:solidFill>
              </a:rPr>
              <a:t>                                                Contents flowchart</a:t>
            </a:r>
          </a:p>
        </p:txBody>
      </p:sp>
      <p:sp>
        <p:nvSpPr>
          <p:cNvPr id="4" name="Content Placeholder 2">
            <a:extLst>
              <a:ext uri="{FF2B5EF4-FFF2-40B4-BE49-F238E27FC236}">
                <a16:creationId xmlns:a16="http://schemas.microsoft.com/office/drawing/2014/main" id="{9ED12EBC-62CB-4D05-0845-2DDBB9B86E51}"/>
              </a:ext>
            </a:extLst>
          </p:cNvPr>
          <p:cNvSpPr txBox="1">
            <a:spLocks/>
          </p:cNvSpPr>
          <p:nvPr/>
        </p:nvSpPr>
        <p:spPr>
          <a:xfrm>
            <a:off x="228142" y="1142286"/>
            <a:ext cx="11707462" cy="56220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 From raw downtime </a:t>
            </a:r>
            <a:r>
              <a:rPr lang="en-US" sz="2400"/>
              <a:t>data to model evaluation </a:t>
            </a:r>
            <a:endParaRPr lang="en-US" sz="2400" dirty="0"/>
          </a:p>
          <a:p>
            <a:endParaRPr lang="en-US" sz="2400" dirty="0"/>
          </a:p>
        </p:txBody>
      </p:sp>
      <p:sp>
        <p:nvSpPr>
          <p:cNvPr id="5" name="Rectangle 4">
            <a:extLst>
              <a:ext uri="{FF2B5EF4-FFF2-40B4-BE49-F238E27FC236}">
                <a16:creationId xmlns:a16="http://schemas.microsoft.com/office/drawing/2014/main" id="{061D8E0F-AFEF-6E52-AB57-2B815409CE1B}"/>
              </a:ext>
            </a:extLst>
          </p:cNvPr>
          <p:cNvSpPr/>
          <p:nvPr/>
        </p:nvSpPr>
        <p:spPr>
          <a:xfrm>
            <a:off x="0" y="244549"/>
            <a:ext cx="212651" cy="785690"/>
          </a:xfrm>
          <a:prstGeom prst="rect">
            <a:avLst/>
          </a:prstGeom>
          <a:solidFill>
            <a:srgbClr val="C80000"/>
          </a:solidFill>
          <a:ln>
            <a:solidFill>
              <a:srgbClr val="C8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srgbClr val="C80000"/>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7EABB724-2DBF-71EB-045E-17C8A340EC8F}"/>
              </a:ext>
            </a:extLst>
          </p:cNvPr>
          <p:cNvCxnSpPr>
            <a:cxnSpLocks/>
          </p:cNvCxnSpPr>
          <p:nvPr/>
        </p:nvCxnSpPr>
        <p:spPr>
          <a:xfrm>
            <a:off x="345839" y="1030239"/>
            <a:ext cx="11589765" cy="0"/>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FACFA54-E045-004D-F7FA-B17786AD3AAD}"/>
              </a:ext>
            </a:extLst>
          </p:cNvPr>
          <p:cNvSpPr txBox="1"/>
          <p:nvPr/>
        </p:nvSpPr>
        <p:spPr>
          <a:xfrm>
            <a:off x="5439697" y="1519903"/>
            <a:ext cx="6100916" cy="369332"/>
          </a:xfrm>
          <a:prstGeom prst="rect">
            <a:avLst/>
          </a:prstGeom>
          <a:noFill/>
        </p:spPr>
        <p:txBody>
          <a:bodyPr wrap="square">
            <a:spAutoFit/>
          </a:bodyPr>
          <a:lstStyle/>
          <a:p>
            <a:pPr>
              <a:buNone/>
            </a:pPr>
            <a:endParaRPr lang="en-US" b="1" dirty="0"/>
          </a:p>
        </p:txBody>
      </p:sp>
      <p:graphicFrame>
        <p:nvGraphicFramePr>
          <p:cNvPr id="12" name="Diagram 11">
            <a:extLst>
              <a:ext uri="{FF2B5EF4-FFF2-40B4-BE49-F238E27FC236}">
                <a16:creationId xmlns:a16="http://schemas.microsoft.com/office/drawing/2014/main" id="{6FEAFAA4-198B-6A23-0FCC-FDC566D5C112}"/>
              </a:ext>
            </a:extLst>
          </p:cNvPr>
          <p:cNvGraphicFramePr/>
          <p:nvPr>
            <p:extLst>
              <p:ext uri="{D42A27DB-BD31-4B8C-83A1-F6EECF244321}">
                <p14:modId xmlns:p14="http://schemas.microsoft.com/office/powerpoint/2010/main" val="4200766804"/>
              </p:ext>
            </p:extLst>
          </p:nvPr>
        </p:nvGraphicFramePr>
        <p:xfrm>
          <a:off x="109866" y="-15623872"/>
          <a:ext cx="11589765" cy="374731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71404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4FEB827-882A-2F2B-855D-D4A61117AB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02951" y="170579"/>
            <a:ext cx="2048257" cy="747614"/>
          </a:xfrm>
          <a:prstGeom prst="rect">
            <a:avLst/>
          </a:prstGeom>
        </p:spPr>
      </p:pic>
      <p:sp>
        <p:nvSpPr>
          <p:cNvPr id="3" name="Content Placeholder 2">
            <a:extLst>
              <a:ext uri="{FF2B5EF4-FFF2-40B4-BE49-F238E27FC236}">
                <a16:creationId xmlns:a16="http://schemas.microsoft.com/office/drawing/2014/main" id="{7B8AE4EB-89E8-C0C6-CCBB-B4F0C01CE8F0}"/>
              </a:ext>
            </a:extLst>
          </p:cNvPr>
          <p:cNvSpPr txBox="1">
            <a:spLocks/>
          </p:cNvSpPr>
          <p:nvPr/>
        </p:nvSpPr>
        <p:spPr>
          <a:xfrm>
            <a:off x="403505" y="415048"/>
            <a:ext cx="7422972" cy="44469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2900"/>
              </a:lnSpc>
              <a:spcBef>
                <a:spcPts val="0"/>
              </a:spcBef>
              <a:spcAft>
                <a:spcPts val="600"/>
              </a:spcAft>
              <a:buNone/>
            </a:pPr>
            <a:r>
              <a:rPr lang="en-US" b="1" dirty="0">
                <a:solidFill>
                  <a:srgbClr val="C00000"/>
                </a:solidFill>
              </a:rPr>
              <a:t>Brief introduction to the data and problem</a:t>
            </a:r>
          </a:p>
        </p:txBody>
      </p:sp>
      <p:sp>
        <p:nvSpPr>
          <p:cNvPr id="4" name="Content Placeholder 2">
            <a:extLst>
              <a:ext uri="{FF2B5EF4-FFF2-40B4-BE49-F238E27FC236}">
                <a16:creationId xmlns:a16="http://schemas.microsoft.com/office/drawing/2014/main" id="{F68E7FFD-0321-1697-E0F5-A739089E6EDB}"/>
              </a:ext>
            </a:extLst>
          </p:cNvPr>
          <p:cNvSpPr txBox="1">
            <a:spLocks/>
          </p:cNvSpPr>
          <p:nvPr/>
        </p:nvSpPr>
        <p:spPr>
          <a:xfrm>
            <a:off x="212651" y="1061439"/>
            <a:ext cx="5465106" cy="56220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1400" b="1" dirty="0"/>
              <a:t>Dataset</a:t>
            </a:r>
          </a:p>
          <a:p>
            <a:pPr>
              <a:buNone/>
            </a:pPr>
            <a:r>
              <a:rPr lang="en-US" sz="1400" dirty="0"/>
              <a:t>We are using the </a:t>
            </a:r>
            <a:r>
              <a:rPr lang="en-US" sz="1400" dirty="0" err="1">
                <a:latin typeface="Courier New" panose="02070309020205020404" pitchFamily="49" charset="0"/>
              </a:rPr>
              <a:t>iportal_downtimes</a:t>
            </a:r>
            <a:r>
              <a:rPr lang="en-US" sz="1400" dirty="0"/>
              <a:t> dataset from manufacturing operations. </a:t>
            </a:r>
          </a:p>
          <a:p>
            <a:pPr>
              <a:buNone/>
            </a:pPr>
            <a:r>
              <a:rPr lang="en-US" sz="1400" dirty="0"/>
              <a:t>The dataset contains machine downtime events (features) from PLC in </a:t>
            </a:r>
            <a:r>
              <a:rPr lang="en-US" sz="1400" dirty="0" err="1"/>
              <a:t>roborts</a:t>
            </a:r>
            <a:r>
              <a:rPr lang="en-US" sz="1400" dirty="0"/>
              <a:t> such as:</a:t>
            </a:r>
          </a:p>
          <a:p>
            <a:pPr>
              <a:buFont typeface="Arial" panose="020B0604020202020204" pitchFamily="34" charset="0"/>
              <a:buChar char="•"/>
            </a:pPr>
            <a:r>
              <a:rPr lang="en-US" sz="1400" dirty="0"/>
              <a:t>downtime duration </a:t>
            </a:r>
          </a:p>
          <a:p>
            <a:pPr>
              <a:buFont typeface="Arial" panose="020B0604020202020204" pitchFamily="34" charset="0"/>
              <a:buChar char="•"/>
            </a:pPr>
            <a:r>
              <a:rPr lang="en-US" sz="1400" dirty="0"/>
              <a:t>fault duration </a:t>
            </a:r>
          </a:p>
          <a:p>
            <a:pPr>
              <a:buFont typeface="Arial" panose="020B0604020202020204" pitchFamily="34" charset="0"/>
              <a:buChar char="•"/>
            </a:pPr>
            <a:r>
              <a:rPr lang="en-US" sz="1400" dirty="0"/>
              <a:t>plant </a:t>
            </a:r>
          </a:p>
          <a:p>
            <a:pPr>
              <a:buFont typeface="Arial" panose="020B0604020202020204" pitchFamily="34" charset="0"/>
              <a:buChar char="•"/>
            </a:pPr>
            <a:r>
              <a:rPr lang="en-US" sz="1400" dirty="0"/>
              <a:t>department </a:t>
            </a:r>
          </a:p>
          <a:p>
            <a:pPr>
              <a:buFont typeface="Arial" panose="020B0604020202020204" pitchFamily="34" charset="0"/>
              <a:buChar char="•"/>
            </a:pPr>
            <a:r>
              <a:rPr lang="en-US" sz="1400" dirty="0"/>
              <a:t>area </a:t>
            </a:r>
          </a:p>
          <a:p>
            <a:pPr>
              <a:buFont typeface="Arial" panose="020B0604020202020204" pitchFamily="34" charset="0"/>
              <a:buChar char="•"/>
            </a:pPr>
            <a:r>
              <a:rPr lang="en-US" sz="1400" dirty="0"/>
              <a:t>downtime type </a:t>
            </a:r>
          </a:p>
          <a:p>
            <a:pPr>
              <a:buFont typeface="Arial" panose="020B0604020202020204" pitchFamily="34" charset="0"/>
              <a:buChar char="•"/>
            </a:pPr>
            <a:r>
              <a:rPr lang="en-US" sz="1400" dirty="0"/>
              <a:t>failure reason </a:t>
            </a:r>
          </a:p>
          <a:p>
            <a:pPr>
              <a:buFont typeface="Arial" panose="020B0604020202020204" pitchFamily="34" charset="0"/>
              <a:buChar char="•"/>
            </a:pPr>
            <a:r>
              <a:rPr lang="en-US" sz="1400" dirty="0"/>
              <a:t>machine messages </a:t>
            </a:r>
          </a:p>
          <a:p>
            <a:pPr>
              <a:buFont typeface="Arial" panose="020B0604020202020204" pitchFamily="34" charset="0"/>
              <a:buChar char="•"/>
            </a:pPr>
            <a:r>
              <a:rPr lang="en-US" sz="1400" dirty="0"/>
              <a:t>timestamps </a:t>
            </a:r>
          </a:p>
          <a:p>
            <a:pPr>
              <a:buNone/>
            </a:pPr>
            <a:r>
              <a:rPr lang="en-US" sz="1400" dirty="0"/>
              <a:t>Each row represents a machine downtime incident.</a:t>
            </a:r>
          </a:p>
          <a:p>
            <a:pPr marL="0" indent="0">
              <a:buNone/>
            </a:pPr>
            <a:r>
              <a:rPr lang="en-US" sz="1400" b="1" dirty="0"/>
              <a:t>This will help:</a:t>
            </a:r>
          </a:p>
          <a:p>
            <a:r>
              <a:rPr lang="en-US" sz="1400" dirty="0"/>
              <a:t>reduce production downtime </a:t>
            </a:r>
          </a:p>
          <a:p>
            <a:r>
              <a:rPr lang="en-US" sz="1400" dirty="0"/>
              <a:t>prioritize maintenance teams </a:t>
            </a:r>
          </a:p>
          <a:p>
            <a:r>
              <a:rPr lang="en-US" sz="1400" dirty="0"/>
              <a:t>improve operational efficiency</a:t>
            </a:r>
          </a:p>
          <a:p>
            <a:pPr>
              <a:buNone/>
            </a:pPr>
            <a:endParaRPr lang="en-US" sz="1400" dirty="0"/>
          </a:p>
        </p:txBody>
      </p:sp>
      <p:sp>
        <p:nvSpPr>
          <p:cNvPr id="5" name="Rectangle 4">
            <a:extLst>
              <a:ext uri="{FF2B5EF4-FFF2-40B4-BE49-F238E27FC236}">
                <a16:creationId xmlns:a16="http://schemas.microsoft.com/office/drawing/2014/main" id="{9F897354-327B-3352-44EB-BE71D0445AF3}"/>
              </a:ext>
            </a:extLst>
          </p:cNvPr>
          <p:cNvSpPr/>
          <p:nvPr/>
        </p:nvSpPr>
        <p:spPr>
          <a:xfrm>
            <a:off x="0" y="244549"/>
            <a:ext cx="212651" cy="785690"/>
          </a:xfrm>
          <a:prstGeom prst="rect">
            <a:avLst/>
          </a:prstGeom>
          <a:solidFill>
            <a:srgbClr val="C80000"/>
          </a:solidFill>
          <a:ln>
            <a:solidFill>
              <a:srgbClr val="C8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srgbClr val="C80000"/>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313E946B-1FB2-8CAB-70C0-2A5EA2FE573B}"/>
              </a:ext>
            </a:extLst>
          </p:cNvPr>
          <p:cNvCxnSpPr>
            <a:cxnSpLocks/>
          </p:cNvCxnSpPr>
          <p:nvPr/>
        </p:nvCxnSpPr>
        <p:spPr>
          <a:xfrm>
            <a:off x="345839" y="1030239"/>
            <a:ext cx="11589765" cy="0"/>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A0ACE9FE-E32D-0257-2BFC-0EE3D641F290}"/>
              </a:ext>
            </a:extLst>
          </p:cNvPr>
          <p:cNvSpPr txBox="1"/>
          <p:nvPr/>
        </p:nvSpPr>
        <p:spPr>
          <a:xfrm>
            <a:off x="5439697" y="1519903"/>
            <a:ext cx="6100916" cy="369332"/>
          </a:xfrm>
          <a:prstGeom prst="rect">
            <a:avLst/>
          </a:prstGeom>
          <a:noFill/>
        </p:spPr>
        <p:txBody>
          <a:bodyPr wrap="square">
            <a:spAutoFit/>
          </a:bodyPr>
          <a:lstStyle/>
          <a:p>
            <a:pPr>
              <a:buNone/>
            </a:pPr>
            <a:endParaRPr lang="en-US" b="1" dirty="0"/>
          </a:p>
        </p:txBody>
      </p:sp>
      <p:sp>
        <p:nvSpPr>
          <p:cNvPr id="12" name="Rectangle 2">
            <a:extLst>
              <a:ext uri="{FF2B5EF4-FFF2-40B4-BE49-F238E27FC236}">
                <a16:creationId xmlns:a16="http://schemas.microsoft.com/office/drawing/2014/main" id="{054EA4D8-B0C1-089A-45C2-B6C8651D53D4}"/>
              </a:ext>
            </a:extLst>
          </p:cNvPr>
          <p:cNvSpPr>
            <a:spLocks noChangeArrowheads="1"/>
          </p:cNvSpPr>
          <p:nvPr/>
        </p:nvSpPr>
        <p:spPr bwMode="auto">
          <a:xfrm>
            <a:off x="5826436" y="999039"/>
            <a:ext cx="5789570" cy="2846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ptos (Body)"/>
              </a:rPr>
              <a:t>Business Problem</a:t>
            </a:r>
            <a:br>
              <a:rPr kumimoji="0" lang="en-US" altLang="en-US" sz="1400" b="1" i="0" u="none" strike="noStrike" cap="none" normalizeH="0" baseline="0" dirty="0">
                <a:ln>
                  <a:noFill/>
                </a:ln>
                <a:solidFill>
                  <a:schemeClr val="tx1"/>
                </a:solidFill>
                <a:effectLst/>
                <a:latin typeface="Aptos (Body)"/>
              </a:rPr>
            </a:br>
            <a:endParaRPr kumimoji="0" lang="en-US" altLang="en-US" sz="1400" b="1" i="0" u="none" strike="noStrike" cap="none" normalizeH="0" baseline="0" dirty="0">
              <a:ln>
                <a:noFill/>
              </a:ln>
              <a:solidFill>
                <a:schemeClr val="tx1"/>
              </a:solidFill>
              <a:effectLst/>
              <a:latin typeface="Aptos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Body)"/>
              </a:rPr>
              <a:t>The objective is to </a:t>
            </a:r>
            <a:r>
              <a:rPr lang="en-US" altLang="en-US" sz="1400" dirty="0">
                <a:latin typeface="Aptos (Body)"/>
              </a:rPr>
              <a:t>p</a:t>
            </a:r>
            <a:r>
              <a:rPr kumimoji="0" lang="en-US" altLang="en-US" sz="1400" b="0" i="0" u="none" strike="noStrike" cap="none" normalizeH="0" baseline="0" dirty="0">
                <a:ln>
                  <a:noFill/>
                </a:ln>
                <a:solidFill>
                  <a:schemeClr val="tx1"/>
                </a:solidFill>
                <a:effectLst/>
                <a:latin typeface="Aptos (Body)"/>
              </a:rPr>
              <a:t>redict whether machine downtime/failures require maintenance using EMEA plants historical downtime logs.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latin typeface="Aptos (Body)"/>
            </a:endParaRPr>
          </a:p>
          <a:p>
            <a:pPr lvl="0" eaLnBrk="0" fontAlgn="base" hangingPunct="0">
              <a:spcBef>
                <a:spcPct val="0"/>
              </a:spcBef>
              <a:spcAft>
                <a:spcPct val="0"/>
              </a:spcAft>
            </a:pPr>
            <a:r>
              <a:rPr kumimoji="0" lang="en-US" altLang="en-US" sz="1400" b="1" i="0" u="none" strike="noStrike" cap="none" normalizeH="0" baseline="0" dirty="0">
                <a:ln>
                  <a:noFill/>
                </a:ln>
                <a:solidFill>
                  <a:schemeClr val="tx1"/>
                </a:solidFill>
                <a:effectLst/>
                <a:latin typeface="Aptos (Body)"/>
              </a:rPr>
              <a:t>Goal</a:t>
            </a:r>
            <a:r>
              <a:rPr kumimoji="0" lang="en-US" altLang="en-US" sz="1400" b="0" i="0" u="none" strike="noStrike" cap="none" normalizeH="0" baseline="0" dirty="0">
                <a:ln>
                  <a:noFill/>
                </a:ln>
                <a:solidFill>
                  <a:schemeClr val="tx1"/>
                </a:solidFill>
                <a:effectLst/>
                <a:latin typeface="Aptos (Body)"/>
              </a:rPr>
              <a:t>: </a:t>
            </a:r>
            <a:r>
              <a:rPr lang="en-US" altLang="en-US" sz="1400" dirty="0">
                <a:latin typeface="Aptos (Body)"/>
              </a:rPr>
              <a:t>Reduce unplanned downtime through early identification of maintenance needs</a:t>
            </a:r>
            <a:r>
              <a:rPr kumimoji="0" lang="en-US" altLang="en-US" sz="1400" b="0" i="0" u="none" strike="noStrike" cap="none" normalizeH="0" baseline="0" dirty="0">
                <a:ln>
                  <a:noFill/>
                </a:ln>
                <a:solidFill>
                  <a:schemeClr val="tx1"/>
                </a:solidFill>
                <a:effectLst/>
                <a:latin typeface="Aptos (Body)"/>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latin typeface="Aptos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Body)"/>
              </a:rPr>
              <a:t>Binary classification problem: </a:t>
            </a:r>
            <a:r>
              <a:rPr kumimoji="0" lang="en-US" altLang="en-US" sz="1400" b="0" i="0" u="none" strike="noStrike" cap="none" normalizeH="0" baseline="0" dirty="0" err="1">
                <a:ln>
                  <a:noFill/>
                </a:ln>
                <a:solidFill>
                  <a:schemeClr val="tx1"/>
                </a:solidFill>
                <a:effectLst/>
                <a:latin typeface="Aptos (Body)"/>
              </a:rPr>
              <a:t>MaintenanceRequired</a:t>
            </a:r>
            <a:r>
              <a:rPr kumimoji="0" lang="en-US" altLang="en-US" sz="1400" b="0" i="0" u="none" strike="noStrike" cap="none" normalizeH="0" baseline="0" dirty="0">
                <a:ln>
                  <a:noFill/>
                </a:ln>
                <a:solidFill>
                  <a:schemeClr val="tx1"/>
                </a:solidFill>
                <a:effectLst/>
                <a:latin typeface="Aptos (Body)"/>
              </a:rPr>
              <a:t> (0/1)</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Target Variable: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Arial Unicode MS"/>
              </a:rPr>
              <a:t>MaintenanceRequired</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graphicFrame>
        <p:nvGraphicFramePr>
          <p:cNvPr id="14" name="Table 13">
            <a:extLst>
              <a:ext uri="{FF2B5EF4-FFF2-40B4-BE49-F238E27FC236}">
                <a16:creationId xmlns:a16="http://schemas.microsoft.com/office/drawing/2014/main" id="{EE43CE3C-CDF7-F2F3-ED79-E1C064A13067}"/>
              </a:ext>
            </a:extLst>
          </p:cNvPr>
          <p:cNvGraphicFramePr>
            <a:graphicFrameLocks noGrp="1"/>
          </p:cNvGraphicFramePr>
          <p:nvPr>
            <p:extLst>
              <p:ext uri="{D42A27DB-BD31-4B8C-83A1-F6EECF244321}">
                <p14:modId xmlns:p14="http://schemas.microsoft.com/office/powerpoint/2010/main" val="2944102612"/>
              </p:ext>
            </p:extLst>
          </p:nvPr>
        </p:nvGraphicFramePr>
        <p:xfrm>
          <a:off x="5959624" y="3998115"/>
          <a:ext cx="5789570" cy="1097280"/>
        </p:xfrm>
        <a:graphic>
          <a:graphicData uri="http://schemas.openxmlformats.org/drawingml/2006/table">
            <a:tbl>
              <a:tblPr firstRow="1" bandRow="1">
                <a:tableStyleId>{5C22544A-7EE6-4342-B048-85BDC9FD1C3A}</a:tableStyleId>
              </a:tblPr>
              <a:tblGrid>
                <a:gridCol w="2894785">
                  <a:extLst>
                    <a:ext uri="{9D8B030D-6E8A-4147-A177-3AD203B41FA5}">
                      <a16:colId xmlns:a16="http://schemas.microsoft.com/office/drawing/2014/main" val="3973972653"/>
                    </a:ext>
                  </a:extLst>
                </a:gridCol>
                <a:gridCol w="2894785">
                  <a:extLst>
                    <a:ext uri="{9D8B030D-6E8A-4147-A177-3AD203B41FA5}">
                      <a16:colId xmlns:a16="http://schemas.microsoft.com/office/drawing/2014/main" val="3114291906"/>
                    </a:ext>
                  </a:extLst>
                </a:gridCol>
              </a:tblGrid>
              <a:tr h="316173">
                <a:tc>
                  <a:txBody>
                    <a:bodyPr/>
                    <a:lstStyle/>
                    <a:p>
                      <a:r>
                        <a:rPr lang="en-ZA" dirty="0" err="1"/>
                        <a:t>Mantainance</a:t>
                      </a:r>
                      <a:r>
                        <a:rPr lang="en-ZA" dirty="0"/>
                        <a:t> Required</a:t>
                      </a:r>
                      <a:endParaRPr lang="en-US" dirty="0"/>
                    </a:p>
                  </a:txBody>
                  <a:tcPr/>
                </a:tc>
                <a:tc>
                  <a:txBody>
                    <a:bodyPr/>
                    <a:lstStyle/>
                    <a:p>
                      <a:r>
                        <a:rPr lang="en-ZA" dirty="0"/>
                        <a:t>Target</a:t>
                      </a:r>
                      <a:endParaRPr lang="en-US" dirty="0"/>
                    </a:p>
                  </a:txBody>
                  <a:tcPr/>
                </a:tc>
                <a:extLst>
                  <a:ext uri="{0D108BD9-81ED-4DB2-BD59-A6C34878D82A}">
                    <a16:rowId xmlns:a16="http://schemas.microsoft.com/office/drawing/2014/main" val="2498342786"/>
                  </a:ext>
                </a:extLst>
              </a:tr>
              <a:tr h="316173">
                <a:tc>
                  <a:txBody>
                    <a:bodyPr/>
                    <a:lstStyle/>
                    <a:p>
                      <a:r>
                        <a:rPr lang="en-ZA" dirty="0"/>
                        <a:t>Yes</a:t>
                      </a:r>
                      <a:endParaRPr lang="en-US" dirty="0"/>
                    </a:p>
                  </a:txBody>
                  <a:tcPr/>
                </a:tc>
                <a:tc>
                  <a:txBody>
                    <a:bodyPr/>
                    <a:lstStyle/>
                    <a:p>
                      <a:r>
                        <a:rPr lang="en-ZA" dirty="0"/>
                        <a:t>1</a:t>
                      </a:r>
                      <a:endParaRPr lang="en-US" dirty="0"/>
                    </a:p>
                  </a:txBody>
                  <a:tcPr/>
                </a:tc>
                <a:extLst>
                  <a:ext uri="{0D108BD9-81ED-4DB2-BD59-A6C34878D82A}">
                    <a16:rowId xmlns:a16="http://schemas.microsoft.com/office/drawing/2014/main" val="3165472283"/>
                  </a:ext>
                </a:extLst>
              </a:tr>
              <a:tr h="316173">
                <a:tc>
                  <a:txBody>
                    <a:bodyPr/>
                    <a:lstStyle/>
                    <a:p>
                      <a:r>
                        <a:rPr lang="en-ZA" dirty="0"/>
                        <a:t>No</a:t>
                      </a:r>
                      <a:endParaRPr lang="en-US" dirty="0"/>
                    </a:p>
                  </a:txBody>
                  <a:tcPr/>
                </a:tc>
                <a:tc>
                  <a:txBody>
                    <a:bodyPr/>
                    <a:lstStyle/>
                    <a:p>
                      <a:r>
                        <a:rPr lang="en-ZA" dirty="0"/>
                        <a:t>0</a:t>
                      </a:r>
                      <a:endParaRPr lang="en-US" dirty="0"/>
                    </a:p>
                  </a:txBody>
                  <a:tcPr/>
                </a:tc>
                <a:extLst>
                  <a:ext uri="{0D108BD9-81ED-4DB2-BD59-A6C34878D82A}">
                    <a16:rowId xmlns:a16="http://schemas.microsoft.com/office/drawing/2014/main" val="1498206858"/>
                  </a:ext>
                </a:extLst>
              </a:tr>
            </a:tbl>
          </a:graphicData>
        </a:graphic>
      </p:graphicFrame>
      <p:pic>
        <p:nvPicPr>
          <p:cNvPr id="1026" name="Picture 2">
            <a:extLst>
              <a:ext uri="{FF2B5EF4-FFF2-40B4-BE49-F238E27FC236}">
                <a16:creationId xmlns:a16="http://schemas.microsoft.com/office/drawing/2014/main" id="{C7B908E6-C245-1A57-F4B5-FD35B26D69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0106" y="2665535"/>
            <a:ext cx="2089769" cy="208976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achine Learning in Automotive: Pros, Cons, and Applications">
            <a:extLst>
              <a:ext uri="{FF2B5EF4-FFF2-40B4-BE49-F238E27FC236}">
                <a16:creationId xmlns:a16="http://schemas.microsoft.com/office/drawing/2014/main" id="{195F6325-5A86-3CE3-C515-63BE589001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5959623" y="5156871"/>
            <a:ext cx="5580990" cy="1644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5432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46301-C61C-4D5E-1328-BE66C0DCE75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A55EE1D-715E-A62F-6B44-35B8F74D19E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02951" y="170579"/>
            <a:ext cx="2048257" cy="747614"/>
          </a:xfrm>
          <a:prstGeom prst="rect">
            <a:avLst/>
          </a:prstGeom>
        </p:spPr>
      </p:pic>
      <p:sp>
        <p:nvSpPr>
          <p:cNvPr id="3" name="Content Placeholder 2">
            <a:extLst>
              <a:ext uri="{FF2B5EF4-FFF2-40B4-BE49-F238E27FC236}">
                <a16:creationId xmlns:a16="http://schemas.microsoft.com/office/drawing/2014/main" id="{2CDC6ADD-4830-CC5C-2DE3-7DAC3E92967A}"/>
              </a:ext>
            </a:extLst>
          </p:cNvPr>
          <p:cNvSpPr txBox="1">
            <a:spLocks/>
          </p:cNvSpPr>
          <p:nvPr/>
        </p:nvSpPr>
        <p:spPr>
          <a:xfrm>
            <a:off x="403504" y="415048"/>
            <a:ext cx="9748681" cy="42068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2900"/>
              </a:lnSpc>
              <a:spcBef>
                <a:spcPts val="0"/>
              </a:spcBef>
              <a:spcAft>
                <a:spcPts val="600"/>
              </a:spcAft>
              <a:buNone/>
            </a:pPr>
            <a:r>
              <a:rPr lang="en-US" b="1" dirty="0">
                <a:solidFill>
                  <a:srgbClr val="C00000"/>
                </a:solidFill>
              </a:rPr>
              <a:t>Data Understanding, Preprocessing &amp; Feature Engineering</a:t>
            </a:r>
          </a:p>
        </p:txBody>
      </p:sp>
      <p:sp>
        <p:nvSpPr>
          <p:cNvPr id="4" name="Content Placeholder 2">
            <a:extLst>
              <a:ext uri="{FF2B5EF4-FFF2-40B4-BE49-F238E27FC236}">
                <a16:creationId xmlns:a16="http://schemas.microsoft.com/office/drawing/2014/main" id="{70B016E6-A60F-8760-686D-F83C880A4578}"/>
              </a:ext>
            </a:extLst>
          </p:cNvPr>
          <p:cNvSpPr txBox="1">
            <a:spLocks/>
          </p:cNvSpPr>
          <p:nvPr/>
        </p:nvSpPr>
        <p:spPr>
          <a:xfrm>
            <a:off x="228142" y="1142286"/>
            <a:ext cx="11707462" cy="56220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t>Duplicate removal: unique(</a:t>
            </a:r>
            <a:r>
              <a:rPr lang="en-US" sz="2100" dirty="0" err="1"/>
              <a:t>df</a:t>
            </a:r>
            <a:r>
              <a:rPr lang="en-US" sz="2100" dirty="0"/>
              <a:t>) used to eliminate repeated downtime records &amp; bias in model learning.</a:t>
            </a:r>
          </a:p>
          <a:p>
            <a:r>
              <a:rPr lang="en-US" sz="2100" dirty="0"/>
              <a:t>Handled missing numeric values: imputed using median (robust to outliers).</a:t>
            </a:r>
          </a:p>
          <a:p>
            <a:r>
              <a:rPr lang="en-US" sz="2100" dirty="0"/>
              <a:t>Handled missing categorical values: replaced with 'Unknown' category so model can still learn from them.</a:t>
            </a:r>
          </a:p>
          <a:p>
            <a:r>
              <a:rPr lang="en-US" sz="2100" dirty="0"/>
              <a:t>Fixed </a:t>
            </a:r>
            <a:r>
              <a:rPr lang="en-US" sz="2100" dirty="0" err="1"/>
              <a:t>NaN</a:t>
            </a:r>
            <a:r>
              <a:rPr lang="en-US" sz="2100" dirty="0"/>
              <a:t> and infinite values before modelling  our data in H2O environment</a:t>
            </a:r>
          </a:p>
          <a:p>
            <a:r>
              <a:rPr lang="en-US" sz="2100" dirty="0"/>
              <a:t>High-cardinality identifiers removed (e.g., </a:t>
            </a:r>
            <a:r>
              <a:rPr lang="en-US" sz="2100" dirty="0" err="1"/>
              <a:t>DowntimeId</a:t>
            </a:r>
            <a:r>
              <a:rPr lang="en-US" sz="2100" dirty="0"/>
              <a:t>) to reduce noise.</a:t>
            </a:r>
          </a:p>
          <a:p>
            <a:r>
              <a:rPr lang="en-US" sz="2100" dirty="0"/>
              <a:t>Removed leakage variables used in target construction (e.g. </a:t>
            </a:r>
            <a:r>
              <a:rPr lang="en-US" sz="2100" dirty="0" err="1"/>
              <a:t>DowntimeType</a:t>
            </a:r>
            <a:r>
              <a:rPr lang="en-US" sz="2100" dirty="0"/>
              <a:t>), Class order was enforced (levels = c("0","1")) ,Numeric conversion + median imputation were also used.</a:t>
            </a:r>
          </a:p>
          <a:p>
            <a:r>
              <a:rPr lang="en-US" sz="2100" dirty="0"/>
              <a:t>Remove identifier columns that do not contribute to prediction</a:t>
            </a:r>
          </a:p>
          <a:p>
            <a:pPr marL="0" indent="0">
              <a:buNone/>
            </a:pPr>
            <a:r>
              <a:rPr lang="en-US" sz="2100" b="1" dirty="0">
                <a:solidFill>
                  <a:srgbClr val="C00000"/>
                </a:solidFill>
                <a:latin typeface="Aptos (Body)"/>
              </a:rPr>
              <a:t>Feature Engineering </a:t>
            </a:r>
            <a:r>
              <a:rPr lang="en-US" sz="2100" b="1" dirty="0">
                <a:latin typeface="Aptos (Body)"/>
              </a:rPr>
              <a:t>(</a:t>
            </a:r>
            <a:r>
              <a:rPr lang="en-US" sz="2100" b="1" dirty="0"/>
              <a:t>Purpose: Improve model ability to capture operational </a:t>
            </a:r>
            <a:r>
              <a:rPr lang="en-US" sz="2100" b="1" dirty="0" err="1"/>
              <a:t>behaviour</a:t>
            </a:r>
            <a:r>
              <a:rPr lang="en-US" sz="2100" b="1" dirty="0"/>
              <a:t> patterns)</a:t>
            </a:r>
            <a:endParaRPr lang="en-US" sz="2100" b="1" dirty="0">
              <a:latin typeface="Aptos (Body)"/>
            </a:endParaRPr>
          </a:p>
          <a:p>
            <a:r>
              <a:rPr lang="en-US" sz="2100" dirty="0"/>
              <a:t>Target creation: based on median downtime threshold + failure keywords.</a:t>
            </a:r>
          </a:p>
          <a:p>
            <a:r>
              <a:rPr lang="en-US" sz="2100" dirty="0"/>
              <a:t>New features: Hour extracted from timestamp, </a:t>
            </a:r>
            <a:r>
              <a:rPr lang="en-US" sz="2100" dirty="0" err="1"/>
              <a:t>DayOfWeek</a:t>
            </a:r>
            <a:r>
              <a:rPr lang="en-US" sz="2100" dirty="0"/>
              <a:t> derived from </a:t>
            </a:r>
            <a:r>
              <a:rPr lang="en-US" sz="2100" dirty="0" err="1"/>
              <a:t>DowntimeStartDatetime</a:t>
            </a:r>
            <a:r>
              <a:rPr lang="en-US" sz="2100" dirty="0"/>
              <a:t>.</a:t>
            </a:r>
          </a:p>
          <a:p>
            <a:r>
              <a:rPr lang="en-US" sz="2100" dirty="0" err="1"/>
              <a:t>EmergencyFlag</a:t>
            </a:r>
            <a:r>
              <a:rPr lang="en-US" sz="2100" dirty="0"/>
              <a:t> created using keyword detection (emergency, critical, urgent) from </a:t>
            </a:r>
            <a:r>
              <a:rPr lang="en-US" sz="2100" dirty="0" err="1"/>
              <a:t>DowntimeDescription</a:t>
            </a:r>
            <a:endParaRPr lang="en-US" sz="2100" dirty="0"/>
          </a:p>
          <a:p>
            <a:endParaRPr lang="en-US" sz="2100" dirty="0"/>
          </a:p>
        </p:txBody>
      </p:sp>
      <p:sp>
        <p:nvSpPr>
          <p:cNvPr id="5" name="Rectangle 4">
            <a:extLst>
              <a:ext uri="{FF2B5EF4-FFF2-40B4-BE49-F238E27FC236}">
                <a16:creationId xmlns:a16="http://schemas.microsoft.com/office/drawing/2014/main" id="{37D5E89D-A649-FCCE-0EFD-95361296BBCD}"/>
              </a:ext>
            </a:extLst>
          </p:cNvPr>
          <p:cNvSpPr/>
          <p:nvPr/>
        </p:nvSpPr>
        <p:spPr>
          <a:xfrm>
            <a:off x="0" y="244549"/>
            <a:ext cx="212651" cy="785690"/>
          </a:xfrm>
          <a:prstGeom prst="rect">
            <a:avLst/>
          </a:prstGeom>
          <a:solidFill>
            <a:srgbClr val="C80000"/>
          </a:solidFill>
          <a:ln>
            <a:solidFill>
              <a:srgbClr val="C8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srgbClr val="C80000"/>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BF2F8D98-9CA6-C776-8CF0-AD6F52EBDEA0}"/>
              </a:ext>
            </a:extLst>
          </p:cNvPr>
          <p:cNvCxnSpPr>
            <a:cxnSpLocks/>
          </p:cNvCxnSpPr>
          <p:nvPr/>
        </p:nvCxnSpPr>
        <p:spPr>
          <a:xfrm>
            <a:off x="345839" y="1030239"/>
            <a:ext cx="11589765" cy="0"/>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375A8AB-7344-F889-16ED-580954726ECA}"/>
              </a:ext>
            </a:extLst>
          </p:cNvPr>
          <p:cNvSpPr txBox="1"/>
          <p:nvPr/>
        </p:nvSpPr>
        <p:spPr>
          <a:xfrm>
            <a:off x="5439697" y="1519903"/>
            <a:ext cx="6100916" cy="369332"/>
          </a:xfrm>
          <a:prstGeom prst="rect">
            <a:avLst/>
          </a:prstGeom>
          <a:noFill/>
        </p:spPr>
        <p:txBody>
          <a:bodyPr wrap="square">
            <a:spAutoFit/>
          </a:bodyPr>
          <a:lstStyle/>
          <a:p>
            <a:pPr>
              <a:buNone/>
            </a:pPr>
            <a:endParaRPr lang="en-US" b="1" dirty="0"/>
          </a:p>
        </p:txBody>
      </p:sp>
    </p:spTree>
    <p:extLst>
      <p:ext uri="{BB962C8B-B14F-4D97-AF65-F5344CB8AC3E}">
        <p14:creationId xmlns:p14="http://schemas.microsoft.com/office/powerpoint/2010/main" val="1319719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2DD76-0BB7-AF9B-7A0C-6FF4317D33F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5785022-2A51-E743-30DB-23E51EA76D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02951" y="170579"/>
            <a:ext cx="2048257" cy="747614"/>
          </a:xfrm>
          <a:prstGeom prst="rect">
            <a:avLst/>
          </a:prstGeom>
        </p:spPr>
      </p:pic>
      <p:sp>
        <p:nvSpPr>
          <p:cNvPr id="3" name="Content Placeholder 2">
            <a:extLst>
              <a:ext uri="{FF2B5EF4-FFF2-40B4-BE49-F238E27FC236}">
                <a16:creationId xmlns:a16="http://schemas.microsoft.com/office/drawing/2014/main" id="{585007F7-0919-A9D0-BEC1-DE8E4A3DF211}"/>
              </a:ext>
            </a:extLst>
          </p:cNvPr>
          <p:cNvSpPr txBox="1">
            <a:spLocks/>
          </p:cNvSpPr>
          <p:nvPr/>
        </p:nvSpPr>
        <p:spPr>
          <a:xfrm>
            <a:off x="403504" y="415048"/>
            <a:ext cx="9271437" cy="42068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2900"/>
              </a:lnSpc>
              <a:spcBef>
                <a:spcPts val="0"/>
              </a:spcBef>
              <a:spcAft>
                <a:spcPts val="600"/>
              </a:spcAft>
              <a:buNone/>
            </a:pPr>
            <a:r>
              <a:rPr lang="en-US" b="1" dirty="0">
                <a:solidFill>
                  <a:srgbClr val="C00000"/>
                </a:solidFill>
                <a:latin typeface="Aptos (Body)"/>
              </a:rPr>
              <a:t>4. Machine Learning Techniques</a:t>
            </a:r>
          </a:p>
        </p:txBody>
      </p:sp>
      <p:sp>
        <p:nvSpPr>
          <p:cNvPr id="4" name="Content Placeholder 2">
            <a:extLst>
              <a:ext uri="{FF2B5EF4-FFF2-40B4-BE49-F238E27FC236}">
                <a16:creationId xmlns:a16="http://schemas.microsoft.com/office/drawing/2014/main" id="{173A6AC1-F31E-0E11-46C7-2E21ED3AAAFE}"/>
              </a:ext>
            </a:extLst>
          </p:cNvPr>
          <p:cNvSpPr txBox="1">
            <a:spLocks/>
          </p:cNvSpPr>
          <p:nvPr/>
        </p:nvSpPr>
        <p:spPr>
          <a:xfrm>
            <a:off x="228142" y="1142286"/>
            <a:ext cx="11707462" cy="56220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b="1" dirty="0"/>
              <a:t>Three classification techniques were applied are as follows:</a:t>
            </a:r>
          </a:p>
          <a:p>
            <a:pPr>
              <a:lnSpc>
                <a:spcPct val="150000"/>
              </a:lnSpc>
              <a:buFontTx/>
              <a:buChar char="-"/>
            </a:pPr>
            <a:r>
              <a:rPr lang="en-US" b="1" dirty="0"/>
              <a:t>Decision Tree </a:t>
            </a:r>
            <a:r>
              <a:rPr lang="en-US" dirty="0"/>
              <a:t>(interpretable rule-based model) </a:t>
            </a:r>
          </a:p>
          <a:p>
            <a:pPr lvl="1">
              <a:lnSpc>
                <a:spcPct val="150000"/>
              </a:lnSpc>
              <a:buFont typeface="Wingdings" panose="05000000000000000000" pitchFamily="2" charset="2"/>
              <a:buChar char="ü"/>
            </a:pPr>
            <a:r>
              <a:rPr lang="en-US" sz="1800" dirty="0"/>
              <a:t>Implemented using </a:t>
            </a:r>
            <a:r>
              <a:rPr lang="en-US" sz="1800" b="1" dirty="0"/>
              <a:t>Random Forest </a:t>
            </a:r>
            <a:r>
              <a:rPr lang="en-US" sz="1800" dirty="0"/>
              <a:t>with a small number of trees for stability</a:t>
            </a:r>
          </a:p>
          <a:p>
            <a:pPr lvl="1">
              <a:lnSpc>
                <a:spcPct val="150000"/>
              </a:lnSpc>
              <a:buFont typeface="Wingdings" panose="05000000000000000000" pitchFamily="2" charset="2"/>
              <a:buChar char="ü"/>
            </a:pPr>
            <a:r>
              <a:rPr lang="en-US" sz="1800" b="1" dirty="0" err="1"/>
              <a:t>rpart</a:t>
            </a:r>
            <a:r>
              <a:rPr lang="en-US" sz="1800" dirty="0"/>
              <a:t> was used for visual interpretation of tree structure &amp; to display fitted tree information</a:t>
            </a:r>
          </a:p>
          <a:p>
            <a:pPr>
              <a:lnSpc>
                <a:spcPct val="150000"/>
              </a:lnSpc>
              <a:buFontTx/>
              <a:buChar char="-"/>
            </a:pPr>
            <a:r>
              <a:rPr lang="en-US" b="1" dirty="0"/>
              <a:t>Logistic Regression </a:t>
            </a:r>
            <a:r>
              <a:rPr lang="en-US" dirty="0"/>
              <a:t>(linear baseline model)</a:t>
            </a:r>
          </a:p>
          <a:p>
            <a:pPr lvl="1">
              <a:lnSpc>
                <a:spcPct val="150000"/>
              </a:lnSpc>
              <a:buFont typeface="Wingdings" panose="05000000000000000000" pitchFamily="2" charset="2"/>
              <a:buChar char="ü"/>
            </a:pPr>
            <a:r>
              <a:rPr lang="en-US" sz="1800" dirty="0"/>
              <a:t>To captures linear relationships in downtime </a:t>
            </a:r>
            <a:r>
              <a:rPr lang="en-US" sz="1800" dirty="0" err="1"/>
              <a:t>behaviour</a:t>
            </a:r>
            <a:endParaRPr lang="en-US" sz="1800" dirty="0"/>
          </a:p>
          <a:p>
            <a:pPr>
              <a:lnSpc>
                <a:spcPct val="150000"/>
              </a:lnSpc>
              <a:buFontTx/>
              <a:buChar char="-"/>
            </a:pPr>
            <a:r>
              <a:rPr lang="en-US" b="1" dirty="0"/>
              <a:t>Naive Bayes </a:t>
            </a:r>
            <a:r>
              <a:rPr lang="en-US" dirty="0"/>
              <a:t>(probabilistic independence model)</a:t>
            </a:r>
          </a:p>
          <a:p>
            <a:pPr lvl="1">
              <a:lnSpc>
                <a:spcPct val="150000"/>
              </a:lnSpc>
              <a:buFont typeface="Wingdings" panose="05000000000000000000" pitchFamily="2" charset="2"/>
              <a:buChar char="ü"/>
            </a:pPr>
            <a:r>
              <a:rPr lang="en-US" sz="1800" dirty="0"/>
              <a:t>For assuming conditional independence between predictors in our model</a:t>
            </a:r>
          </a:p>
          <a:p>
            <a:pPr marL="0" indent="0">
              <a:lnSpc>
                <a:spcPct val="150000"/>
              </a:lnSpc>
              <a:buNone/>
            </a:pPr>
            <a:endParaRPr lang="en-US" b="1" dirty="0"/>
          </a:p>
          <a:p>
            <a:pPr marL="0" indent="0">
              <a:buNone/>
            </a:pPr>
            <a:endParaRPr lang="en-US" dirty="0"/>
          </a:p>
        </p:txBody>
      </p:sp>
      <p:sp>
        <p:nvSpPr>
          <p:cNvPr id="5" name="Rectangle 4">
            <a:extLst>
              <a:ext uri="{FF2B5EF4-FFF2-40B4-BE49-F238E27FC236}">
                <a16:creationId xmlns:a16="http://schemas.microsoft.com/office/drawing/2014/main" id="{14D316CE-BA63-4585-DFB7-6EC3F4566F73}"/>
              </a:ext>
            </a:extLst>
          </p:cNvPr>
          <p:cNvSpPr/>
          <p:nvPr/>
        </p:nvSpPr>
        <p:spPr>
          <a:xfrm>
            <a:off x="0" y="244549"/>
            <a:ext cx="212651" cy="785690"/>
          </a:xfrm>
          <a:prstGeom prst="rect">
            <a:avLst/>
          </a:prstGeom>
          <a:solidFill>
            <a:srgbClr val="C80000"/>
          </a:solidFill>
          <a:ln>
            <a:solidFill>
              <a:srgbClr val="C8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srgbClr val="C80000"/>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38C8983E-0F76-F997-D466-989AFF980191}"/>
              </a:ext>
            </a:extLst>
          </p:cNvPr>
          <p:cNvCxnSpPr>
            <a:cxnSpLocks/>
          </p:cNvCxnSpPr>
          <p:nvPr/>
        </p:nvCxnSpPr>
        <p:spPr>
          <a:xfrm>
            <a:off x="345839" y="1030239"/>
            <a:ext cx="11589765" cy="0"/>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3B4A22E-AF75-104F-14D6-3BF7281A3923}"/>
              </a:ext>
            </a:extLst>
          </p:cNvPr>
          <p:cNvSpPr txBox="1"/>
          <p:nvPr/>
        </p:nvSpPr>
        <p:spPr>
          <a:xfrm>
            <a:off x="5439697" y="1519903"/>
            <a:ext cx="6100916" cy="369332"/>
          </a:xfrm>
          <a:prstGeom prst="rect">
            <a:avLst/>
          </a:prstGeom>
          <a:noFill/>
        </p:spPr>
        <p:txBody>
          <a:bodyPr wrap="square">
            <a:spAutoFit/>
          </a:bodyPr>
          <a:lstStyle/>
          <a:p>
            <a:pPr>
              <a:buNone/>
            </a:pPr>
            <a:endParaRPr lang="en-US" b="1" dirty="0"/>
          </a:p>
        </p:txBody>
      </p:sp>
    </p:spTree>
    <p:extLst>
      <p:ext uri="{BB962C8B-B14F-4D97-AF65-F5344CB8AC3E}">
        <p14:creationId xmlns:p14="http://schemas.microsoft.com/office/powerpoint/2010/main" val="1298775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48CA2-C3EC-F7D4-AF29-7F8A1D4C431E}"/>
              </a:ext>
            </a:extLst>
          </p:cNvPr>
          <p:cNvSpPr>
            <a:spLocks noGrp="1"/>
          </p:cNvSpPr>
          <p:nvPr>
            <p:ph type="title"/>
          </p:nvPr>
        </p:nvSpPr>
        <p:spPr>
          <a:xfrm>
            <a:off x="839788" y="-269631"/>
            <a:ext cx="5045197" cy="1600200"/>
          </a:xfrm>
        </p:spPr>
        <p:txBody>
          <a:bodyPr/>
          <a:lstStyle/>
          <a:p>
            <a:r>
              <a:rPr lang="en-US" b="1" dirty="0">
                <a:solidFill>
                  <a:srgbClr val="C00000"/>
                </a:solidFill>
              </a:rPr>
              <a:t>Model Evaluation &amp; Results</a:t>
            </a:r>
            <a:br>
              <a:rPr lang="en-US" b="1" dirty="0">
                <a:solidFill>
                  <a:srgbClr val="C00000"/>
                </a:solidFill>
              </a:rPr>
            </a:br>
            <a:endParaRPr lang="en-US" dirty="0"/>
          </a:p>
        </p:txBody>
      </p:sp>
      <p:sp>
        <p:nvSpPr>
          <p:cNvPr id="4" name="Text Placeholder 3">
            <a:extLst>
              <a:ext uri="{FF2B5EF4-FFF2-40B4-BE49-F238E27FC236}">
                <a16:creationId xmlns:a16="http://schemas.microsoft.com/office/drawing/2014/main" id="{30C8AF1B-F028-D79E-F42A-C21B7F70592E}"/>
              </a:ext>
            </a:extLst>
          </p:cNvPr>
          <p:cNvSpPr>
            <a:spLocks noGrp="1"/>
          </p:cNvSpPr>
          <p:nvPr>
            <p:ph type="body" sz="half" idx="2"/>
          </p:nvPr>
        </p:nvSpPr>
        <p:spPr>
          <a:xfrm>
            <a:off x="839788" y="1189892"/>
            <a:ext cx="5245372" cy="4478215"/>
          </a:xfrm>
        </p:spPr>
        <p:txBody>
          <a:bodyPr>
            <a:normAutofit fontScale="85000" lnSpcReduction="10000"/>
          </a:bodyPr>
          <a:lstStyle/>
          <a:p>
            <a:r>
              <a:rPr lang="en-US" sz="2200" dirty="0"/>
              <a:t>Used 70:30 split ensuring class representation.</a:t>
            </a:r>
            <a:endParaRPr lang="en-US" dirty="0"/>
          </a:p>
          <a:p>
            <a:r>
              <a:rPr lang="en-US" sz="3200" b="1" dirty="0">
                <a:solidFill>
                  <a:srgbClr val="C00000"/>
                </a:solidFill>
                <a:latin typeface="Aptos Display (Headings)"/>
              </a:rPr>
              <a:t>Best Model Selection </a:t>
            </a:r>
            <a:r>
              <a:rPr lang="en-US" sz="3200" b="1" dirty="0">
                <a:solidFill>
                  <a:srgbClr val="C00000"/>
                </a:solidFill>
              </a:rPr>
              <a:t>:</a:t>
            </a:r>
          </a:p>
          <a:p>
            <a:pPr>
              <a:buFontTx/>
              <a:buChar char="-"/>
            </a:pPr>
            <a:r>
              <a:rPr lang="en-US" sz="2800" dirty="0"/>
              <a:t> </a:t>
            </a:r>
            <a:r>
              <a:rPr lang="en-US" sz="2800" b="1" dirty="0"/>
              <a:t>Evaluation metric</a:t>
            </a:r>
            <a:r>
              <a:rPr lang="en-US" sz="2800" dirty="0"/>
              <a:t>: </a:t>
            </a:r>
            <a:r>
              <a:rPr lang="en-US" sz="2200" dirty="0"/>
              <a:t>AUC (Area Under Curve) - We use AUC instead of F1 because : - downtime data is often imbalanced</a:t>
            </a:r>
            <a:endParaRPr lang="en-US" sz="3200" b="1" dirty="0">
              <a:solidFill>
                <a:srgbClr val="C00000"/>
              </a:solidFill>
            </a:endParaRPr>
          </a:p>
          <a:p>
            <a:pPr>
              <a:buFontTx/>
              <a:buChar char="-"/>
            </a:pPr>
            <a:r>
              <a:rPr lang="en-US" sz="2100" b="1" dirty="0"/>
              <a:t>The Decision Tree achieved the highest AUC - </a:t>
            </a:r>
            <a:r>
              <a:rPr lang="en-US" sz="2100" dirty="0"/>
              <a:t>demonstrating the strongest predictive performance on the held‑out test set.</a:t>
            </a:r>
          </a:p>
          <a:p>
            <a:pPr>
              <a:buFontTx/>
              <a:buChar char="-"/>
            </a:pPr>
            <a:r>
              <a:rPr lang="en-US" sz="2100" b="1" dirty="0"/>
              <a:t>Logistic Regression showed lower performance</a:t>
            </a:r>
            <a:r>
              <a:rPr lang="en-US" sz="2100" dirty="0"/>
              <a:t>, as its linear structure limited its ability to capture non‑linear and threshold‑based patterns in maintenance </a:t>
            </a:r>
            <a:r>
              <a:rPr lang="en-US" sz="2100" dirty="0" err="1"/>
              <a:t>behaviour</a:t>
            </a:r>
            <a:r>
              <a:rPr lang="en-US" sz="2100" dirty="0"/>
              <a:t>.</a:t>
            </a:r>
          </a:p>
          <a:p>
            <a:pPr>
              <a:buFontTx/>
              <a:buChar char="-"/>
            </a:pPr>
            <a:r>
              <a:rPr lang="en-US" sz="2100" b="1" dirty="0"/>
              <a:t>Naïve Bayes performed poorest </a:t>
            </a:r>
            <a:r>
              <a:rPr lang="en-US" sz="2100" dirty="0"/>
              <a:t>-  likely due to violations of the conditional independence assumption after data cleaning and leakage removal.</a:t>
            </a:r>
          </a:p>
          <a:p>
            <a:pPr>
              <a:buFontTx/>
              <a:buChar char="-"/>
            </a:pPr>
            <a:endParaRPr lang="en-US" dirty="0"/>
          </a:p>
          <a:p>
            <a:endParaRPr lang="en-US" dirty="0"/>
          </a:p>
        </p:txBody>
      </p:sp>
      <p:pic>
        <p:nvPicPr>
          <p:cNvPr id="10" name="Content Placeholder 9">
            <a:extLst>
              <a:ext uri="{FF2B5EF4-FFF2-40B4-BE49-F238E27FC236}">
                <a16:creationId xmlns:a16="http://schemas.microsoft.com/office/drawing/2014/main" id="{19D6A491-A680-4F54-F0EA-8D210317DFEF}"/>
              </a:ext>
            </a:extLst>
          </p:cNvPr>
          <p:cNvPicPr>
            <a:picLocks noGrp="1" noChangeAspect="1"/>
          </p:cNvPicPr>
          <p:nvPr>
            <p:ph idx="1"/>
          </p:nvPr>
        </p:nvPicPr>
        <p:blipFill>
          <a:blip r:embed="rId3"/>
          <a:stretch>
            <a:fillRect/>
          </a:stretch>
        </p:blipFill>
        <p:spPr>
          <a:xfrm>
            <a:off x="6549794" y="2770671"/>
            <a:ext cx="5270227" cy="3504987"/>
          </a:xfrm>
          <a:prstGeom prst="rect">
            <a:avLst/>
          </a:prstGeom>
        </p:spPr>
      </p:pic>
      <p:pic>
        <p:nvPicPr>
          <p:cNvPr id="9" name="Picture 8">
            <a:extLst>
              <a:ext uri="{FF2B5EF4-FFF2-40B4-BE49-F238E27FC236}">
                <a16:creationId xmlns:a16="http://schemas.microsoft.com/office/drawing/2014/main" id="{9C7B43A1-4D43-A480-506B-C4D22635EA77}"/>
              </a:ext>
            </a:extLst>
          </p:cNvPr>
          <p:cNvPicPr>
            <a:picLocks noChangeAspect="1"/>
          </p:cNvPicPr>
          <p:nvPr/>
        </p:nvPicPr>
        <p:blipFill>
          <a:blip r:embed="rId4"/>
          <a:stretch>
            <a:fillRect/>
          </a:stretch>
        </p:blipFill>
        <p:spPr>
          <a:xfrm>
            <a:off x="7342799" y="249997"/>
            <a:ext cx="4009413" cy="2161143"/>
          </a:xfrm>
          <a:prstGeom prst="rect">
            <a:avLst/>
          </a:prstGeom>
        </p:spPr>
      </p:pic>
      <p:sp>
        <p:nvSpPr>
          <p:cNvPr id="5" name="TextBox 4">
            <a:extLst>
              <a:ext uri="{FF2B5EF4-FFF2-40B4-BE49-F238E27FC236}">
                <a16:creationId xmlns:a16="http://schemas.microsoft.com/office/drawing/2014/main" id="{8A4B02A0-639E-E10A-29A7-8CE065A8A6D6}"/>
              </a:ext>
            </a:extLst>
          </p:cNvPr>
          <p:cNvSpPr txBox="1"/>
          <p:nvPr/>
        </p:nvSpPr>
        <p:spPr>
          <a:xfrm>
            <a:off x="8927000" y="1351947"/>
            <a:ext cx="1244524" cy="246221"/>
          </a:xfrm>
          <a:prstGeom prst="rect">
            <a:avLst/>
          </a:prstGeom>
          <a:noFill/>
        </p:spPr>
        <p:txBody>
          <a:bodyPr wrap="square" rtlCol="0">
            <a:spAutoFit/>
          </a:bodyPr>
          <a:lstStyle/>
          <a:p>
            <a:r>
              <a:rPr lang="en-ZA" sz="1000" dirty="0"/>
              <a:t>Decision Tree</a:t>
            </a:r>
            <a:endParaRPr lang="en-US" sz="1000" dirty="0"/>
          </a:p>
        </p:txBody>
      </p:sp>
    </p:spTree>
    <p:extLst>
      <p:ext uri="{BB962C8B-B14F-4D97-AF65-F5344CB8AC3E}">
        <p14:creationId xmlns:p14="http://schemas.microsoft.com/office/powerpoint/2010/main" val="2148932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71069-4EC1-A5F2-16FC-2E0298DABB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E30450-21A2-94B0-5889-A5FEF2EA1B9B}"/>
              </a:ext>
            </a:extLst>
          </p:cNvPr>
          <p:cNvSpPr>
            <a:spLocks noGrp="1"/>
          </p:cNvSpPr>
          <p:nvPr>
            <p:ph type="title"/>
          </p:nvPr>
        </p:nvSpPr>
        <p:spPr>
          <a:xfrm>
            <a:off x="1867693" y="-483491"/>
            <a:ext cx="6522304" cy="1600200"/>
          </a:xfrm>
        </p:spPr>
        <p:txBody>
          <a:bodyPr/>
          <a:lstStyle/>
          <a:p>
            <a:r>
              <a:rPr lang="en-US" b="1" dirty="0">
                <a:solidFill>
                  <a:srgbClr val="C00000"/>
                </a:solidFill>
              </a:rPr>
              <a:t>Model Evaluation &amp; Results </a:t>
            </a:r>
            <a:r>
              <a:rPr lang="en-US" b="1" dirty="0" err="1">
                <a:solidFill>
                  <a:srgbClr val="C00000"/>
                </a:solidFill>
              </a:rPr>
              <a:t>contin</a:t>
            </a:r>
            <a:r>
              <a:rPr lang="en-US" b="1" dirty="0">
                <a:solidFill>
                  <a:srgbClr val="C00000"/>
                </a:solidFill>
              </a:rPr>
              <a:t>…</a:t>
            </a:r>
            <a:br>
              <a:rPr lang="en-US" b="1" dirty="0">
                <a:solidFill>
                  <a:srgbClr val="C00000"/>
                </a:solidFill>
              </a:rPr>
            </a:br>
            <a:endParaRPr lang="en-US" dirty="0"/>
          </a:p>
        </p:txBody>
      </p:sp>
      <p:sp>
        <p:nvSpPr>
          <p:cNvPr id="4" name="Text Placeholder 3">
            <a:extLst>
              <a:ext uri="{FF2B5EF4-FFF2-40B4-BE49-F238E27FC236}">
                <a16:creationId xmlns:a16="http://schemas.microsoft.com/office/drawing/2014/main" id="{C4B5DC59-4722-9F6E-974B-23B6ECE131AA}"/>
              </a:ext>
            </a:extLst>
          </p:cNvPr>
          <p:cNvSpPr>
            <a:spLocks noGrp="1"/>
          </p:cNvSpPr>
          <p:nvPr>
            <p:ph type="body" sz="half" idx="2"/>
          </p:nvPr>
        </p:nvSpPr>
        <p:spPr>
          <a:xfrm>
            <a:off x="452925" y="825227"/>
            <a:ext cx="2829535" cy="1273204"/>
          </a:xfrm>
          <a:ln w="38100">
            <a:solidFill>
              <a:schemeClr val="tx1"/>
            </a:solidFill>
          </a:ln>
        </p:spPr>
        <p:txBody>
          <a:bodyPr>
            <a:normAutofit lnSpcReduction="10000"/>
          </a:bodyPr>
          <a:lstStyle/>
          <a:p>
            <a:r>
              <a:rPr lang="en-US" dirty="0"/>
              <a:t>AUC values:</a:t>
            </a:r>
          </a:p>
          <a:p>
            <a:r>
              <a:rPr lang="en-US" b="1" dirty="0"/>
              <a:t>Decision Tree </a:t>
            </a:r>
            <a:r>
              <a:rPr lang="en-US" dirty="0"/>
              <a:t>= 0.7495 (BEST)</a:t>
            </a:r>
          </a:p>
          <a:p>
            <a:r>
              <a:rPr lang="en-US" b="1" dirty="0"/>
              <a:t>Logistic Regression </a:t>
            </a:r>
            <a:r>
              <a:rPr lang="en-US" dirty="0"/>
              <a:t>= 0.6906</a:t>
            </a:r>
          </a:p>
          <a:p>
            <a:r>
              <a:rPr lang="en-US" b="1" dirty="0"/>
              <a:t>Naive</a:t>
            </a:r>
            <a:r>
              <a:rPr lang="en-US" dirty="0"/>
              <a:t> </a:t>
            </a:r>
            <a:r>
              <a:rPr lang="en-US" b="1" dirty="0"/>
              <a:t>Bayes</a:t>
            </a:r>
            <a:r>
              <a:rPr lang="en-US" dirty="0"/>
              <a:t> = 0.3452</a:t>
            </a:r>
          </a:p>
        </p:txBody>
      </p:sp>
      <p:sp>
        <p:nvSpPr>
          <p:cNvPr id="14" name="TextBox 13">
            <a:extLst>
              <a:ext uri="{FF2B5EF4-FFF2-40B4-BE49-F238E27FC236}">
                <a16:creationId xmlns:a16="http://schemas.microsoft.com/office/drawing/2014/main" id="{8CADC86B-2DE6-B138-854B-E9BFF833EBBD}"/>
              </a:ext>
            </a:extLst>
          </p:cNvPr>
          <p:cNvSpPr txBox="1"/>
          <p:nvPr/>
        </p:nvSpPr>
        <p:spPr>
          <a:xfrm>
            <a:off x="376724" y="2286172"/>
            <a:ext cx="4945553" cy="4524315"/>
          </a:xfrm>
          <a:prstGeom prst="rect">
            <a:avLst/>
          </a:prstGeom>
          <a:noFill/>
          <a:ln w="38100">
            <a:solidFill>
              <a:schemeClr val="tx1"/>
            </a:solidFill>
          </a:ln>
        </p:spPr>
        <p:txBody>
          <a:bodyPr wrap="square">
            <a:spAutoFit/>
          </a:bodyPr>
          <a:lstStyle/>
          <a:p>
            <a:r>
              <a:rPr lang="en-US" dirty="0"/>
              <a:t>Interpretation</a:t>
            </a:r>
          </a:p>
          <a:p>
            <a:pPr marL="285750" indent="-285750">
              <a:buFont typeface="Wingdings" panose="05000000000000000000" pitchFamily="2" charset="2"/>
              <a:buChar char="ü"/>
            </a:pPr>
            <a:r>
              <a:rPr lang="en-US" b="1" dirty="0"/>
              <a:t>Decision Tree </a:t>
            </a:r>
            <a:r>
              <a:rPr lang="en-US" dirty="0"/>
              <a:t>(Best Model)</a:t>
            </a:r>
          </a:p>
          <a:p>
            <a:r>
              <a:rPr lang="en-US" dirty="0"/>
              <a:t>AUC = 0.75 → moderate performance</a:t>
            </a:r>
          </a:p>
          <a:p>
            <a:r>
              <a:rPr lang="en-US" dirty="0"/>
              <a:t>The model is not extremely high (not close to 1)</a:t>
            </a:r>
          </a:p>
          <a:p>
            <a:r>
              <a:rPr lang="en-US" b="1" dirty="0"/>
              <a:t>Conclusion</a:t>
            </a:r>
            <a:r>
              <a:rPr lang="en-US" dirty="0"/>
              <a:t>:</a:t>
            </a:r>
          </a:p>
          <a:p>
            <a:endParaRPr lang="en-US" dirty="0"/>
          </a:p>
          <a:p>
            <a:r>
              <a:rPr lang="en-US" dirty="0"/>
              <a:t>The model is not overfitting,</a:t>
            </a:r>
          </a:p>
          <a:p>
            <a:r>
              <a:rPr lang="en-US" dirty="0"/>
              <a:t>It is generalizing reasonably well</a:t>
            </a:r>
          </a:p>
          <a:p>
            <a:r>
              <a:rPr lang="en-US" dirty="0"/>
              <a:t>Slight </a:t>
            </a:r>
            <a:r>
              <a:rPr lang="en-US" b="1" dirty="0"/>
              <a:t>underfitting</a:t>
            </a:r>
            <a:r>
              <a:rPr lang="en-US" dirty="0"/>
              <a:t> may still be present, due to:</a:t>
            </a:r>
          </a:p>
          <a:p>
            <a:r>
              <a:rPr lang="en-US" dirty="0"/>
              <a:t>- shallow tree (</a:t>
            </a:r>
            <a:r>
              <a:rPr lang="en-US" dirty="0" err="1"/>
              <a:t>max_depth</a:t>
            </a:r>
            <a:r>
              <a:rPr lang="en-US" dirty="0"/>
              <a:t> = 5, </a:t>
            </a:r>
            <a:r>
              <a:rPr lang="en-US" dirty="0" err="1"/>
              <a:t>ntrees</a:t>
            </a:r>
            <a:r>
              <a:rPr lang="en-US" dirty="0"/>
              <a:t> = 8)</a:t>
            </a:r>
          </a:p>
          <a:p>
            <a:r>
              <a:rPr lang="en-US" dirty="0"/>
              <a:t>- Very simple splitting rule:</a:t>
            </a:r>
          </a:p>
          <a:p>
            <a:endParaRPr lang="en-US" dirty="0"/>
          </a:p>
          <a:p>
            <a:r>
              <a:rPr lang="en-US" dirty="0" err="1"/>
              <a:t>DowntimeDuration</a:t>
            </a:r>
            <a:r>
              <a:rPr lang="en-US" dirty="0"/>
              <a:t> &lt; 51.5 → class 0</a:t>
            </a:r>
          </a:p>
          <a:p>
            <a:r>
              <a:rPr lang="en-US" dirty="0" err="1"/>
              <a:t>DowntimeDuration</a:t>
            </a:r>
            <a:r>
              <a:rPr lang="en-US" dirty="0"/>
              <a:t> ≥ 51.5 → class 1</a:t>
            </a:r>
          </a:p>
          <a:p>
            <a:r>
              <a:rPr lang="en-US" dirty="0"/>
              <a:t>This shows the model is too simple → high bias</a:t>
            </a:r>
          </a:p>
          <a:p>
            <a:endParaRPr lang="en-US" dirty="0"/>
          </a:p>
        </p:txBody>
      </p:sp>
      <p:sp>
        <p:nvSpPr>
          <p:cNvPr id="18" name="TextBox 17">
            <a:extLst>
              <a:ext uri="{FF2B5EF4-FFF2-40B4-BE49-F238E27FC236}">
                <a16:creationId xmlns:a16="http://schemas.microsoft.com/office/drawing/2014/main" id="{8E17619A-9800-C574-F0D5-5237452B642C}"/>
              </a:ext>
            </a:extLst>
          </p:cNvPr>
          <p:cNvSpPr txBox="1"/>
          <p:nvPr/>
        </p:nvSpPr>
        <p:spPr>
          <a:xfrm>
            <a:off x="6096000" y="929697"/>
            <a:ext cx="6096000" cy="1754326"/>
          </a:xfrm>
          <a:prstGeom prst="rect">
            <a:avLst/>
          </a:prstGeom>
          <a:noFill/>
          <a:ln w="38100">
            <a:solidFill>
              <a:schemeClr val="tx1"/>
            </a:solidFill>
          </a:ln>
        </p:spPr>
        <p:txBody>
          <a:bodyPr wrap="square">
            <a:spAutoFit/>
          </a:bodyPr>
          <a:lstStyle/>
          <a:p>
            <a:pPr marL="285750" indent="-285750">
              <a:buFont typeface="Wingdings" panose="05000000000000000000" pitchFamily="2" charset="2"/>
              <a:buChar char="ü"/>
            </a:pPr>
            <a:r>
              <a:rPr lang="en-US" b="1" dirty="0"/>
              <a:t>Logistic Regression</a:t>
            </a:r>
          </a:p>
          <a:p>
            <a:r>
              <a:rPr lang="en-US"/>
              <a:t>AUC </a:t>
            </a:r>
            <a:r>
              <a:rPr lang="en-US" dirty="0"/>
              <a:t>=</a:t>
            </a:r>
            <a:r>
              <a:rPr lang="en-US"/>
              <a:t> </a:t>
            </a:r>
            <a:r>
              <a:rPr lang="en-US" dirty="0"/>
              <a:t>0.69 → lower than DT</a:t>
            </a:r>
          </a:p>
          <a:p>
            <a:r>
              <a:rPr lang="en-US" dirty="0"/>
              <a:t>Predicts mostly class 1 (maintenance)</a:t>
            </a:r>
          </a:p>
          <a:p>
            <a:r>
              <a:rPr lang="en-US" dirty="0"/>
              <a:t> </a:t>
            </a:r>
            <a:r>
              <a:rPr lang="en-US" b="1" dirty="0"/>
              <a:t>Conclusion</a:t>
            </a:r>
            <a:r>
              <a:rPr lang="en-US" dirty="0"/>
              <a:t>:</a:t>
            </a:r>
          </a:p>
          <a:p>
            <a:r>
              <a:rPr lang="en-US" dirty="0"/>
              <a:t>Likely </a:t>
            </a:r>
            <a:r>
              <a:rPr lang="en-US" b="1" dirty="0"/>
              <a:t>underfitting</a:t>
            </a:r>
            <a:r>
              <a:rPr lang="en-US" dirty="0"/>
              <a:t> (high bias)</a:t>
            </a:r>
          </a:p>
          <a:p>
            <a:r>
              <a:rPr lang="en-US" dirty="0"/>
              <a:t>Cannot capture complex downtime patterns</a:t>
            </a:r>
          </a:p>
        </p:txBody>
      </p:sp>
      <p:sp>
        <p:nvSpPr>
          <p:cNvPr id="20" name="TextBox 19">
            <a:extLst>
              <a:ext uri="{FF2B5EF4-FFF2-40B4-BE49-F238E27FC236}">
                <a16:creationId xmlns:a16="http://schemas.microsoft.com/office/drawing/2014/main" id="{FFF4296F-B6BC-C6FD-BF35-5179D7BBAD1C}"/>
              </a:ext>
            </a:extLst>
          </p:cNvPr>
          <p:cNvSpPr txBox="1"/>
          <p:nvPr/>
        </p:nvSpPr>
        <p:spPr>
          <a:xfrm>
            <a:off x="6002215" y="2919767"/>
            <a:ext cx="6096000" cy="2031325"/>
          </a:xfrm>
          <a:prstGeom prst="rect">
            <a:avLst/>
          </a:prstGeom>
          <a:noFill/>
          <a:ln w="38100">
            <a:solidFill>
              <a:schemeClr val="tx1"/>
            </a:solidFill>
          </a:ln>
        </p:spPr>
        <p:txBody>
          <a:bodyPr wrap="square">
            <a:spAutoFit/>
          </a:bodyPr>
          <a:lstStyle/>
          <a:p>
            <a:pPr marL="285750" indent="-285750">
              <a:buFont typeface="Wingdings" panose="05000000000000000000" pitchFamily="2" charset="2"/>
              <a:buChar char="ü"/>
            </a:pPr>
            <a:r>
              <a:rPr lang="en-US" dirty="0"/>
              <a:t> </a:t>
            </a:r>
            <a:r>
              <a:rPr lang="en-US" b="1" dirty="0"/>
              <a:t>Naive Bayes</a:t>
            </a:r>
          </a:p>
          <a:p>
            <a:r>
              <a:rPr lang="en-US" dirty="0"/>
              <a:t>AUC = 0.35 → very poor</a:t>
            </a:r>
          </a:p>
          <a:p>
            <a:r>
              <a:rPr lang="en-US" dirty="0"/>
              <a:t>Probabilities are almost zero everywhere</a:t>
            </a:r>
          </a:p>
          <a:p>
            <a:r>
              <a:rPr lang="en-US" dirty="0"/>
              <a:t>Predicts same class repeatedly</a:t>
            </a:r>
          </a:p>
          <a:p>
            <a:r>
              <a:rPr lang="en-US" b="1" dirty="0"/>
              <a:t>Conclusion</a:t>
            </a:r>
            <a:r>
              <a:rPr lang="en-US" dirty="0"/>
              <a:t>:</a:t>
            </a:r>
          </a:p>
          <a:p>
            <a:r>
              <a:rPr lang="en-US" dirty="0"/>
              <a:t>Severe underfitting</a:t>
            </a:r>
          </a:p>
          <a:p>
            <a:r>
              <a:rPr lang="en-US" dirty="0"/>
              <a:t>Model assumptions (independence) are violated</a:t>
            </a:r>
          </a:p>
        </p:txBody>
      </p:sp>
    </p:spTree>
    <p:extLst>
      <p:ext uri="{BB962C8B-B14F-4D97-AF65-F5344CB8AC3E}">
        <p14:creationId xmlns:p14="http://schemas.microsoft.com/office/powerpoint/2010/main" val="1768990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4FF06-D6D5-055B-CCD3-32A0B79A839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308EE82-1639-3390-4870-B9D20A4EB5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02951" y="170579"/>
            <a:ext cx="2048257" cy="747614"/>
          </a:xfrm>
          <a:prstGeom prst="rect">
            <a:avLst/>
          </a:prstGeom>
        </p:spPr>
      </p:pic>
      <p:sp>
        <p:nvSpPr>
          <p:cNvPr id="3" name="Content Placeholder 2">
            <a:extLst>
              <a:ext uri="{FF2B5EF4-FFF2-40B4-BE49-F238E27FC236}">
                <a16:creationId xmlns:a16="http://schemas.microsoft.com/office/drawing/2014/main" id="{A28AA4B4-1A31-DDD0-6A28-36192AE9C424}"/>
              </a:ext>
            </a:extLst>
          </p:cNvPr>
          <p:cNvSpPr txBox="1">
            <a:spLocks/>
          </p:cNvSpPr>
          <p:nvPr/>
        </p:nvSpPr>
        <p:spPr>
          <a:xfrm>
            <a:off x="403504" y="415048"/>
            <a:ext cx="9271437" cy="42068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2900"/>
              </a:lnSpc>
              <a:spcBef>
                <a:spcPts val="0"/>
              </a:spcBef>
              <a:spcAft>
                <a:spcPts val="600"/>
              </a:spcAft>
              <a:buNone/>
            </a:pPr>
            <a:r>
              <a:rPr lang="en-US" b="1" dirty="0">
                <a:solidFill>
                  <a:srgbClr val="C00000"/>
                </a:solidFill>
              </a:rPr>
              <a:t>Feature Importance</a:t>
            </a:r>
          </a:p>
        </p:txBody>
      </p:sp>
      <p:sp>
        <p:nvSpPr>
          <p:cNvPr id="4" name="Content Placeholder 2">
            <a:extLst>
              <a:ext uri="{FF2B5EF4-FFF2-40B4-BE49-F238E27FC236}">
                <a16:creationId xmlns:a16="http://schemas.microsoft.com/office/drawing/2014/main" id="{81F2DFB9-892B-ABE5-625D-8F1D5C367469}"/>
              </a:ext>
            </a:extLst>
          </p:cNvPr>
          <p:cNvSpPr txBox="1">
            <a:spLocks/>
          </p:cNvSpPr>
          <p:nvPr/>
        </p:nvSpPr>
        <p:spPr>
          <a:xfrm>
            <a:off x="228142" y="1142286"/>
            <a:ext cx="11707462" cy="56220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rgbClr val="C00000"/>
                </a:solidFill>
              </a:rPr>
              <a:t>Feature Importance </a:t>
            </a:r>
            <a:r>
              <a:rPr lang="en-US" dirty="0"/>
              <a:t>is used AFTER model selection to:</a:t>
            </a:r>
            <a:endParaRPr lang="en-US" b="1" dirty="0">
              <a:solidFill>
                <a:srgbClr val="C00000"/>
              </a:solidFill>
            </a:endParaRPr>
          </a:p>
          <a:p>
            <a:r>
              <a:rPr lang="en-US" sz="1800" dirty="0"/>
              <a:t>Extracted from the best-performing model (AUC)</a:t>
            </a:r>
          </a:p>
          <a:p>
            <a:r>
              <a:rPr lang="en-US" sz="1800" dirty="0"/>
              <a:t>Identify top predictors of </a:t>
            </a:r>
            <a:r>
              <a:rPr lang="en-US" sz="1800" dirty="0" err="1"/>
              <a:t>MaintenanceRequired</a:t>
            </a:r>
            <a:endParaRPr lang="en-US" sz="1800" dirty="0"/>
          </a:p>
          <a:p>
            <a:r>
              <a:rPr lang="en-US" sz="1800" dirty="0"/>
              <a:t>Extract the 5 most influential variables</a:t>
            </a:r>
          </a:p>
          <a:p>
            <a:r>
              <a:rPr lang="en-US" sz="1800" dirty="0"/>
              <a:t>Explain why the model predicts maintenance</a:t>
            </a:r>
          </a:p>
          <a:p>
            <a:r>
              <a:rPr lang="en-US" sz="1800" dirty="0"/>
              <a:t>Top predictive features (Decision Tree):</a:t>
            </a:r>
          </a:p>
          <a:p>
            <a:pPr lvl="1">
              <a:buFont typeface="Wingdings" panose="05000000000000000000" pitchFamily="2" charset="2"/>
              <a:buChar char="ü"/>
            </a:pPr>
            <a:r>
              <a:rPr lang="en-US" sz="1400" dirty="0" err="1"/>
              <a:t>DowntimeDuration</a:t>
            </a:r>
            <a:r>
              <a:rPr lang="en-US" sz="1400" dirty="0"/>
              <a:t> ((MOST IMPORTANT)</a:t>
            </a:r>
          </a:p>
          <a:p>
            <a:pPr lvl="1">
              <a:buFont typeface="Wingdings" panose="05000000000000000000" pitchFamily="2" charset="2"/>
              <a:buChar char="ü"/>
            </a:pPr>
            <a:r>
              <a:rPr lang="en-US" sz="1400" dirty="0"/>
              <a:t>Hour</a:t>
            </a:r>
          </a:p>
          <a:p>
            <a:pPr lvl="1">
              <a:buFont typeface="Wingdings" panose="05000000000000000000" pitchFamily="2" charset="2"/>
              <a:buChar char="ü"/>
            </a:pPr>
            <a:r>
              <a:rPr lang="en-US" sz="1400" dirty="0" err="1"/>
              <a:t>EditTimestamp</a:t>
            </a:r>
            <a:endParaRPr lang="en-US" sz="1400" dirty="0"/>
          </a:p>
          <a:p>
            <a:pPr lvl="1">
              <a:buFont typeface="Wingdings" panose="05000000000000000000" pitchFamily="2" charset="2"/>
              <a:buChar char="ü"/>
            </a:pPr>
            <a:r>
              <a:rPr lang="en-US" sz="1400" dirty="0"/>
              <a:t> </a:t>
            </a:r>
            <a:r>
              <a:rPr lang="en-US" sz="1400" dirty="0" err="1"/>
              <a:t>GaeWaterfall</a:t>
            </a:r>
            <a:endParaRPr lang="en-US" sz="1400" dirty="0"/>
          </a:p>
          <a:p>
            <a:pPr lvl="1">
              <a:buFont typeface="Wingdings" panose="05000000000000000000" pitchFamily="2" charset="2"/>
              <a:buChar char="ü"/>
            </a:pPr>
            <a:r>
              <a:rPr lang="en-US" sz="1400" dirty="0" err="1"/>
              <a:t>ControlledDowntime</a:t>
            </a:r>
            <a:endParaRPr lang="en-US" sz="2000" dirty="0"/>
          </a:p>
        </p:txBody>
      </p:sp>
      <p:sp>
        <p:nvSpPr>
          <p:cNvPr id="5" name="Rectangle 4">
            <a:extLst>
              <a:ext uri="{FF2B5EF4-FFF2-40B4-BE49-F238E27FC236}">
                <a16:creationId xmlns:a16="http://schemas.microsoft.com/office/drawing/2014/main" id="{95191B54-F956-9613-A740-4E2723A1791A}"/>
              </a:ext>
            </a:extLst>
          </p:cNvPr>
          <p:cNvSpPr/>
          <p:nvPr/>
        </p:nvSpPr>
        <p:spPr>
          <a:xfrm>
            <a:off x="0" y="244549"/>
            <a:ext cx="212651" cy="785690"/>
          </a:xfrm>
          <a:prstGeom prst="rect">
            <a:avLst/>
          </a:prstGeom>
          <a:solidFill>
            <a:srgbClr val="C80000"/>
          </a:solidFill>
          <a:ln>
            <a:solidFill>
              <a:srgbClr val="C8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srgbClr val="C80000"/>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F2382E26-0177-2902-CD58-C33D4FE2B692}"/>
              </a:ext>
            </a:extLst>
          </p:cNvPr>
          <p:cNvCxnSpPr>
            <a:cxnSpLocks/>
          </p:cNvCxnSpPr>
          <p:nvPr/>
        </p:nvCxnSpPr>
        <p:spPr>
          <a:xfrm>
            <a:off x="345839" y="1030239"/>
            <a:ext cx="11589765" cy="0"/>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9CC4A1B-8A15-5E83-1FF5-91EC3DAA88DC}"/>
              </a:ext>
            </a:extLst>
          </p:cNvPr>
          <p:cNvSpPr txBox="1"/>
          <p:nvPr/>
        </p:nvSpPr>
        <p:spPr>
          <a:xfrm>
            <a:off x="5439697" y="1519903"/>
            <a:ext cx="6100916" cy="369332"/>
          </a:xfrm>
          <a:prstGeom prst="rect">
            <a:avLst/>
          </a:prstGeom>
          <a:noFill/>
        </p:spPr>
        <p:txBody>
          <a:bodyPr wrap="square">
            <a:spAutoFit/>
          </a:bodyPr>
          <a:lstStyle/>
          <a:p>
            <a:pPr>
              <a:buNone/>
            </a:pPr>
            <a:endParaRPr lang="en-US" b="1" dirty="0"/>
          </a:p>
        </p:txBody>
      </p:sp>
      <p:graphicFrame>
        <p:nvGraphicFramePr>
          <p:cNvPr id="16" name="Table 15">
            <a:extLst>
              <a:ext uri="{FF2B5EF4-FFF2-40B4-BE49-F238E27FC236}">
                <a16:creationId xmlns:a16="http://schemas.microsoft.com/office/drawing/2014/main" id="{6694F71C-2D65-CDF2-71B0-B610872AA8D9}"/>
              </a:ext>
            </a:extLst>
          </p:cNvPr>
          <p:cNvGraphicFramePr>
            <a:graphicFrameLocks noGrp="1"/>
          </p:cNvGraphicFramePr>
          <p:nvPr>
            <p:extLst>
              <p:ext uri="{D42A27DB-BD31-4B8C-83A1-F6EECF244321}">
                <p14:modId xmlns:p14="http://schemas.microsoft.com/office/powerpoint/2010/main" val="3347897767"/>
              </p:ext>
            </p:extLst>
          </p:nvPr>
        </p:nvGraphicFramePr>
        <p:xfrm>
          <a:off x="4396153" y="3600365"/>
          <a:ext cx="7256586" cy="2560320"/>
        </p:xfrm>
        <a:graphic>
          <a:graphicData uri="http://schemas.openxmlformats.org/drawingml/2006/table">
            <a:tbl>
              <a:tblPr>
                <a:tableStyleId>{69CF1AB2-1976-4502-BF36-3FF5EA218861}</a:tableStyleId>
              </a:tblPr>
              <a:tblGrid>
                <a:gridCol w="3628293">
                  <a:extLst>
                    <a:ext uri="{9D8B030D-6E8A-4147-A177-3AD203B41FA5}">
                      <a16:colId xmlns:a16="http://schemas.microsoft.com/office/drawing/2014/main" val="163295864"/>
                    </a:ext>
                  </a:extLst>
                </a:gridCol>
                <a:gridCol w="3628293">
                  <a:extLst>
                    <a:ext uri="{9D8B030D-6E8A-4147-A177-3AD203B41FA5}">
                      <a16:colId xmlns:a16="http://schemas.microsoft.com/office/drawing/2014/main" val="428482441"/>
                    </a:ext>
                  </a:extLst>
                </a:gridCol>
              </a:tblGrid>
              <a:tr h="0">
                <a:tc>
                  <a:txBody>
                    <a:bodyPr/>
                    <a:lstStyle/>
                    <a:p>
                      <a:endParaRPr lang="en-US"/>
                    </a:p>
                  </a:txBody>
                  <a:tcPr/>
                </a:tc>
                <a:tc>
                  <a:txBody>
                    <a:bodyPr/>
                    <a:lstStyle/>
                    <a:p>
                      <a:endParaRPr lang="en-US" dirty="0"/>
                    </a:p>
                  </a:txBody>
                  <a:tcPr/>
                </a:tc>
                <a:extLst>
                  <a:ext uri="{0D108BD9-81ED-4DB2-BD59-A6C34878D82A}">
                    <a16:rowId xmlns:a16="http://schemas.microsoft.com/office/drawing/2014/main" val="1232981928"/>
                  </a:ext>
                </a:extLst>
              </a:tr>
              <a:tr h="0">
                <a:tc>
                  <a:txBody>
                    <a:bodyPr/>
                    <a:lstStyle/>
                    <a:p>
                      <a:pPr>
                        <a:buNone/>
                      </a:pPr>
                      <a:r>
                        <a:rPr lang="en-US">
                          <a:effectLst/>
                        </a:rPr>
                        <a:t>Feature</a:t>
                      </a:r>
                    </a:p>
                  </a:txBody>
                  <a:tcPr anchor="ctr"/>
                </a:tc>
                <a:tc>
                  <a:txBody>
                    <a:bodyPr/>
                    <a:lstStyle/>
                    <a:p>
                      <a:pPr>
                        <a:buNone/>
                      </a:pPr>
                      <a:r>
                        <a:rPr lang="en-US">
                          <a:effectLst/>
                        </a:rPr>
                        <a:t>Importance</a:t>
                      </a:r>
                    </a:p>
                  </a:txBody>
                  <a:tcPr anchor="ctr"/>
                </a:tc>
                <a:extLst>
                  <a:ext uri="{0D108BD9-81ED-4DB2-BD59-A6C34878D82A}">
                    <a16:rowId xmlns:a16="http://schemas.microsoft.com/office/drawing/2014/main" val="3539782515"/>
                  </a:ext>
                </a:extLst>
              </a:tr>
              <a:tr h="0">
                <a:tc>
                  <a:txBody>
                    <a:bodyPr/>
                    <a:lstStyle/>
                    <a:p>
                      <a:pPr>
                        <a:buNone/>
                      </a:pPr>
                      <a:r>
                        <a:rPr lang="en-US">
                          <a:effectLst/>
                        </a:rPr>
                        <a:t>DowntimeDuration</a:t>
                      </a:r>
                    </a:p>
                  </a:txBody>
                  <a:tcPr anchor="ctr"/>
                </a:tc>
                <a:tc>
                  <a:txBody>
                    <a:bodyPr/>
                    <a:lstStyle/>
                    <a:p>
                      <a:pPr>
                        <a:buNone/>
                      </a:pPr>
                      <a:r>
                        <a:rPr lang="en-US">
                          <a:effectLst/>
                        </a:rPr>
                        <a:t>23.66%</a:t>
                      </a:r>
                    </a:p>
                  </a:txBody>
                  <a:tcPr anchor="ctr"/>
                </a:tc>
                <a:extLst>
                  <a:ext uri="{0D108BD9-81ED-4DB2-BD59-A6C34878D82A}">
                    <a16:rowId xmlns:a16="http://schemas.microsoft.com/office/drawing/2014/main" val="2672684128"/>
                  </a:ext>
                </a:extLst>
              </a:tr>
              <a:tr h="0">
                <a:tc>
                  <a:txBody>
                    <a:bodyPr/>
                    <a:lstStyle/>
                    <a:p>
                      <a:pPr>
                        <a:buNone/>
                      </a:pPr>
                      <a:r>
                        <a:rPr lang="en-US">
                          <a:effectLst/>
                        </a:rPr>
                        <a:t>Hour</a:t>
                      </a:r>
                    </a:p>
                  </a:txBody>
                  <a:tcPr anchor="ctr"/>
                </a:tc>
                <a:tc>
                  <a:txBody>
                    <a:bodyPr/>
                    <a:lstStyle/>
                    <a:p>
                      <a:pPr>
                        <a:buNone/>
                      </a:pPr>
                      <a:r>
                        <a:rPr lang="en-US">
                          <a:effectLst/>
                        </a:rPr>
                        <a:t>20.20%</a:t>
                      </a:r>
                    </a:p>
                  </a:txBody>
                  <a:tcPr anchor="ctr"/>
                </a:tc>
                <a:extLst>
                  <a:ext uri="{0D108BD9-81ED-4DB2-BD59-A6C34878D82A}">
                    <a16:rowId xmlns:a16="http://schemas.microsoft.com/office/drawing/2014/main" val="1231792631"/>
                  </a:ext>
                </a:extLst>
              </a:tr>
              <a:tr h="0">
                <a:tc>
                  <a:txBody>
                    <a:bodyPr/>
                    <a:lstStyle/>
                    <a:p>
                      <a:pPr>
                        <a:buNone/>
                      </a:pPr>
                      <a:r>
                        <a:rPr lang="en-US">
                          <a:effectLst/>
                        </a:rPr>
                        <a:t>EditTimestamp</a:t>
                      </a:r>
                    </a:p>
                  </a:txBody>
                  <a:tcPr anchor="ctr"/>
                </a:tc>
                <a:tc>
                  <a:txBody>
                    <a:bodyPr/>
                    <a:lstStyle/>
                    <a:p>
                      <a:pPr>
                        <a:buNone/>
                      </a:pPr>
                      <a:r>
                        <a:rPr lang="en-US">
                          <a:effectLst/>
                        </a:rPr>
                        <a:t>14.45%</a:t>
                      </a:r>
                    </a:p>
                  </a:txBody>
                  <a:tcPr anchor="ctr"/>
                </a:tc>
                <a:extLst>
                  <a:ext uri="{0D108BD9-81ED-4DB2-BD59-A6C34878D82A}">
                    <a16:rowId xmlns:a16="http://schemas.microsoft.com/office/drawing/2014/main" val="1925381202"/>
                  </a:ext>
                </a:extLst>
              </a:tr>
              <a:tr h="0">
                <a:tc>
                  <a:txBody>
                    <a:bodyPr/>
                    <a:lstStyle/>
                    <a:p>
                      <a:pPr>
                        <a:buNone/>
                      </a:pPr>
                      <a:r>
                        <a:rPr lang="en-US">
                          <a:effectLst/>
                        </a:rPr>
                        <a:t>GaeWaterfall</a:t>
                      </a:r>
                    </a:p>
                  </a:txBody>
                  <a:tcPr anchor="ctr"/>
                </a:tc>
                <a:tc>
                  <a:txBody>
                    <a:bodyPr/>
                    <a:lstStyle/>
                    <a:p>
                      <a:pPr>
                        <a:buNone/>
                      </a:pPr>
                      <a:r>
                        <a:rPr lang="en-US">
                          <a:effectLst/>
                        </a:rPr>
                        <a:t>9.96%</a:t>
                      </a:r>
                    </a:p>
                  </a:txBody>
                  <a:tcPr anchor="ctr"/>
                </a:tc>
                <a:extLst>
                  <a:ext uri="{0D108BD9-81ED-4DB2-BD59-A6C34878D82A}">
                    <a16:rowId xmlns:a16="http://schemas.microsoft.com/office/drawing/2014/main" val="1188586662"/>
                  </a:ext>
                </a:extLst>
              </a:tr>
              <a:tr h="0">
                <a:tc>
                  <a:txBody>
                    <a:bodyPr/>
                    <a:lstStyle/>
                    <a:p>
                      <a:pPr>
                        <a:buNone/>
                      </a:pPr>
                      <a:r>
                        <a:rPr lang="en-US">
                          <a:effectLst/>
                        </a:rPr>
                        <a:t>ControlledDowntime</a:t>
                      </a:r>
                    </a:p>
                  </a:txBody>
                  <a:tcPr anchor="ctr"/>
                </a:tc>
                <a:tc>
                  <a:txBody>
                    <a:bodyPr/>
                    <a:lstStyle/>
                    <a:p>
                      <a:pPr>
                        <a:buNone/>
                      </a:pPr>
                      <a:r>
                        <a:rPr lang="en-US" dirty="0">
                          <a:effectLst/>
                        </a:rPr>
                        <a:t>9.08%</a:t>
                      </a:r>
                    </a:p>
                  </a:txBody>
                  <a:tcPr anchor="ctr"/>
                </a:tc>
                <a:extLst>
                  <a:ext uri="{0D108BD9-81ED-4DB2-BD59-A6C34878D82A}">
                    <a16:rowId xmlns:a16="http://schemas.microsoft.com/office/drawing/2014/main" val="2255092417"/>
                  </a:ext>
                </a:extLst>
              </a:tr>
            </a:tbl>
          </a:graphicData>
        </a:graphic>
      </p:graphicFrame>
    </p:spTree>
    <p:extLst>
      <p:ext uri="{BB962C8B-B14F-4D97-AF65-F5344CB8AC3E}">
        <p14:creationId xmlns:p14="http://schemas.microsoft.com/office/powerpoint/2010/main" val="5856384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568E6-F50F-C995-D0EC-76CA2E16F0F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9851A8E-44F9-2C8C-22E2-A076CE434D2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02951" y="170579"/>
            <a:ext cx="2048257" cy="747614"/>
          </a:xfrm>
          <a:prstGeom prst="rect">
            <a:avLst/>
          </a:prstGeom>
        </p:spPr>
      </p:pic>
      <p:sp>
        <p:nvSpPr>
          <p:cNvPr id="3" name="Content Placeholder 2">
            <a:extLst>
              <a:ext uri="{FF2B5EF4-FFF2-40B4-BE49-F238E27FC236}">
                <a16:creationId xmlns:a16="http://schemas.microsoft.com/office/drawing/2014/main" id="{E49CAC58-7F73-FE01-0C92-173576536FFB}"/>
              </a:ext>
            </a:extLst>
          </p:cNvPr>
          <p:cNvSpPr txBox="1">
            <a:spLocks/>
          </p:cNvSpPr>
          <p:nvPr/>
        </p:nvSpPr>
        <p:spPr>
          <a:xfrm>
            <a:off x="403504" y="415048"/>
            <a:ext cx="9271437" cy="42068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rgbClr val="C00000"/>
                </a:solidFill>
              </a:rPr>
              <a:t>Conclusion</a:t>
            </a:r>
          </a:p>
        </p:txBody>
      </p:sp>
      <p:sp>
        <p:nvSpPr>
          <p:cNvPr id="4" name="Content Placeholder 2">
            <a:extLst>
              <a:ext uri="{FF2B5EF4-FFF2-40B4-BE49-F238E27FC236}">
                <a16:creationId xmlns:a16="http://schemas.microsoft.com/office/drawing/2014/main" id="{0CD2D3E1-67F0-C6A8-9583-C9256F47A50C}"/>
              </a:ext>
            </a:extLst>
          </p:cNvPr>
          <p:cNvSpPr txBox="1">
            <a:spLocks/>
          </p:cNvSpPr>
          <p:nvPr/>
        </p:nvSpPr>
        <p:spPr>
          <a:xfrm>
            <a:off x="228142" y="1142286"/>
            <a:ext cx="11707462" cy="56220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b="1" dirty="0">
              <a:solidFill>
                <a:srgbClr val="C00000"/>
              </a:solidFill>
            </a:endParaRPr>
          </a:p>
        </p:txBody>
      </p:sp>
      <p:sp>
        <p:nvSpPr>
          <p:cNvPr id="5" name="Rectangle 4">
            <a:extLst>
              <a:ext uri="{FF2B5EF4-FFF2-40B4-BE49-F238E27FC236}">
                <a16:creationId xmlns:a16="http://schemas.microsoft.com/office/drawing/2014/main" id="{48304A1E-A121-1567-5D83-6E0181E5A3BA}"/>
              </a:ext>
            </a:extLst>
          </p:cNvPr>
          <p:cNvSpPr/>
          <p:nvPr/>
        </p:nvSpPr>
        <p:spPr>
          <a:xfrm>
            <a:off x="0" y="244549"/>
            <a:ext cx="212651" cy="785690"/>
          </a:xfrm>
          <a:prstGeom prst="rect">
            <a:avLst/>
          </a:prstGeom>
          <a:solidFill>
            <a:srgbClr val="C80000"/>
          </a:solidFill>
          <a:ln>
            <a:solidFill>
              <a:srgbClr val="C8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srgbClr val="C80000"/>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2FCA94DC-E649-7C80-10FB-512C5D701D18}"/>
              </a:ext>
            </a:extLst>
          </p:cNvPr>
          <p:cNvCxnSpPr>
            <a:cxnSpLocks/>
          </p:cNvCxnSpPr>
          <p:nvPr/>
        </p:nvCxnSpPr>
        <p:spPr>
          <a:xfrm>
            <a:off x="345839" y="1030239"/>
            <a:ext cx="11589765" cy="0"/>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9EDAAEE-6EB3-A645-218A-E42135C95FC9}"/>
              </a:ext>
            </a:extLst>
          </p:cNvPr>
          <p:cNvSpPr txBox="1"/>
          <p:nvPr/>
        </p:nvSpPr>
        <p:spPr>
          <a:xfrm>
            <a:off x="5439697" y="1519903"/>
            <a:ext cx="6100916" cy="369332"/>
          </a:xfrm>
          <a:prstGeom prst="rect">
            <a:avLst/>
          </a:prstGeom>
          <a:noFill/>
        </p:spPr>
        <p:txBody>
          <a:bodyPr wrap="square">
            <a:spAutoFit/>
          </a:bodyPr>
          <a:lstStyle/>
          <a:p>
            <a:pPr>
              <a:buNone/>
            </a:pPr>
            <a:endParaRPr lang="en-US" b="1" dirty="0"/>
          </a:p>
        </p:txBody>
      </p:sp>
    </p:spTree>
    <p:extLst>
      <p:ext uri="{BB962C8B-B14F-4D97-AF65-F5344CB8AC3E}">
        <p14:creationId xmlns:p14="http://schemas.microsoft.com/office/powerpoint/2010/main" val="13849790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1194</Words>
  <Application>Microsoft Office PowerPoint</Application>
  <PresentationFormat>Widescreen</PresentationFormat>
  <Paragraphs>165</Paragraphs>
  <Slides>9</Slides>
  <Notes>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9</vt:i4>
      </vt:variant>
    </vt:vector>
  </HeadingPairs>
  <TitlesOfParts>
    <vt:vector size="20" baseType="lpstr">
      <vt:lpstr>Aptos</vt:lpstr>
      <vt:lpstr>Aptos (Body)</vt:lpstr>
      <vt:lpstr>Aptos Display</vt:lpstr>
      <vt:lpstr>Aptos Display (Headings)</vt:lpstr>
      <vt:lpstr>Arial</vt:lpstr>
      <vt:lpstr>Arial Unicode MS</vt:lpstr>
      <vt:lpstr>Calibri</vt:lpstr>
      <vt:lpstr>Calibri (Body)</vt:lpstr>
      <vt:lpstr>Courier New</vt:lpstr>
      <vt:lpstr>Wingdings</vt:lpstr>
      <vt:lpstr>Office Theme</vt:lpstr>
      <vt:lpstr>PowerPoint Presentation</vt:lpstr>
      <vt:lpstr>PowerPoint Presentation</vt:lpstr>
      <vt:lpstr>PowerPoint Presentation</vt:lpstr>
      <vt:lpstr>PowerPoint Presentation</vt:lpstr>
      <vt:lpstr>PowerPoint Presentation</vt:lpstr>
      <vt:lpstr>Model Evaluation &amp; Results </vt:lpstr>
      <vt:lpstr>Model Evaluation &amp; Results contin… </vt:lpstr>
      <vt:lpstr>PowerPoint Presentation</vt:lpstr>
      <vt:lpstr>PowerPoint Presentation</vt:lpstr>
    </vt:vector>
  </TitlesOfParts>
  <Company>University of KwaZulu-Natal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Danielle Jade Roberts</dc:creator>
  <cp:lastModifiedBy>Mawanda Mbaza (226024595)</cp:lastModifiedBy>
  <cp:revision>73</cp:revision>
  <dcterms:created xsi:type="dcterms:W3CDTF">2025-05-12T08:10:08Z</dcterms:created>
  <dcterms:modified xsi:type="dcterms:W3CDTF">2026-05-18T14:18:53Z</dcterms:modified>
</cp:coreProperties>
</file>